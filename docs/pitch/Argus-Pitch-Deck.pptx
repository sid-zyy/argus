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a76c417-4d16-654f-35ef-8ced4d31325c}">
          <p14:sldIdLst>
            <p14:sldId id="256"/>
          </p14:sldIdLst>
        </p14:section>
        <p14:section name="The problem" id="{2c73e401-2aad-b48a-5554-1f8dfc3d3b19}">
          <p14:sldIdLst>
            <p14:sldId id="257"/>
            <p14:sldId id="258"/>
            <p14:sldId id="259"/>
            <p14:sldId id="260"/>
          </p14:sldIdLst>
        </p14:section>
        <p14:section name="Meet Argus" id="{02aa7f40-c15f-f443-0c90-bef304371066}">
          <p14:sldIdLst>
            <p14:sldId id="261"/>
            <p14:sldId id="262"/>
          </p14:sldIdLst>
        </p14:section>
        <p14:section name="Meet the team" id="{512e08e8-f20d-129e-fa78-ffce015c531d}">
          <p14:sldIdLst>
            <p14:sldId id="263"/>
            <p14:sldId id="264"/>
          </p14:sldIdLst>
        </p14:section>
        <p14:section name="Key features" id="{bb709072-ff9d-5654-8c77-dad950072af0}">
          <p14:sldIdLst>
            <p14:sldId id="265"/>
            <p14:sldId id="266"/>
          </p14:sldIdLst>
        </p14:section>
        <p14:section name="Judging criteria" id="{86b6e4c7-9d65-9e79-7498-8a8a170b645e}">
          <p14:sldIdLst>
            <p14:sldId id="267"/>
            <p14:sldId id="268"/>
            <p14:sldId id="269"/>
            <p14:sldId id="270"/>
            <p14:sldId id="271"/>
            <p14:sldId id="272"/>
          </p14:sldIdLst>
        </p14:section>
        <p14:section name="Business" id="{152174a5-4ee1-52bb-75e5-90a043bf2342}">
          <p14:sldIdLst>
            <p14:sldId id="273"/>
            <p14:sldId id="274"/>
          </p14:sldIdLst>
        </p14:section>
        <p14:section name="Close" id="{e279b7a6-4b63-7312-98e2-291c0c4ac306}">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4F3FF"/>
                </a:solidFill>
                <a:latin typeface="+mn-lt"/>
              </a:defRPr>
            </a:pPr>
            <a:r>
              <a:rPr sz="1400" b="0" i="0" u="none" strike="noStrike">
                <a:solidFill>
                  <a:srgbClr val="F4F3FF"/>
                </a:solidFill>
                <a:latin typeface="+mn-lt"/>
              </a:rPr>
              <a:t>Score across 3 recorded incidents</a:t>
            </a:r>
          </a:p>
        </c:rich>
      </c:tx>
      <c:layout/>
      <c:overlay val="0"/>
    </c:title>
    <c:autoTitleDeleted val="0"/>
    <c:plotArea>
      <c:layout/>
      <c:barChart>
        <c:barDir val="bar"/>
        <c:grouping val="clustered"/>
        <c:varyColors val="0"/>
        <c:ser>
          <c:idx val="0"/>
          <c:order val="0"/>
          <c:tx>
            <c:strRef>
              <c:f>Sheet1!$B$1</c:f>
              <c:strCache>
                <c:ptCount val="1"/>
                <c:pt idx="0">
                  <c:v>Argus</c:v>
                </c:pt>
              </c:strCache>
            </c:strRef>
          </c:tx>
          <c:spPr>
            <a:solidFill>
              <a:srgbClr val="8B7CFF"/>
            </a:solidFill>
            <a:effectLst/>
          </c:spPr>
          <c:invertIfNegative val="0"/>
          <c:dLbls>
            <c:numFmt formatCode="0&quot;%&quot;" sourceLinked="0"/>
            <c:txPr>
              <a:bodyPr/>
              <a:lstStyle/>
              <a:p>
                <a:pPr>
                  <a:defRPr b="0" i="0" strike="noStrike" sz="1200" u="none">
                    <a:solidFill>
                      <a:srgbClr val="F4F3FF"/>
                    </a:solidFill>
                    <a:latin typeface="+mn-lt"/>
                  </a:defRPr>
                </a:pPr>
              </a:p>
            </c:txPr>
            <c:showLegendKey val="0"/>
            <c:showVal val="1"/>
            <c:showCatName val="0"/>
            <c:showSerName val="0"/>
            <c:showPercent val="0"/>
            <c:showBubbleSize val="0"/>
            <c:showLeaderLines val="0"/>
          </c:dLbls>
          <c:cat>
            <c:multiLvlStrRef>
              <c:f>Sheet1!$A$2:$A$4</c:f>
              <c:multiLvlStrCache>
                <c:ptCount val="3"/>
                <c:lvl>
                  <c:pt idx="0">
                    <c:v>Quoted evidence that exists</c:v>
                  </c:pt>
                  <c:pt idx="1">
                    <c:v>Culprit commit named</c:v>
                  </c:pt>
                  <c:pt idx="2">
                    <c:v>Fix passes the sandbox</c:v>
                  </c:pt>
                </c:lvl>
              </c:multiLvlStrCache>
            </c:multiLvlStrRef>
          </c:cat>
          <c:val>
            <c:numRef>
              <c:f>Sheet1!$B$2:$B$4</c:f>
              <c:numCache>
                <c:formatCode>General</c:formatCode>
                <c:ptCount val="3"/>
                <c:pt idx="0">
                  <c:v>100</c:v>
                </c:pt>
                <c:pt idx="1">
                  <c:v>100</c:v>
                </c:pt>
                <c:pt idx="2">
                  <c:v>100</c:v>
                </c:pt>
              </c:numCache>
            </c:numRef>
          </c:val>
        </c:ser>
        <c:ser>
          <c:idx val="1"/>
          <c:order val="1"/>
          <c:tx>
            <c:strRef>
              <c:f>Sheet1!$C$1</c:f>
              <c:strCache>
                <c:ptCount val="1"/>
                <c:pt idx="0">
                  <c:v>Chatbot paste</c:v>
                </c:pt>
              </c:strCache>
            </c:strRef>
          </c:tx>
          <c:spPr>
            <a:solidFill>
              <a:srgbClr val="5B5A74"/>
            </a:solidFill>
            <a:effectLst/>
          </c:spPr>
          <c:invertIfNegative val="0"/>
          <c:dLbls>
            <c:numFmt formatCode="0&quot;%&quot;" sourceLinked="0"/>
            <c:txPr>
              <a:bodyPr/>
              <a:lstStyle/>
              <a:p>
                <a:pPr>
                  <a:defRPr b="0" i="0" strike="noStrike" sz="1200" u="none">
                    <a:solidFill>
                      <a:srgbClr val="F4F3FF"/>
                    </a:solidFill>
                    <a:latin typeface="+mn-lt"/>
                  </a:defRPr>
                </a:pPr>
              </a:p>
            </c:txPr>
            <c:showLegendKey val="0"/>
            <c:showVal val="1"/>
            <c:showCatName val="0"/>
            <c:showSerName val="0"/>
            <c:showPercent val="0"/>
            <c:showBubbleSize val="0"/>
            <c:showLeaderLines val="0"/>
          </c:dLbls>
          <c:cat>
            <c:multiLvlStrRef>
              <c:f>Sheet1!$A$2:$A$4</c:f>
              <c:multiLvlStrCache>
                <c:ptCount val="3"/>
                <c:lvl>
                  <c:pt idx="0">
                    <c:v>Quoted evidence that exists</c:v>
                  </c:pt>
                  <c:pt idx="1">
                    <c:v>Culprit commit named</c:v>
                  </c:pt>
                  <c:pt idx="2">
                    <c:v>Fix passes the sandbox</c:v>
                  </c:pt>
                </c:lvl>
              </c:multiLvlStrCache>
            </c:multiLvlStrRef>
          </c:cat>
          <c:val>
            <c:numRef>
              <c:f>Sheet1!$C$2:$C$4</c:f>
              <c:numCache>
                <c:formatCode>General</c:formatCode>
                <c:ptCount val="3"/>
                <c:pt idx="0">
                  <c:v>25</c:v>
                </c:pt>
                <c:pt idx="1">
                  <c:v>67</c:v>
                </c:pt>
                <c:pt idx="2">
                  <c:v>100</c:v>
                </c:pt>
              </c:numCache>
            </c:numRef>
          </c:val>
        </c:ser>
        <c:dLbls>
          <c:numFmt formatCode="0&quot;%&quot;" sourceLinked="0"/>
          <c:txPr>
            <a:bodyPr/>
            <a:lstStyle/>
            <a:p>
              <a:pPr>
                <a:defRPr b="0" i="0" strike="noStrike" sz="1200" u="none">
                  <a:solidFill>
                    <a:srgbClr val="F4F3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A9A7C8"/>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A9A7C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Team YSL: Siddhartha and Yuvika. This is Argus, an AI incident commander sold as B2B SaaS to engineering teams. When production breaks, Argus finds the root cause with proof, tests a fix, and waits for a person to approve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Outages cost revenue by the minute, and finding the cause is slow, manual work spread across many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our checkout scenario's business assumptions: 15 orders a minute at 1,200 rupees, 38% failing. That's 6,840 rupees a minute, about 5.5 lakh over a typical 80-minute manual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log screams 'database'. The real cause is a one-line code change two minutes earlier. Humans and chatbots both chase the loud symptom.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tools each cover one slice. None investigates and proves the cause, then ships a tested fix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Argus Panoptes was the giant with a hundred eyes who never slept. That's the job: always watching, never missing a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end to end. Argus is autonomous for investigation and testing, but a human is the only one who can approve 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Argus isn't one big prompt. It's a team of specialist agents, each named after a Greek figure that matches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Athena plans, Theia investigates, Chronos finds the change, Themis tries to disprove everything, Hephaestus fixes, Talos tests, Clio writes the report. And the human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A dedicated agent tries to refute each claim, and a deterministic checker, not an LLM, confirms every quoted line exists in the real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Argus doesn't just suggest a fix. It proves it in a sandbox first, then deploys it for real once a person approves. We'll show this live on ShopFast.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built in, not bolted on. Rules live in one reviewable policy file, humans approve every change, and the audit log is hash-chained so it can't be quietly 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Argus isn't tied to one app. Two different apps, in Python and Node, with different monitoring and log formats, run through the same pipeline with zero code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four minutes to a tested fix. About 4.8 lakh rupees protected on one checkout incident, for about 6 rupees of AI. Argus shows this calculation live on every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benchmarked honestly against a single chatbot prompt given the same data. Every piece of evidence Argus quoted was real; only a quarter of the chatbot's was. The chatbot is faster,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you'll see is working software: real webhooks, a real git repo, a real sandbox, 39 passing tests, and a replay mode so the live demo can't stall on an AI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original: an adversarial agent, evidence checked by code rather than another model, money-aware response, governance as code, and benchmarks that include our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Argus is B2B SaaS for SRE and platform teams. It plugs into the monitoring they already run and is priced per connected service. The ROI case is printed on every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MVP covers the full loop. Next come more integrations and real chat-ops; then multi-tenant cloud and self-hosting for regulated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Team YSL. Siddhartha built the agents and orchestration; Yuvika built the live app, sandbox, evaluation and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Argus sees everything, but ships nothing without you. Let's show it live.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Hero-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t-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327648"/>
            <a:ext cx="237744" cy="237744"/>
          </a:xfrm>
          <a:prstGeom prst="rect">
            <a:avLst/>
          </a:prstGeom>
        </p:spPr>
      </p:pic>
      <p:sp>
        <p:nvSpPr>
          <p:cNvPr id="3" name="Text 0"/>
          <p:cNvSpPr/>
          <p:nvPr/>
        </p:nvSpPr>
        <p:spPr>
          <a:xfrm>
            <a:off x="877824" y="6327648"/>
            <a:ext cx="2743200" cy="237744"/>
          </a:xfrm>
          <a:prstGeom prst="rect">
            <a:avLst/>
          </a:prstGeom>
          <a:noFill/>
          <a:ln/>
        </p:spPr>
        <p:txBody>
          <a:bodyPr wrap="square" lIns="0" tIns="0" rIns="0" bIns="0" rtlCol="0" anchor="ctr"/>
          <a:lstStyle/>
          <a:p>
            <a:pPr indent="0" marL="0">
              <a:buNone/>
            </a:pPr>
            <a:r>
              <a:rPr lang="en-US" sz="1000" spc="200" kern="0" dirty="0">
                <a:solidFill>
                  <a:srgbClr val="7A7898"/>
                </a:solidFill>
                <a:latin typeface="Consolas" pitchFamily="34" charset="0"/>
                <a:ea typeface="Consolas" pitchFamily="34" charset="-122"/>
                <a:cs typeface="Consolas" pitchFamily="34" charset="-120"/>
              </a:rPr>
              <a:t>ARGUS  ·  TEAM YSL</a:t>
            </a:r>
            <a:endParaRPr lang="en-US" sz="1000" dirty="0"/>
          </a:p>
        </p:txBody>
      </p:sp>
      <p:sp>
        <p:nvSpPr>
          <p:cNvPr id="4" name="Text 1"/>
          <p:cNvSpPr/>
          <p:nvPr>
            <p:ph idx="102" type="body" hasCustomPrompt="1"/>
          </p:nvPr>
        </p:nvSpPr>
        <p:spPr>
          <a:xfrm>
            <a:off x="548640" y="457200"/>
            <a:ext cx="7863840" cy="274320"/>
          </a:xfrm>
          <a:prstGeom prst="rect">
            <a:avLst/>
          </a:prstGeom>
          <a:noFill/>
          <a:ln/>
        </p:spPr>
        <p:txBody>
          <a:bodyPr wrap="square" rtlCol="0"/>
          <a:lstStyle>
            <a:lvl1pPr indent="0" marL="0">
              <a:buNone/>
              <a:defRPr lang="en-US" sz="1200" b="1" spc="300" kern="0" dirty="0">
                <a:solidFill>
                  <a:schemeClr val="accent2"/>
                </a:solidFill>
                <a:latin typeface="Consolas" pitchFamily="34" charset="0"/>
                <a:ea typeface="Consolas" pitchFamily="34" charset="-122"/>
                <a:cs typeface="Consolas" pitchFamily="34" charset="-120"/>
              </a:defRPr>
            </a:lvl1pPr>
          </a:lstStyle>
          <a:p>
            <a:pPr indent="0" marL="0">
              <a:buNone/>
            </a:pPr>
            <a:endParaRPr lang="en-US" sz="1200" dirty="0"/>
          </a:p>
        </p:txBody>
      </p:sp>
      <p:sp>
        <p:nvSpPr>
          <p:cNvPr id="5" name="Text 1"/>
          <p:cNvSpPr/>
          <p:nvPr>
            <p:ph idx="103" type="title" hasCustomPrompt="1"/>
          </p:nvPr>
        </p:nvSpPr>
        <p:spPr>
          <a:xfrm>
            <a:off x="548640" y="786384"/>
            <a:ext cx="11064240" cy="10058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rgus logo: an open eye with an aperture iris">    </p:cNvPr>
          <p:cNvPicPr>
            <a:picLocks noChangeAspect="1"/>
          </p:cNvPicPr>
          <p:nvPr/>
        </p:nvPicPr>
        <p:blipFill>
          <a:blip r:embed="rId1"/>
          <a:stretch>
            <a:fillRect/>
          </a:stretch>
        </p:blipFill>
        <p:spPr>
          <a:xfrm>
            <a:off x="5524348" y="868680"/>
            <a:ext cx="1143000" cy="1143000"/>
          </a:xfrm>
          <a:prstGeom prst="rect">
            <a:avLst/>
          </a:prstGeom>
        </p:spPr>
      </p:pic>
      <p:sp>
        <p:nvSpPr>
          <p:cNvPr id="3" name="Text 0"/>
          <p:cNvSpPr txBox="1"/>
          <p:nvPr/>
        </p:nvSpPr>
        <p:spPr>
          <a:xfrm>
            <a:off x="0" y="2148840"/>
            <a:ext cx="12191695" cy="1325880"/>
          </a:xfrm>
          <a:prstGeom prst="rect">
            <a:avLst/>
          </a:prstGeom>
          <a:noFill/>
          <a:ln/>
        </p:spPr>
        <p:txBody>
          <a:bodyPr wrap="square" lIns="0" tIns="0" rIns="0" bIns="0" rtlCol="0" anchor="ctr"/>
          <a:lstStyle/>
          <a:p>
            <a:pPr algn="ctr" indent="0" marL="0">
              <a:buNone/>
            </a:pPr>
            <a:r>
              <a:rPr lang="en-US" sz="9600" b="1" dirty="0">
                <a:solidFill>
                  <a:schemeClr val="bg1"/>
                </a:solidFill>
              </a:rPr>
              <a:t>Argus</a:t>
            </a:r>
            <a:endParaRPr lang="en-US" sz="9600" dirty="0"/>
          </a:p>
        </p:txBody>
      </p:sp>
      <p:sp>
        <p:nvSpPr>
          <p:cNvPr id="4" name="Text 1"/>
          <p:cNvSpPr txBox="1"/>
          <p:nvPr/>
        </p:nvSpPr>
        <p:spPr>
          <a:xfrm>
            <a:off x="0" y="3520440"/>
            <a:ext cx="12191695" cy="502920"/>
          </a:xfrm>
          <a:prstGeom prst="rect">
            <a:avLst/>
          </a:prstGeom>
          <a:noFill/>
          <a:ln/>
        </p:spPr>
        <p:txBody>
          <a:bodyPr wrap="square" lIns="0" tIns="0" rIns="0" bIns="0" rtlCol="0" anchor="ctr"/>
          <a:lstStyle/>
          <a:p>
            <a:pPr algn="ctr" indent="0" marL="0">
              <a:buNone/>
            </a:pPr>
            <a:r>
              <a:rPr lang="en-US" sz="2600" dirty="0">
                <a:solidFill>
                  <a:schemeClr val="bg1"/>
                </a:solidFill>
              </a:rPr>
              <a:t>The </a:t>
            </a:r>
            <a:pPr algn="ctr" indent="0" marL="0">
              <a:buNone/>
            </a:pPr>
            <a:r>
              <a:rPr lang="en-US" sz="2600" b="1" dirty="0">
                <a:solidFill>
                  <a:schemeClr val="accent1"/>
                </a:solidFill>
              </a:rPr>
              <a:t>AI incident commander</a:t>
            </a:r>
            <a:pPr algn="ctr" indent="0" marL="0">
              <a:buNone/>
            </a:pPr>
            <a:r>
              <a:rPr lang="en-US" sz="2600" dirty="0">
                <a:solidFill>
                  <a:schemeClr val="bg1"/>
                </a:solidFill>
              </a:rPr>
              <a:t> for production software</a:t>
            </a:r>
            <a:endParaRPr lang="en-US" sz="2600" dirty="0"/>
          </a:p>
        </p:txBody>
      </p:sp>
      <p:sp>
        <p:nvSpPr>
          <p:cNvPr id="5" name="Text 2"/>
          <p:cNvSpPr txBox="1"/>
          <p:nvPr/>
        </p:nvSpPr>
        <p:spPr>
          <a:xfrm>
            <a:off x="1371600" y="4069080"/>
            <a:ext cx="9448495" cy="411480"/>
          </a:xfrm>
          <a:prstGeom prst="rect">
            <a:avLst/>
          </a:prstGeom>
          <a:noFill/>
          <a:ln/>
        </p:spPr>
        <p:txBody>
          <a:bodyPr wrap="square" lIns="0" tIns="0" rIns="0" bIns="0" rtlCol="0" anchor="t"/>
          <a:lstStyle/>
          <a:p>
            <a:pPr algn="ctr" indent="0" marL="0">
              <a:buNone/>
            </a:pPr>
            <a:r>
              <a:rPr lang="en-US" sz="1700" dirty="0">
                <a:solidFill>
                  <a:schemeClr val="bg2"/>
                </a:solidFill>
              </a:rPr>
              <a:t>From a firing alert to a proven root cause, a tested fix and a human sign-off, in minutes.</a:t>
            </a:r>
            <a:endParaRPr lang="en-US" sz="1700" dirty="0"/>
          </a:p>
        </p:txBody>
      </p:sp>
      <p:sp>
        <p:nvSpPr>
          <p:cNvPr id="6" name="pill"/>
          <p:cNvSpPr/>
          <p:nvPr/>
        </p:nvSpPr>
        <p:spPr>
          <a:xfrm>
            <a:off x="3310128" y="4892040"/>
            <a:ext cx="1554480" cy="420624"/>
          </a:xfrm>
          <a:prstGeom prst="roundRect">
            <a:avLst>
              <a:gd name="adj" fmla="val 50000"/>
            </a:avLst>
          </a:prstGeom>
          <a:solidFill>
            <a:srgbClr val="FFFFFF">
              <a:alpha val="8000"/>
            </a:srgbClr>
          </a:solidFill>
          <a:ln w="9525">
            <a:solidFill>
              <a:srgbClr val="FFFFFF">
                <a:alpha val="20000"/>
              </a:srgbClr>
            </a:solidFill>
            <a:prstDash val="solid"/>
          </a:ln>
        </p:spPr>
      </p:sp>
      <p:sp>
        <p:nvSpPr>
          <p:cNvPr id="7" name="dot"/>
          <p:cNvSpPr/>
          <p:nvPr/>
        </p:nvSpPr>
        <p:spPr>
          <a:xfrm>
            <a:off x="3511296" y="5047488"/>
            <a:ext cx="109728" cy="109728"/>
          </a:xfrm>
          <a:prstGeom prst="ellipse">
            <a:avLst/>
          </a:prstGeom>
          <a:solidFill>
            <a:srgbClr val="3EE59A"/>
          </a:solidFill>
          <a:ln/>
        </p:spPr>
      </p:sp>
      <p:sp>
        <p:nvSpPr>
          <p:cNvPr id="8" name="Text 5"/>
          <p:cNvSpPr txBox="1"/>
          <p:nvPr/>
        </p:nvSpPr>
        <p:spPr>
          <a:xfrm>
            <a:off x="3694176" y="4892040"/>
            <a:ext cx="1097280" cy="420624"/>
          </a:xfrm>
          <a:prstGeom prst="rect">
            <a:avLst/>
          </a:prstGeom>
          <a:noFill/>
          <a:ln/>
        </p:spPr>
        <p:txBody>
          <a:bodyPr wrap="square" lIns="0" tIns="0" rIns="0" bIns="0" rtlCol="0" anchor="ctr"/>
          <a:lstStyle/>
          <a:p>
            <a:pPr algn="l" indent="0" marL="0">
              <a:buNone/>
            </a:pPr>
            <a:r>
              <a:rPr lang="en-US" sz="1400" b="1" dirty="0">
                <a:solidFill>
                  <a:schemeClr val="bg1"/>
                </a:solidFill>
              </a:rPr>
              <a:t>B2B SaaS</a:t>
            </a:r>
            <a:endParaRPr lang="en-US" sz="1400" dirty="0"/>
          </a:p>
        </p:txBody>
      </p:sp>
      <p:sp>
        <p:nvSpPr>
          <p:cNvPr id="9" name="pill"/>
          <p:cNvSpPr/>
          <p:nvPr/>
        </p:nvSpPr>
        <p:spPr>
          <a:xfrm>
            <a:off x="5001768" y="4892040"/>
            <a:ext cx="1965960" cy="420624"/>
          </a:xfrm>
          <a:prstGeom prst="roundRect">
            <a:avLst>
              <a:gd name="adj" fmla="val 50000"/>
            </a:avLst>
          </a:prstGeom>
          <a:solidFill>
            <a:srgbClr val="FFFFFF">
              <a:alpha val="8000"/>
            </a:srgbClr>
          </a:solidFill>
          <a:ln w="9525">
            <a:solidFill>
              <a:srgbClr val="FFFFFF">
                <a:alpha val="20000"/>
              </a:srgbClr>
            </a:solidFill>
            <a:prstDash val="solid"/>
          </a:ln>
        </p:spPr>
      </p:sp>
      <p:sp>
        <p:nvSpPr>
          <p:cNvPr id="10" name="Text 7"/>
          <p:cNvSpPr txBox="1"/>
          <p:nvPr/>
        </p:nvSpPr>
        <p:spPr>
          <a:xfrm>
            <a:off x="5001768" y="4892040"/>
            <a:ext cx="1965960" cy="420624"/>
          </a:xfrm>
          <a:prstGeom prst="rect">
            <a:avLst/>
          </a:prstGeom>
          <a:noFill/>
          <a:ln/>
        </p:spPr>
        <p:txBody>
          <a:bodyPr wrap="square" lIns="0" tIns="0" rIns="0" bIns="0" rtlCol="0" anchor="ctr"/>
          <a:lstStyle/>
          <a:p>
            <a:pPr algn="ctr" indent="0" marL="0">
              <a:buNone/>
            </a:pPr>
            <a:r>
              <a:rPr lang="en-US" sz="1400" b="1" dirty="0">
                <a:solidFill>
                  <a:schemeClr val="bg1"/>
                </a:solidFill>
              </a:rPr>
              <a:t>IT Infrastructure</a:t>
            </a:r>
            <a:endParaRPr lang="en-US" sz="1400" dirty="0"/>
          </a:p>
        </p:txBody>
      </p:sp>
      <p:sp>
        <p:nvSpPr>
          <p:cNvPr id="11" name="pill"/>
          <p:cNvSpPr/>
          <p:nvPr/>
        </p:nvSpPr>
        <p:spPr>
          <a:xfrm>
            <a:off x="7104888" y="4892040"/>
            <a:ext cx="2194560" cy="420624"/>
          </a:xfrm>
          <a:prstGeom prst="roundRect">
            <a:avLst>
              <a:gd name="adj" fmla="val 50000"/>
            </a:avLst>
          </a:prstGeom>
          <a:solidFill>
            <a:srgbClr val="FFFFFF">
              <a:alpha val="8000"/>
            </a:srgbClr>
          </a:solidFill>
          <a:ln w="9525">
            <a:solidFill>
              <a:srgbClr val="FFFFFF">
                <a:alpha val="20000"/>
              </a:srgbClr>
            </a:solidFill>
            <a:prstDash val="solid"/>
          </a:ln>
        </p:spPr>
      </p:sp>
      <p:sp>
        <p:nvSpPr>
          <p:cNvPr id="12" name="Text 9"/>
          <p:cNvSpPr txBox="1"/>
          <p:nvPr/>
        </p:nvSpPr>
        <p:spPr>
          <a:xfrm>
            <a:off x="7104888" y="4892040"/>
            <a:ext cx="2194560" cy="420624"/>
          </a:xfrm>
          <a:prstGeom prst="rect">
            <a:avLst/>
          </a:prstGeom>
          <a:noFill/>
          <a:ln/>
        </p:spPr>
        <p:txBody>
          <a:bodyPr wrap="square" lIns="0" tIns="0" rIns="0" bIns="0" rtlCol="0" anchor="ctr"/>
          <a:lstStyle/>
          <a:p>
            <a:pPr algn="ctr" indent="0" marL="0">
              <a:buNone/>
            </a:pPr>
            <a:r>
              <a:rPr lang="en-US" sz="1400" b="1" dirty="0">
                <a:solidFill>
                  <a:schemeClr val="bg1"/>
                </a:solidFill>
              </a:rPr>
              <a:t>Multi-agent systems</a:t>
            </a:r>
            <a:endParaRPr lang="en-US" sz="1400" dirty="0"/>
          </a:p>
        </p:txBody>
      </p:sp>
      <p:sp>
        <p:nvSpPr>
          <p:cNvPr id="13" name="Text 10"/>
          <p:cNvSpPr txBox="1"/>
          <p:nvPr/>
        </p:nvSpPr>
        <p:spPr>
          <a:xfrm>
            <a:off x="0" y="5989320"/>
            <a:ext cx="12191695" cy="365760"/>
          </a:xfrm>
          <a:prstGeom prst="rect">
            <a:avLst/>
          </a:prstGeom>
          <a:noFill/>
          <a:ln/>
        </p:spPr>
        <p:txBody>
          <a:bodyPr wrap="square" lIns="0" tIns="0" rIns="0" bIns="0" rtlCol="0" anchor="t"/>
          <a:lstStyle/>
          <a:p>
            <a:pPr algn="ctr" indent="0" marL="0">
              <a:buNone/>
            </a:pPr>
            <a:r>
              <a:rPr lang="en-US" sz="1400" b="1" spc="100" kern="0" dirty="0">
                <a:solidFill>
                  <a:schemeClr val="accent2"/>
                </a:solidFill>
                <a:latin typeface="Consolas" pitchFamily="34" charset="0"/>
                <a:ea typeface="Consolas" pitchFamily="34" charset="-122"/>
                <a:cs typeface="Consolas" pitchFamily="34" charset="-120"/>
              </a:rPr>
              <a:t>TEAM YSL</a:t>
            </a:r>
            <a:pPr algn="ctr" indent="0" marL="0">
              <a:buNone/>
            </a:pPr>
            <a:r>
              <a:rPr lang="en-US" sz="1400" spc="100" kern="0" dirty="0">
                <a:solidFill>
                  <a:srgbClr val="A9A7C8"/>
                </a:solidFill>
                <a:latin typeface="Consolas" pitchFamily="34" charset="0"/>
                <a:ea typeface="Consolas" pitchFamily="34" charset="-122"/>
                <a:cs typeface="Consolas" pitchFamily="34" charset="-120"/>
              </a:rPr>
              <a:t>  ·  Siddhartha &amp; Yuvika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0" y="1463040"/>
            <a:ext cx="12191695" cy="365760"/>
          </a:xfrm>
          <a:prstGeom prst="rect">
            <a:avLst/>
          </a:prstGeom>
          <a:noFill/>
          <a:ln/>
        </p:spPr>
        <p:txBody>
          <a:bodyPr wrap="square" lIns="0" tIns="0" rIns="0" bIns="0" rtlCol="0" anchor="t"/>
          <a:lstStyle/>
          <a:p>
            <a:pPr algn="ctr" indent="0" marL="0">
              <a:buNone/>
            </a:pPr>
            <a:r>
              <a:rPr lang="en-US" sz="1400" b="1" spc="400" kern="0" dirty="0">
                <a:solidFill>
                  <a:schemeClr val="accent2"/>
                </a:solidFill>
                <a:latin typeface="Consolas" pitchFamily="34" charset="0"/>
                <a:ea typeface="Consolas" pitchFamily="34" charset="-122"/>
                <a:cs typeface="Consolas" pitchFamily="34" charset="-120"/>
              </a:rPr>
              <a:t>THE PROBLEM</a:t>
            </a:r>
            <a:endParaRPr lang="en-US" sz="1400" dirty="0"/>
          </a:p>
        </p:txBody>
      </p:sp>
      <p:sp>
        <p:nvSpPr>
          <p:cNvPr id="3" name="Text 1"/>
          <p:cNvSpPr txBox="1"/>
          <p:nvPr/>
        </p:nvSpPr>
        <p:spPr>
          <a:xfrm>
            <a:off x="548640" y="1965960"/>
            <a:ext cx="11094415" cy="2194560"/>
          </a:xfrm>
          <a:prstGeom prst="rect">
            <a:avLst/>
          </a:prstGeom>
          <a:noFill/>
          <a:ln/>
        </p:spPr>
        <p:txBody>
          <a:bodyPr wrap="square" lIns="0" tIns="0" rIns="0" bIns="0" rtlCol="0" anchor="ctr"/>
          <a:lstStyle/>
          <a:p>
            <a:pPr algn="ctr" indent="0" marL="0">
              <a:lnSpc>
                <a:spcPct val="95000"/>
              </a:lnSpc>
              <a:buNone/>
            </a:pPr>
            <a:r>
              <a:rPr lang="en-US" sz="6400" b="1" dirty="0">
                <a:solidFill>
                  <a:schemeClr val="bg1"/>
                </a:solidFill>
              </a:rPr>
              <a:t>Every minute of downtime</a:t>
            </a:r>
            <a:endParaRPr lang="en-US" sz="6400" dirty="0"/>
          </a:p>
          <a:p>
            <a:pPr algn="ctr" indent="0" marL="0">
              <a:lnSpc>
                <a:spcPct val="95000"/>
              </a:lnSpc>
              <a:buNone/>
            </a:pPr>
            <a:r>
              <a:rPr lang="en-US" sz="6400" b="1" dirty="0">
                <a:solidFill>
                  <a:schemeClr val="accent4"/>
                </a:solidFill>
              </a:rPr>
              <a:t>costs money</a:t>
            </a:r>
            <a:endParaRPr lang="en-US" sz="6400" dirty="0"/>
          </a:p>
        </p:txBody>
      </p:sp>
      <p:sp>
        <p:nvSpPr>
          <p:cNvPr id="4" name="Text 2"/>
          <p:cNvSpPr txBox="1"/>
          <p:nvPr/>
        </p:nvSpPr>
        <p:spPr>
          <a:xfrm>
            <a:off x="914400" y="4389120"/>
            <a:ext cx="10362895" cy="548640"/>
          </a:xfrm>
          <a:prstGeom prst="rect">
            <a:avLst/>
          </a:prstGeom>
          <a:noFill/>
          <a:ln/>
        </p:spPr>
        <p:txBody>
          <a:bodyPr wrap="square" lIns="0" tIns="0" rIns="0" bIns="0" rtlCol="0" anchor="t"/>
          <a:lstStyle/>
          <a:p>
            <a:pPr algn="ctr" indent="0" marL="0">
              <a:buNone/>
            </a:pPr>
            <a:r>
              <a:rPr lang="en-US" sz="2200" dirty="0">
                <a:solidFill>
                  <a:schemeClr val="bg2"/>
                </a:solidFill>
              </a:rPr>
              <a:t>And at 2 a.m., three engineers are still grepping logs to find out why.</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THE PROBLEM, IN NUMBERS</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One bad commit to a mid-sized store's checkout</a:t>
            </a:r>
            <a:endParaRPr lang="en-US" sz="3600" dirty="0"/>
          </a:p>
        </p:txBody>
      </p:sp>
      <p:sp>
        <p:nvSpPr>
          <p:cNvPr id="4" name="stat card"/>
          <p:cNvSpPr/>
          <p:nvPr/>
        </p:nvSpPr>
        <p:spPr>
          <a:xfrm>
            <a:off x="548640" y="2240280"/>
            <a:ext cx="2615184" cy="2331720"/>
          </a:xfrm>
          <a:prstGeom prst="roundRect">
            <a:avLst>
              <a:gd name="adj" fmla="val 6275"/>
            </a:avLst>
          </a:prstGeom>
          <a:solidFill>
            <a:srgbClr val="15142A">
              <a:alpha val="75000"/>
            </a:srgbClr>
          </a:solidFill>
          <a:ln w="12700">
            <a:solidFill>
              <a:srgbClr val="2C2B45"/>
            </a:solidFill>
            <a:prstDash val="solid"/>
          </a:ln>
        </p:spPr>
      </p:sp>
      <p:sp>
        <p:nvSpPr>
          <p:cNvPr id="5" name="Text 3"/>
          <p:cNvSpPr txBox="1"/>
          <p:nvPr/>
        </p:nvSpPr>
        <p:spPr>
          <a:xfrm>
            <a:off x="822960" y="2496312"/>
            <a:ext cx="2066544" cy="868680"/>
          </a:xfrm>
          <a:prstGeom prst="rect">
            <a:avLst/>
          </a:prstGeom>
          <a:noFill/>
          <a:ln/>
        </p:spPr>
        <p:txBody>
          <a:bodyPr wrap="square" lIns="0" tIns="0" rIns="0" bIns="0" rtlCol="0" anchor="ctr"/>
          <a:lstStyle/>
          <a:p>
            <a:pPr indent="0" marL="0">
              <a:buNone/>
            </a:pPr>
            <a:r>
              <a:rPr lang="en-US" sz="4800" b="1" dirty="0">
                <a:solidFill>
                  <a:srgbClr val="FF5D73"/>
                </a:solidFill>
              </a:rPr>
              <a:t>38%</a:t>
            </a:r>
            <a:endParaRPr lang="en-US" sz="4800" dirty="0"/>
          </a:p>
        </p:txBody>
      </p:sp>
      <p:sp>
        <p:nvSpPr>
          <p:cNvPr id="6" name="Text 4"/>
          <p:cNvSpPr txBox="1"/>
          <p:nvPr/>
        </p:nvSpPr>
        <p:spPr>
          <a:xfrm>
            <a:off x="822960" y="3410712"/>
            <a:ext cx="2066544" cy="1005840"/>
          </a:xfrm>
          <a:prstGeom prst="rect">
            <a:avLst/>
          </a:prstGeom>
          <a:noFill/>
          <a:ln/>
        </p:spPr>
        <p:txBody>
          <a:bodyPr wrap="square" lIns="0" tIns="0" rIns="0" bIns="0" rtlCol="0" anchor="t"/>
          <a:lstStyle/>
          <a:p>
            <a:pPr indent="0" marL="0">
              <a:buNone/>
            </a:pPr>
            <a:r>
              <a:rPr lang="en-US" sz="1400" dirty="0">
                <a:solidFill>
                  <a:schemeClr val="bg2"/>
                </a:solidFill>
              </a:rPr>
              <a:t>of checkouts failing once the database connection pool runs dry</a:t>
            </a:r>
            <a:endParaRPr lang="en-US" sz="1400" dirty="0"/>
          </a:p>
        </p:txBody>
      </p:sp>
      <p:sp>
        <p:nvSpPr>
          <p:cNvPr id="7" name="stat card"/>
          <p:cNvSpPr/>
          <p:nvPr/>
        </p:nvSpPr>
        <p:spPr>
          <a:xfrm>
            <a:off x="3392424" y="2240280"/>
            <a:ext cx="2615184" cy="2331720"/>
          </a:xfrm>
          <a:prstGeom prst="roundRect">
            <a:avLst>
              <a:gd name="adj" fmla="val 6275"/>
            </a:avLst>
          </a:prstGeom>
          <a:solidFill>
            <a:srgbClr val="15142A">
              <a:alpha val="75000"/>
            </a:srgbClr>
          </a:solidFill>
          <a:ln w="12700">
            <a:solidFill>
              <a:srgbClr val="2C2B45"/>
            </a:solidFill>
            <a:prstDash val="solid"/>
          </a:ln>
        </p:spPr>
      </p:sp>
      <p:sp>
        <p:nvSpPr>
          <p:cNvPr id="8" name="Text 6"/>
          <p:cNvSpPr txBox="1"/>
          <p:nvPr/>
        </p:nvSpPr>
        <p:spPr>
          <a:xfrm>
            <a:off x="3666744" y="2496312"/>
            <a:ext cx="2066544" cy="868680"/>
          </a:xfrm>
          <a:prstGeom prst="rect">
            <a:avLst/>
          </a:prstGeom>
          <a:noFill/>
          <a:ln/>
        </p:spPr>
        <p:txBody>
          <a:bodyPr wrap="square" lIns="0" tIns="0" rIns="0" bIns="0" rtlCol="0" anchor="ctr"/>
          <a:lstStyle/>
          <a:p>
            <a:pPr indent="0" marL="0">
              <a:buNone/>
            </a:pPr>
            <a:r>
              <a:rPr lang="en-US" sz="4800" b="1" dirty="0">
                <a:solidFill>
                  <a:srgbClr val="F4F3FF"/>
                </a:solidFill>
              </a:rPr>
              <a:t>₹6,840</a:t>
            </a:r>
            <a:endParaRPr lang="en-US" sz="4800" dirty="0"/>
          </a:p>
        </p:txBody>
      </p:sp>
      <p:sp>
        <p:nvSpPr>
          <p:cNvPr id="9" name="Text 7"/>
          <p:cNvSpPr txBox="1"/>
          <p:nvPr/>
        </p:nvSpPr>
        <p:spPr>
          <a:xfrm>
            <a:off x="3666744" y="3410712"/>
            <a:ext cx="2066544" cy="1005840"/>
          </a:xfrm>
          <a:prstGeom prst="rect">
            <a:avLst/>
          </a:prstGeom>
          <a:noFill/>
          <a:ln/>
        </p:spPr>
        <p:txBody>
          <a:bodyPr wrap="square" lIns="0" tIns="0" rIns="0" bIns="0" rtlCol="0" anchor="t"/>
          <a:lstStyle/>
          <a:p>
            <a:pPr indent="0" marL="0">
              <a:buNone/>
            </a:pPr>
            <a:r>
              <a:rPr lang="en-US" sz="1400" dirty="0">
                <a:solidFill>
                  <a:schemeClr val="bg2"/>
                </a:solidFill>
              </a:rPr>
              <a:t>revenue at risk every minute (15 orders/min × ₹1,200 × 38%)</a:t>
            </a:r>
            <a:endParaRPr lang="en-US" sz="1400" dirty="0"/>
          </a:p>
        </p:txBody>
      </p:sp>
      <p:sp>
        <p:nvSpPr>
          <p:cNvPr id="10" name="stat card"/>
          <p:cNvSpPr/>
          <p:nvPr/>
        </p:nvSpPr>
        <p:spPr>
          <a:xfrm>
            <a:off x="6236208" y="2240280"/>
            <a:ext cx="2615184" cy="2331720"/>
          </a:xfrm>
          <a:prstGeom prst="roundRect">
            <a:avLst>
              <a:gd name="adj" fmla="val 6275"/>
            </a:avLst>
          </a:prstGeom>
          <a:solidFill>
            <a:srgbClr val="15142A">
              <a:alpha val="75000"/>
            </a:srgbClr>
          </a:solidFill>
          <a:ln w="12700">
            <a:solidFill>
              <a:srgbClr val="2C2B45"/>
            </a:solidFill>
            <a:prstDash val="solid"/>
          </a:ln>
        </p:spPr>
      </p:sp>
      <p:sp>
        <p:nvSpPr>
          <p:cNvPr id="11" name="Text 9"/>
          <p:cNvSpPr txBox="1"/>
          <p:nvPr/>
        </p:nvSpPr>
        <p:spPr>
          <a:xfrm>
            <a:off x="6510528" y="2496312"/>
            <a:ext cx="2066544" cy="868680"/>
          </a:xfrm>
          <a:prstGeom prst="rect">
            <a:avLst/>
          </a:prstGeom>
          <a:noFill/>
          <a:ln/>
        </p:spPr>
        <p:txBody>
          <a:bodyPr wrap="square" lIns="0" tIns="0" rIns="0" bIns="0" rtlCol="0" anchor="ctr"/>
          <a:lstStyle/>
          <a:p>
            <a:pPr indent="0" marL="0">
              <a:buNone/>
            </a:pPr>
            <a:r>
              <a:rPr lang="en-US" sz="4800" b="1" dirty="0">
                <a:solidFill>
                  <a:srgbClr val="FFB547"/>
                </a:solidFill>
              </a:rPr>
              <a:t>80 min</a:t>
            </a:r>
            <a:endParaRPr lang="en-US" sz="4800" dirty="0"/>
          </a:p>
        </p:txBody>
      </p:sp>
      <p:sp>
        <p:nvSpPr>
          <p:cNvPr id="12" name="Text 10"/>
          <p:cNvSpPr txBox="1"/>
          <p:nvPr/>
        </p:nvSpPr>
        <p:spPr>
          <a:xfrm>
            <a:off x="6510528" y="3410712"/>
            <a:ext cx="2066544" cy="1005840"/>
          </a:xfrm>
          <a:prstGeom prst="rect">
            <a:avLst/>
          </a:prstGeom>
          <a:noFill/>
          <a:ln/>
        </p:spPr>
        <p:txBody>
          <a:bodyPr wrap="square" lIns="0" tIns="0" rIns="0" bIns="0" rtlCol="0" anchor="t"/>
          <a:lstStyle/>
          <a:p>
            <a:pPr indent="0" marL="0">
              <a:buNone/>
            </a:pPr>
            <a:r>
              <a:rPr lang="en-US" sz="1400" dirty="0">
                <a:solidFill>
                  <a:schemeClr val="bg2"/>
                </a:solidFill>
              </a:rPr>
              <a:t>for a typical manual fix, with 3 engineers paged</a:t>
            </a:r>
            <a:endParaRPr lang="en-US" sz="1400" dirty="0"/>
          </a:p>
        </p:txBody>
      </p:sp>
      <p:sp>
        <p:nvSpPr>
          <p:cNvPr id="13" name="stat card"/>
          <p:cNvSpPr/>
          <p:nvPr/>
        </p:nvSpPr>
        <p:spPr>
          <a:xfrm>
            <a:off x="9079992" y="2240280"/>
            <a:ext cx="2615184" cy="2331720"/>
          </a:xfrm>
          <a:prstGeom prst="roundRect">
            <a:avLst>
              <a:gd name="adj" fmla="val 6275"/>
            </a:avLst>
          </a:prstGeom>
          <a:solidFill>
            <a:srgbClr val="15142A">
              <a:alpha val="75000"/>
            </a:srgbClr>
          </a:solidFill>
          <a:ln w="12700">
            <a:solidFill>
              <a:srgbClr val="2C2B45"/>
            </a:solidFill>
            <a:prstDash val="solid"/>
          </a:ln>
        </p:spPr>
      </p:sp>
      <p:sp>
        <p:nvSpPr>
          <p:cNvPr id="14" name="Text 12"/>
          <p:cNvSpPr txBox="1"/>
          <p:nvPr/>
        </p:nvSpPr>
        <p:spPr>
          <a:xfrm>
            <a:off x="9354312" y="2496312"/>
            <a:ext cx="2066544" cy="868680"/>
          </a:xfrm>
          <a:prstGeom prst="rect">
            <a:avLst/>
          </a:prstGeom>
          <a:noFill/>
          <a:ln/>
        </p:spPr>
        <p:txBody>
          <a:bodyPr wrap="square" lIns="0" tIns="0" rIns="0" bIns="0" rtlCol="0" anchor="ctr"/>
          <a:lstStyle/>
          <a:p>
            <a:pPr indent="0" marL="0">
              <a:buNone/>
            </a:pPr>
            <a:r>
              <a:rPr lang="en-US" sz="4800" b="1" dirty="0">
                <a:solidFill>
                  <a:srgbClr val="FF5D73"/>
                </a:solidFill>
              </a:rPr>
              <a:t>₹5.5 L</a:t>
            </a:r>
            <a:endParaRPr lang="en-US" sz="4800" dirty="0"/>
          </a:p>
        </p:txBody>
      </p:sp>
      <p:sp>
        <p:nvSpPr>
          <p:cNvPr id="15" name="Text 13"/>
          <p:cNvSpPr txBox="1"/>
          <p:nvPr/>
        </p:nvSpPr>
        <p:spPr>
          <a:xfrm>
            <a:off x="9354312" y="3410712"/>
            <a:ext cx="2066544" cy="1005840"/>
          </a:xfrm>
          <a:prstGeom prst="rect">
            <a:avLst/>
          </a:prstGeom>
          <a:noFill/>
          <a:ln/>
        </p:spPr>
        <p:txBody>
          <a:bodyPr wrap="square" lIns="0" tIns="0" rIns="0" bIns="0" rtlCol="0" anchor="t"/>
          <a:lstStyle/>
          <a:p>
            <a:pPr indent="0" marL="0">
              <a:buNone/>
            </a:pPr>
            <a:r>
              <a:rPr lang="en-US" sz="1400" dirty="0">
                <a:solidFill>
                  <a:schemeClr val="bg2"/>
                </a:solidFill>
              </a:rPr>
              <a:t>lost on one incident before anyone ships a fix</a:t>
            </a:r>
            <a:endParaRPr lang="en-US" sz="1400" dirty="0"/>
          </a:p>
        </p:txBody>
      </p:sp>
      <p:sp>
        <p:nvSpPr>
          <p:cNvPr id="16" name="Text 14"/>
          <p:cNvSpPr txBox="1"/>
          <p:nvPr/>
        </p:nvSpPr>
        <p:spPr>
          <a:xfrm>
            <a:off x="548640" y="4892040"/>
            <a:ext cx="11064240" cy="320040"/>
          </a:xfrm>
          <a:prstGeom prst="rect">
            <a:avLst/>
          </a:prstGeom>
          <a:noFill/>
          <a:ln/>
        </p:spPr>
        <p:txBody>
          <a:bodyPr wrap="square" lIns="0" tIns="0" rIns="0" bIns="0" rtlCol="0" anchor="t"/>
          <a:lstStyle/>
          <a:p>
            <a:pPr indent="0" marL="0">
              <a:buNone/>
            </a:pPr>
            <a:r>
              <a:rPr lang="en-US" sz="1200" i="1" dirty="0">
                <a:solidFill>
                  <a:srgbClr val="7A7898"/>
                </a:solidFill>
              </a:rPr>
              <a:t>Figures from Argus's own business model for the checkout scenario (business.json). Every assumption is shown and editable in the product.</a:t>
            </a:r>
            <a:endParaRPr lang="en-US" sz="12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WHY IT IS HARD</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The loudest signal is usually the wrong one</a:t>
            </a:r>
            <a:endParaRPr lang="en-US" sz="3600" dirty="0"/>
          </a:p>
        </p:txBody>
      </p:sp>
      <p:sp>
        <p:nvSpPr>
          <p:cNvPr id="4" name="terminal"/>
          <p:cNvSpPr/>
          <p:nvPr/>
        </p:nvSpPr>
        <p:spPr>
          <a:xfrm>
            <a:off x="548640" y="2011680"/>
            <a:ext cx="5760720" cy="3429000"/>
          </a:xfrm>
          <a:prstGeom prst="roundRect">
            <a:avLst>
              <a:gd name="adj" fmla="val 3733"/>
            </a:avLst>
          </a:prstGeom>
          <a:solidFill>
            <a:srgbClr val="05050B"/>
          </a:solidFill>
          <a:ln w="12700">
            <a:solidFill>
              <a:srgbClr val="34334F"/>
            </a:solidFill>
            <a:prstDash val="solid"/>
          </a:ln>
        </p:spPr>
      </p:sp>
      <p:sp>
        <p:nvSpPr>
          <p:cNvPr id="5" name="window dot"/>
          <p:cNvSpPr/>
          <p:nvPr/>
        </p:nvSpPr>
        <p:spPr>
          <a:xfrm>
            <a:off x="777240" y="2194560"/>
            <a:ext cx="118872" cy="118872"/>
          </a:xfrm>
          <a:prstGeom prst="ellipse">
            <a:avLst/>
          </a:prstGeom>
          <a:solidFill>
            <a:srgbClr val="FF5F57"/>
          </a:solidFill>
          <a:ln/>
        </p:spPr>
      </p:sp>
      <p:sp>
        <p:nvSpPr>
          <p:cNvPr id="6" name="window dot"/>
          <p:cNvSpPr/>
          <p:nvPr/>
        </p:nvSpPr>
        <p:spPr>
          <a:xfrm>
            <a:off x="978408" y="2194560"/>
            <a:ext cx="118872" cy="118872"/>
          </a:xfrm>
          <a:prstGeom prst="ellipse">
            <a:avLst/>
          </a:prstGeom>
          <a:solidFill>
            <a:srgbClr val="FEBC2E"/>
          </a:solidFill>
          <a:ln/>
        </p:spPr>
      </p:sp>
      <p:sp>
        <p:nvSpPr>
          <p:cNvPr id="7" name="window dot"/>
          <p:cNvSpPr/>
          <p:nvPr/>
        </p:nvSpPr>
        <p:spPr>
          <a:xfrm>
            <a:off x="1179576" y="2194560"/>
            <a:ext cx="118872" cy="118872"/>
          </a:xfrm>
          <a:prstGeom prst="ellipse">
            <a:avLst/>
          </a:prstGeom>
          <a:solidFill>
            <a:srgbClr val="28C840"/>
          </a:solidFill>
          <a:ln/>
        </p:spPr>
      </p:sp>
      <p:sp>
        <p:nvSpPr>
          <p:cNvPr id="8" name="Text 6"/>
          <p:cNvSpPr txBox="1"/>
          <p:nvPr/>
        </p:nvSpPr>
        <p:spPr>
          <a:xfrm>
            <a:off x="1463040" y="2121408"/>
            <a:ext cx="4663440" cy="274320"/>
          </a:xfrm>
          <a:prstGeom prst="rect">
            <a:avLst/>
          </a:prstGeom>
          <a:noFill/>
          <a:ln/>
        </p:spPr>
        <p:txBody>
          <a:bodyPr wrap="square" lIns="0" tIns="0" rIns="0" bIns="0" rtlCol="0" anchor="ctr"/>
          <a:lstStyle/>
          <a:p>
            <a:pPr indent="0" marL="0">
              <a:buNone/>
            </a:pPr>
            <a:r>
              <a:rPr lang="en-US" sz="1050" dirty="0">
                <a:solidFill>
                  <a:srgbClr val="7A7898"/>
                </a:solidFill>
                <a:latin typeface="Consolas" pitchFamily="34" charset="0"/>
                <a:ea typeface="Consolas" pitchFamily="34" charset="-122"/>
                <a:cs typeface="Consolas" pitchFamily="34" charset="-120"/>
              </a:rPr>
              <a:t>app.log  +  git diff</a:t>
            </a:r>
            <a:endParaRPr lang="en-US" sz="1050" dirty="0"/>
          </a:p>
        </p:txBody>
      </p:sp>
      <p:sp>
        <p:nvSpPr>
          <p:cNvPr id="9" name="terminal divider"/>
          <p:cNvSpPr/>
          <p:nvPr/>
        </p:nvSpPr>
        <p:spPr>
          <a:xfrm>
            <a:off x="548640" y="2487168"/>
            <a:ext cx="5760720" cy="0"/>
          </a:xfrm>
          <a:prstGeom prst="line">
            <a:avLst/>
          </a:prstGeom>
          <a:noFill/>
          <a:ln w="9525">
            <a:solidFill>
              <a:srgbClr val="22213A"/>
            </a:solidFill>
            <a:prstDash val="solid"/>
          </a:ln>
        </p:spPr>
      </p:sp>
      <p:sp>
        <p:nvSpPr>
          <p:cNvPr id="10" name="Text 8"/>
          <p:cNvSpPr txBox="1"/>
          <p:nvPr/>
        </p:nvSpPr>
        <p:spPr>
          <a:xfrm>
            <a:off x="822960" y="2651760"/>
            <a:ext cx="5212080" cy="2651760"/>
          </a:xfrm>
          <a:prstGeom prst="rect">
            <a:avLst/>
          </a:prstGeom>
          <a:noFill/>
          <a:ln/>
        </p:spPr>
        <p:txBody>
          <a:bodyPr wrap="square" lIns="0" tIns="0" rIns="0" bIns="0" rtlCol="0" anchor="t"/>
          <a:lstStyle/>
          <a:p>
            <a:pPr indent="0" marL="0">
              <a:lnSpc>
                <a:spcPct val="125000"/>
              </a:lnSpc>
              <a:buNone/>
            </a:pPr>
            <a:r>
              <a:rPr lang="en-US" sz="1200" dirty="0">
                <a:solidFill>
                  <a:srgbClr val="FF5D73"/>
                </a:solidFill>
                <a:latin typeface="Consolas" pitchFamily="34" charset="0"/>
                <a:ea typeface="Consolas" pitchFamily="34" charset="-122"/>
                <a:cs typeface="Consolas" pitchFamily="34" charset="-120"/>
              </a:rPr>
              <a:t>14:07:41 ERROR DBConnectionTimeout:</a:t>
            </a:r>
            <a:endParaRPr lang="en-US" sz="1200" dirty="0"/>
          </a:p>
          <a:p>
            <a:pPr indent="0" marL="0">
              <a:lnSpc>
                <a:spcPct val="125000"/>
              </a:lnSpc>
              <a:buNone/>
            </a:pPr>
            <a:r>
              <a:rPr lang="en-US" sz="1200" dirty="0">
                <a:solidFill>
                  <a:srgbClr val="FF5D73"/>
                </a:solidFill>
                <a:latin typeface="Consolas" pitchFamily="34" charset="0"/>
                <a:ea typeface="Consolas" pitchFamily="34" charset="-122"/>
                <a:cs typeface="Consolas" pitchFamily="34" charset="-120"/>
              </a:rPr>
              <a:t>         pool exhausted (20/20)</a:t>
            </a:r>
            <a:endParaRPr lang="en-US" sz="1200" dirty="0"/>
          </a:p>
          <a:p>
            <a:pPr indent="0" marL="0">
              <a:lnSpc>
                <a:spcPct val="125000"/>
              </a:lnSpc>
              <a:buNone/>
            </a:pPr>
            <a:r>
              <a:rPr lang="en-US" sz="1200" dirty="0">
                <a:solidFill>
                  <a:srgbClr val="7A7898"/>
                </a:solidFill>
                <a:latin typeface="Consolas" pitchFamily="34" charset="0"/>
                <a:ea typeface="Consolas" pitchFamily="34" charset="-122"/>
                <a:cs typeface="Consolas" pitchFamily="34" charset="-120"/>
              </a:rPr>
              <a:t>14:07:42 WARN  payment declined</a:t>
            </a:r>
            <a:endParaRPr lang="en-US" sz="1200" dirty="0"/>
          </a:p>
          <a:p>
            <a:pPr indent="0" marL="0">
              <a:lnSpc>
                <a:spcPct val="125000"/>
              </a:lnSpc>
              <a:buNone/>
            </a:pPr>
            <a:r>
              <a:rPr lang="en-US" sz="1200" dirty="0">
                <a:solidFill>
                  <a:srgbClr val="FFB547"/>
                </a:solidFill>
                <a:latin typeface="Consolas" pitchFamily="34" charset="0"/>
                <a:ea typeface="Consolas" pitchFamily="34" charset="-122"/>
                <a:cs typeface="Consolas" pitchFamily="34" charset="-120"/>
              </a:rPr>
              <a:t>→ first guess: "the database is</a:t>
            </a:r>
            <a:endParaRPr lang="en-US" sz="1200" dirty="0"/>
          </a:p>
          <a:p>
            <a:pPr indent="0" marL="0">
              <a:lnSpc>
                <a:spcPct val="125000"/>
              </a:lnSpc>
              <a:buNone/>
            </a:pPr>
            <a:r>
              <a:rPr lang="en-US" sz="1200" dirty="0">
                <a:solidFill>
                  <a:srgbClr val="FFB547"/>
                </a:solidFill>
                <a:latin typeface="Consolas" pitchFamily="34" charset="0"/>
                <a:ea typeface="Consolas" pitchFamily="34" charset="-122"/>
                <a:cs typeface="Consolas" pitchFamily="34" charset="-120"/>
              </a:rPr>
              <a:t>  overloaded, scale it up"</a:t>
            </a:r>
            <a:endParaRPr lang="en-US" sz="1200" dirty="0"/>
          </a:p>
          <a:p>
            <a:pPr indent="0" marL="0">
              <a:lnSpc>
                <a:spcPct val="125000"/>
              </a:lnSpc>
              <a:buNone/>
            </a:pPr>
            <a:r>
              <a:rPr lang="en-US" sz="1200" dirty="0">
                <a:solidFill>
                  <a:srgbClr val="CFCDE8"/>
                </a:solidFill>
                <a:latin typeface="Consolas" pitchFamily="34" charset="0"/>
                <a:ea typeface="Consolas" pitchFamily="34" charset="-122"/>
                <a:cs typeface="Consolas" pitchFamily="34" charset="-120"/>
              </a:rPr>
              <a:t> </a:t>
            </a:r>
            <a:endParaRPr lang="en-US" sz="1200" dirty="0"/>
          </a:p>
          <a:p>
            <a:pPr indent="0" marL="0">
              <a:lnSpc>
                <a:spcPct val="125000"/>
              </a:lnSpc>
              <a:buNone/>
            </a:pPr>
            <a:r>
              <a:rPr lang="en-US" sz="1200" dirty="0">
                <a:solidFill>
                  <a:srgbClr val="7A7898"/>
                </a:solidFill>
                <a:latin typeface="Consolas" pitchFamily="34" charset="0"/>
                <a:ea typeface="Consolas" pitchFamily="34" charset="-122"/>
                <a:cs typeface="Consolas" pitchFamily="34" charset="-120"/>
              </a:rPr>
              <a:t># the real cause, 2 minutes earlier:</a:t>
            </a:r>
            <a:endParaRPr lang="en-US" sz="1200" dirty="0"/>
          </a:p>
          <a:p>
            <a:pPr indent="0" marL="0">
              <a:lnSpc>
                <a:spcPct val="125000"/>
              </a:lnSpc>
              <a:buNone/>
            </a:pPr>
            <a:r>
              <a:rPr lang="en-US" sz="1200" dirty="0">
                <a:solidFill>
                  <a:srgbClr val="CFCDE8"/>
                </a:solidFill>
                <a:latin typeface="Consolas" pitchFamily="34" charset="0"/>
                <a:ea typeface="Consolas" pitchFamily="34" charset="-122"/>
                <a:cs typeface="Consolas" pitchFamily="34" charset="-120"/>
              </a:rPr>
              <a:t>  if declined:</a:t>
            </a:r>
            <a:endParaRPr lang="en-US" sz="1200" dirty="0"/>
          </a:p>
          <a:p>
            <a:pPr indent="0" marL="0">
              <a:lnSpc>
                <a:spcPct val="125000"/>
              </a:lnSpc>
              <a:buNone/>
            </a:pPr>
            <a:r>
              <a:rPr lang="en-US" sz="1200" dirty="0">
                <a:solidFill>
                  <a:srgbClr val="FF5D73"/>
                </a:solidFill>
                <a:latin typeface="Consolas" pitchFamily="34" charset="0"/>
                <a:ea typeface="Consolas" pitchFamily="34" charset="-122"/>
                <a:cs typeface="Consolas" pitchFamily="34" charset="-120"/>
              </a:rPr>
              <a:t>-     try: ... finally: pool.release(conn)</a:t>
            </a:r>
            <a:endParaRPr lang="en-US" sz="1200" dirty="0"/>
          </a:p>
          <a:p>
            <a:pPr indent="0" marL="0">
              <a:lnSpc>
                <a:spcPct val="125000"/>
              </a:lnSpc>
              <a:buNone/>
            </a:pPr>
            <a:r>
              <a:rPr lang="en-US" sz="1200" dirty="0">
                <a:solidFill>
                  <a:srgbClr val="3EE59A"/>
                </a:solidFill>
                <a:latin typeface="Consolas" pitchFamily="34" charset="0"/>
                <a:ea typeface="Consolas" pitchFamily="34" charset="-122"/>
                <a:cs typeface="Consolas" pitchFamily="34" charset="-120"/>
              </a:rPr>
              <a:t>+     return error_response()  # leaks conn</a:t>
            </a:r>
            <a:endParaRPr lang="en-US" sz="1200" dirty="0"/>
          </a:p>
        </p:txBody>
      </p:sp>
      <p:sp>
        <p:nvSpPr>
          <p:cNvPr id="11" name="tick"/>
          <p:cNvSpPr/>
          <p:nvPr/>
        </p:nvSpPr>
        <p:spPr>
          <a:xfrm>
            <a:off x="6720840" y="2185416"/>
            <a:ext cx="274320" cy="274320"/>
          </a:xfrm>
          <a:prstGeom prst="roundRect">
            <a:avLst>
              <a:gd name="adj" fmla="val 23333"/>
            </a:avLst>
          </a:prstGeom>
          <a:solidFill>
            <a:srgbClr val="FF5D73">
              <a:alpha val="18000"/>
            </a:srgbClr>
          </a:solidFill>
          <a:ln/>
        </p:spPr>
      </p:sp>
      <p:sp>
        <p:nvSpPr>
          <p:cNvPr id="12" name="Text 10"/>
          <p:cNvSpPr txBox="1"/>
          <p:nvPr/>
        </p:nvSpPr>
        <p:spPr>
          <a:xfrm>
            <a:off x="6720840" y="2185416"/>
            <a:ext cx="274320" cy="274320"/>
          </a:xfrm>
          <a:prstGeom prst="rect">
            <a:avLst/>
          </a:prstGeom>
          <a:noFill/>
          <a:ln/>
        </p:spPr>
        <p:txBody>
          <a:bodyPr wrap="square" lIns="0" tIns="0" rIns="0" bIns="0" rtlCol="0" anchor="ctr"/>
          <a:lstStyle/>
          <a:p>
            <a:pPr algn="ctr" indent="0" marL="0">
              <a:buNone/>
            </a:pPr>
            <a:r>
              <a:rPr lang="en-US" sz="1300" b="1" dirty="0">
                <a:solidFill>
                  <a:srgbClr val="FF5D73"/>
                </a:solidFill>
              </a:rPr>
              <a:t>✕</a:t>
            </a:r>
            <a:endParaRPr lang="en-US" sz="1300" dirty="0"/>
          </a:p>
        </p:txBody>
      </p:sp>
      <p:sp>
        <p:nvSpPr>
          <p:cNvPr id="13" name="Text 11"/>
          <p:cNvSpPr txBox="1"/>
          <p:nvPr/>
        </p:nvSpPr>
        <p:spPr>
          <a:xfrm>
            <a:off x="7159752" y="2148840"/>
            <a:ext cx="4480560" cy="859536"/>
          </a:xfrm>
          <a:prstGeom prst="rect">
            <a:avLst/>
          </a:prstGeom>
          <a:noFill/>
          <a:ln/>
        </p:spPr>
        <p:txBody>
          <a:bodyPr wrap="square" lIns="0" tIns="0" rIns="0" bIns="0" rtlCol="0" anchor="t"/>
          <a:lstStyle/>
          <a:p>
            <a:pPr indent="0" marL="0">
              <a:buNone/>
            </a:pPr>
            <a:r>
              <a:rPr lang="en-US" sz="1500" b="1" dirty="0">
                <a:solidFill>
                  <a:schemeClr val="bg1"/>
                </a:solidFill>
              </a:rPr>
              <a:t>Context is scattered </a:t>
            </a:r>
            <a:pPr indent="0" marL="0">
              <a:buNone/>
            </a:pPr>
            <a:r>
              <a:rPr lang="en-US" sz="1500" dirty="0">
                <a:solidFill>
                  <a:schemeClr val="bg2"/>
                </a:solidFill>
              </a:rPr>
              <a:t>across alerts, logs, metrics, deploys and git history.</a:t>
            </a:r>
            <a:endParaRPr lang="en-US" sz="1500" dirty="0"/>
          </a:p>
        </p:txBody>
      </p:sp>
      <p:sp>
        <p:nvSpPr>
          <p:cNvPr id="14" name="tick"/>
          <p:cNvSpPr/>
          <p:nvPr/>
        </p:nvSpPr>
        <p:spPr>
          <a:xfrm>
            <a:off x="6720840" y="3118104"/>
            <a:ext cx="274320" cy="274320"/>
          </a:xfrm>
          <a:prstGeom prst="roundRect">
            <a:avLst>
              <a:gd name="adj" fmla="val 23333"/>
            </a:avLst>
          </a:prstGeom>
          <a:solidFill>
            <a:srgbClr val="FF5D73">
              <a:alpha val="18000"/>
            </a:srgbClr>
          </a:solidFill>
          <a:ln/>
        </p:spPr>
      </p:sp>
      <p:sp>
        <p:nvSpPr>
          <p:cNvPr id="15" name="Text 13"/>
          <p:cNvSpPr txBox="1"/>
          <p:nvPr/>
        </p:nvSpPr>
        <p:spPr>
          <a:xfrm>
            <a:off x="6720840" y="3118104"/>
            <a:ext cx="274320" cy="274320"/>
          </a:xfrm>
          <a:prstGeom prst="rect">
            <a:avLst/>
          </a:prstGeom>
          <a:noFill/>
          <a:ln/>
        </p:spPr>
        <p:txBody>
          <a:bodyPr wrap="square" lIns="0" tIns="0" rIns="0" bIns="0" rtlCol="0" anchor="ctr"/>
          <a:lstStyle/>
          <a:p>
            <a:pPr algn="ctr" indent="0" marL="0">
              <a:buNone/>
            </a:pPr>
            <a:r>
              <a:rPr lang="en-US" sz="1300" b="1" dirty="0">
                <a:solidFill>
                  <a:srgbClr val="FF5D73"/>
                </a:solidFill>
              </a:rPr>
              <a:t>✕</a:t>
            </a:r>
            <a:endParaRPr lang="en-US" sz="1300" dirty="0"/>
          </a:p>
        </p:txBody>
      </p:sp>
      <p:sp>
        <p:nvSpPr>
          <p:cNvPr id="16" name="Text 14"/>
          <p:cNvSpPr txBox="1"/>
          <p:nvPr/>
        </p:nvSpPr>
        <p:spPr>
          <a:xfrm>
            <a:off x="7159752" y="3081528"/>
            <a:ext cx="4480560" cy="859536"/>
          </a:xfrm>
          <a:prstGeom prst="rect">
            <a:avLst/>
          </a:prstGeom>
          <a:noFill/>
          <a:ln/>
        </p:spPr>
        <p:txBody>
          <a:bodyPr wrap="square" lIns="0" tIns="0" rIns="0" bIns="0" rtlCol="0" anchor="t"/>
          <a:lstStyle/>
          <a:p>
            <a:pPr indent="0" marL="0">
              <a:buNone/>
            </a:pPr>
            <a:r>
              <a:rPr lang="en-US" sz="1500" b="1" dirty="0">
                <a:solidFill>
                  <a:schemeClr val="bg1"/>
                </a:solidFill>
              </a:rPr>
              <a:t>Symptoms shout, causes whisper. </a:t>
            </a:r>
            <a:pPr indent="0" marL="0">
              <a:buNone/>
            </a:pPr>
            <a:r>
              <a:rPr lang="en-US" sz="1500" dirty="0">
                <a:solidFill>
                  <a:schemeClr val="bg2"/>
                </a:solidFill>
              </a:rPr>
              <a:t>The database looks guilty; one early return is.</a:t>
            </a:r>
            <a:endParaRPr lang="en-US" sz="1500" dirty="0"/>
          </a:p>
        </p:txBody>
      </p:sp>
      <p:sp>
        <p:nvSpPr>
          <p:cNvPr id="17" name="tick"/>
          <p:cNvSpPr/>
          <p:nvPr/>
        </p:nvSpPr>
        <p:spPr>
          <a:xfrm>
            <a:off x="6720840" y="4050792"/>
            <a:ext cx="274320" cy="274320"/>
          </a:xfrm>
          <a:prstGeom prst="roundRect">
            <a:avLst>
              <a:gd name="adj" fmla="val 23333"/>
            </a:avLst>
          </a:prstGeom>
          <a:solidFill>
            <a:srgbClr val="FF5D73">
              <a:alpha val="18000"/>
            </a:srgbClr>
          </a:solidFill>
          <a:ln/>
        </p:spPr>
      </p:sp>
      <p:sp>
        <p:nvSpPr>
          <p:cNvPr id="18" name="Text 16"/>
          <p:cNvSpPr txBox="1"/>
          <p:nvPr/>
        </p:nvSpPr>
        <p:spPr>
          <a:xfrm>
            <a:off x="6720840" y="4050792"/>
            <a:ext cx="274320" cy="274320"/>
          </a:xfrm>
          <a:prstGeom prst="rect">
            <a:avLst/>
          </a:prstGeom>
          <a:noFill/>
          <a:ln/>
        </p:spPr>
        <p:txBody>
          <a:bodyPr wrap="square" lIns="0" tIns="0" rIns="0" bIns="0" rtlCol="0" anchor="ctr"/>
          <a:lstStyle/>
          <a:p>
            <a:pPr algn="ctr" indent="0" marL="0">
              <a:buNone/>
            </a:pPr>
            <a:r>
              <a:rPr lang="en-US" sz="1300" b="1" dirty="0">
                <a:solidFill>
                  <a:srgbClr val="FF5D73"/>
                </a:solidFill>
              </a:rPr>
              <a:t>✕</a:t>
            </a:r>
            <a:endParaRPr lang="en-US" sz="1300" dirty="0"/>
          </a:p>
        </p:txBody>
      </p:sp>
      <p:sp>
        <p:nvSpPr>
          <p:cNvPr id="19" name="Text 17"/>
          <p:cNvSpPr txBox="1"/>
          <p:nvPr/>
        </p:nvSpPr>
        <p:spPr>
          <a:xfrm>
            <a:off x="7159752" y="4014216"/>
            <a:ext cx="4480560" cy="859536"/>
          </a:xfrm>
          <a:prstGeom prst="rect">
            <a:avLst/>
          </a:prstGeom>
          <a:noFill/>
          <a:ln/>
        </p:spPr>
        <p:txBody>
          <a:bodyPr wrap="square" lIns="0" tIns="0" rIns="0" bIns="0" rtlCol="0" anchor="t"/>
          <a:lstStyle/>
          <a:p>
            <a:pPr indent="0" marL="0">
              <a:buNone/>
            </a:pPr>
            <a:r>
              <a:rPr lang="en-US" sz="1500" b="1" dirty="0">
                <a:solidFill>
                  <a:schemeClr val="bg1"/>
                </a:solidFill>
              </a:rPr>
              <a:t>Chatbots guess with confidence. </a:t>
            </a:r>
            <a:pPr indent="0" marL="0">
              <a:buNone/>
            </a:pPr>
            <a:r>
              <a:rPr lang="en-US" sz="1500" dirty="0">
                <a:solidFill>
                  <a:schemeClr val="bg2"/>
                </a:solidFill>
              </a:rPr>
              <a:t>In our test only 25% of a chatbot's quoted evidence existed.</a:t>
            </a:r>
            <a:endParaRPr lang="en-US" sz="1500" dirty="0"/>
          </a:p>
        </p:txBody>
      </p:sp>
      <p:sp>
        <p:nvSpPr>
          <p:cNvPr id="20" name="tick"/>
          <p:cNvSpPr/>
          <p:nvPr/>
        </p:nvSpPr>
        <p:spPr>
          <a:xfrm>
            <a:off x="6720840" y="4983480"/>
            <a:ext cx="274320" cy="274320"/>
          </a:xfrm>
          <a:prstGeom prst="roundRect">
            <a:avLst>
              <a:gd name="adj" fmla="val 23333"/>
            </a:avLst>
          </a:prstGeom>
          <a:solidFill>
            <a:srgbClr val="FF5D73">
              <a:alpha val="18000"/>
            </a:srgbClr>
          </a:solidFill>
          <a:ln/>
        </p:spPr>
      </p:sp>
      <p:sp>
        <p:nvSpPr>
          <p:cNvPr id="21" name="Text 19"/>
          <p:cNvSpPr txBox="1"/>
          <p:nvPr/>
        </p:nvSpPr>
        <p:spPr>
          <a:xfrm>
            <a:off x="6720840" y="4983480"/>
            <a:ext cx="274320" cy="274320"/>
          </a:xfrm>
          <a:prstGeom prst="rect">
            <a:avLst/>
          </a:prstGeom>
          <a:noFill/>
          <a:ln/>
        </p:spPr>
        <p:txBody>
          <a:bodyPr wrap="square" lIns="0" tIns="0" rIns="0" bIns="0" rtlCol="0" anchor="ctr"/>
          <a:lstStyle/>
          <a:p>
            <a:pPr algn="ctr" indent="0" marL="0">
              <a:buNone/>
            </a:pPr>
            <a:r>
              <a:rPr lang="en-US" sz="1300" b="1" dirty="0">
                <a:solidFill>
                  <a:srgbClr val="FF5D73"/>
                </a:solidFill>
              </a:rPr>
              <a:t>✕</a:t>
            </a:r>
            <a:endParaRPr lang="en-US" sz="1300" dirty="0"/>
          </a:p>
        </p:txBody>
      </p:sp>
      <p:sp>
        <p:nvSpPr>
          <p:cNvPr id="22" name="Text 20"/>
          <p:cNvSpPr txBox="1"/>
          <p:nvPr/>
        </p:nvSpPr>
        <p:spPr>
          <a:xfrm>
            <a:off x="7159752" y="4946904"/>
            <a:ext cx="4480560" cy="859536"/>
          </a:xfrm>
          <a:prstGeom prst="rect">
            <a:avLst/>
          </a:prstGeom>
          <a:noFill/>
          <a:ln/>
        </p:spPr>
        <p:txBody>
          <a:bodyPr wrap="square" lIns="0" tIns="0" rIns="0" bIns="0" rtlCol="0" anchor="t"/>
          <a:lstStyle/>
          <a:p>
            <a:pPr indent="0" marL="0">
              <a:buNone/>
            </a:pPr>
            <a:r>
              <a:rPr lang="en-US" sz="1500" b="1" dirty="0">
                <a:solidFill>
                  <a:schemeClr val="bg1"/>
                </a:solidFill>
              </a:rPr>
              <a:t>Nobody trusts an AI pushing to prod </a:t>
            </a:r>
            <a:pPr indent="0" marL="0">
              <a:buNone/>
            </a:pPr>
            <a:r>
              <a:rPr lang="en-US" sz="1500" dirty="0">
                <a:solidFill>
                  <a:schemeClr val="bg2"/>
                </a:solidFill>
              </a:rPr>
              <a:t>without rules, tests and a person in charge.</a:t>
            </a:r>
            <a:endParaRPr lang="en-US" sz="15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THE GAP IN THE MARKET</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Tools tell you something broke. Nobody proves why and fixes it safely</a:t>
            </a:r>
            <a:endParaRPr lang="en-US" sz="3600" dirty="0"/>
          </a:p>
        </p:txBody>
      </p:sp>
      <p:sp>
        <p:nvSpPr>
          <p:cNvPr id="4" name="card"/>
          <p:cNvSpPr/>
          <p:nvPr/>
        </p:nvSpPr>
        <p:spPr>
          <a:xfrm>
            <a:off x="548640" y="2240280"/>
            <a:ext cx="2615184" cy="2926080"/>
          </a:xfrm>
          <a:prstGeom prst="roundRect">
            <a:avLst>
              <a:gd name="adj" fmla="val 5594"/>
            </a:avLst>
          </a:prstGeom>
          <a:solidFill>
            <a:srgbClr val="15142A">
              <a:alpha val="75000"/>
            </a:srgbClr>
          </a:solidFill>
          <a:ln w="12700">
            <a:solidFill>
              <a:srgbClr val="2C2B45"/>
            </a:solidFill>
            <a:prstDash val="solid"/>
          </a:ln>
        </p:spPr>
      </p:sp>
      <p:sp>
        <p:nvSpPr>
          <p:cNvPr id="5" name="icon tile"/>
          <p:cNvSpPr/>
          <p:nvPr/>
        </p:nvSpPr>
        <p:spPr>
          <a:xfrm>
            <a:off x="822960" y="2532888"/>
            <a:ext cx="512064" cy="512064"/>
          </a:xfrm>
          <a:prstGeom prst="roundRect">
            <a:avLst>
              <a:gd name="adj" fmla="val 21429"/>
            </a:avLst>
          </a:prstGeom>
          <a:solidFill>
            <a:srgbClr val="A9A7C8">
              <a:alpha val="18000"/>
            </a:srgbClr>
          </a:solidFill>
          <a:ln w="9525">
            <a:solidFill>
              <a:srgbClr val="A9A7C8">
                <a:alpha val="45000"/>
              </a:srgbClr>
            </a:solidFill>
            <a:prstDash val="solid"/>
          </a:ln>
        </p:spPr>
      </p:sp>
      <p:pic>
        <p:nvPicPr>
          <p:cNvPr id="6" name="Image 0" descr="Activity icon">    </p:cNvPr>
          <p:cNvPicPr>
            <a:picLocks noChangeAspect="1"/>
          </p:cNvPicPr>
          <p:nvPr/>
        </p:nvPicPr>
        <p:blipFill>
          <a:blip r:embed="rId1"/>
          <a:stretch>
            <a:fillRect/>
          </a:stretch>
        </p:blipFill>
        <p:spPr>
          <a:xfrm>
            <a:off x="935614" y="2645542"/>
            <a:ext cx="286756" cy="286756"/>
          </a:xfrm>
          <a:prstGeom prst="rect">
            <a:avLst/>
          </a:prstGeom>
        </p:spPr>
      </p:pic>
      <p:sp>
        <p:nvSpPr>
          <p:cNvPr id="7" name="Text 4"/>
          <p:cNvSpPr txBox="1"/>
          <p:nvPr/>
        </p:nvSpPr>
        <p:spPr>
          <a:xfrm>
            <a:off x="822960" y="3246120"/>
            <a:ext cx="2066544" cy="411480"/>
          </a:xfrm>
          <a:prstGeom prst="rect">
            <a:avLst/>
          </a:prstGeom>
          <a:noFill/>
          <a:ln/>
        </p:spPr>
        <p:txBody>
          <a:bodyPr wrap="square" lIns="0" tIns="0" rIns="0" bIns="0" rtlCol="0" anchor="t"/>
          <a:lstStyle/>
          <a:p>
            <a:pPr indent="0" marL="0">
              <a:buNone/>
            </a:pPr>
            <a:r>
              <a:rPr lang="en-US" sz="2100" b="1" dirty="0">
                <a:solidFill>
                  <a:schemeClr val="bg1"/>
                </a:solidFill>
              </a:rPr>
              <a:t>Monitoring</a:t>
            </a:r>
            <a:endParaRPr lang="en-US" sz="2100" dirty="0"/>
          </a:p>
        </p:txBody>
      </p:sp>
      <p:sp>
        <p:nvSpPr>
          <p:cNvPr id="8" name="Text 5"/>
          <p:cNvSpPr txBox="1"/>
          <p:nvPr/>
        </p:nvSpPr>
        <p:spPr>
          <a:xfrm>
            <a:off x="822960" y="3703320"/>
            <a:ext cx="2066544" cy="1280160"/>
          </a:xfrm>
          <a:prstGeom prst="rect">
            <a:avLst/>
          </a:prstGeom>
          <a:noFill/>
          <a:ln/>
        </p:spPr>
        <p:txBody>
          <a:bodyPr wrap="square" lIns="0" tIns="0" rIns="0" bIns="0" rtlCol="0" anchor="t"/>
          <a:lstStyle/>
          <a:p>
            <a:pPr indent="0" marL="0">
              <a:buNone/>
            </a:pPr>
            <a:r>
              <a:rPr lang="en-US" sz="1500" dirty="0">
                <a:solidFill>
                  <a:schemeClr val="bg2"/>
                </a:solidFill>
              </a:rPr>
              <a:t>Prometheus, Grafana: detects the symptom. Stops there.</a:t>
            </a:r>
            <a:endParaRPr lang="en-US" sz="1500" dirty="0"/>
          </a:p>
        </p:txBody>
      </p:sp>
      <p:sp>
        <p:nvSpPr>
          <p:cNvPr id="9" name="card"/>
          <p:cNvSpPr/>
          <p:nvPr/>
        </p:nvSpPr>
        <p:spPr>
          <a:xfrm>
            <a:off x="3392424" y="2240280"/>
            <a:ext cx="2615184" cy="2926080"/>
          </a:xfrm>
          <a:prstGeom prst="roundRect">
            <a:avLst>
              <a:gd name="adj" fmla="val 5594"/>
            </a:avLst>
          </a:prstGeom>
          <a:solidFill>
            <a:srgbClr val="15142A">
              <a:alpha val="75000"/>
            </a:srgbClr>
          </a:solidFill>
          <a:ln w="12700">
            <a:solidFill>
              <a:srgbClr val="2C2B45"/>
            </a:solidFill>
            <a:prstDash val="solid"/>
          </a:ln>
        </p:spPr>
      </p:sp>
      <p:sp>
        <p:nvSpPr>
          <p:cNvPr id="10" name="icon tile"/>
          <p:cNvSpPr/>
          <p:nvPr/>
        </p:nvSpPr>
        <p:spPr>
          <a:xfrm>
            <a:off x="3666744" y="2532888"/>
            <a:ext cx="512064" cy="512064"/>
          </a:xfrm>
          <a:prstGeom prst="roundRect">
            <a:avLst>
              <a:gd name="adj" fmla="val 21429"/>
            </a:avLst>
          </a:prstGeom>
          <a:solidFill>
            <a:srgbClr val="A9A7C8">
              <a:alpha val="18000"/>
            </a:srgbClr>
          </a:solidFill>
          <a:ln w="9525">
            <a:solidFill>
              <a:srgbClr val="A9A7C8">
                <a:alpha val="45000"/>
              </a:srgbClr>
            </a:solidFill>
            <a:prstDash val="solid"/>
          </a:ln>
        </p:spPr>
      </p:sp>
      <p:pic>
        <p:nvPicPr>
          <p:cNvPr id="11" name="Image 1" descr="Clipboard icon">    </p:cNvPr>
          <p:cNvPicPr>
            <a:picLocks noChangeAspect="1"/>
          </p:cNvPicPr>
          <p:nvPr/>
        </p:nvPicPr>
        <p:blipFill>
          <a:blip r:embed="rId2"/>
          <a:stretch>
            <a:fillRect/>
          </a:stretch>
        </p:blipFill>
        <p:spPr>
          <a:xfrm>
            <a:off x="3779398" y="2645542"/>
            <a:ext cx="286756" cy="286756"/>
          </a:xfrm>
          <a:prstGeom prst="rect">
            <a:avLst/>
          </a:prstGeom>
        </p:spPr>
      </p:pic>
      <p:sp>
        <p:nvSpPr>
          <p:cNvPr id="12" name="Text 8"/>
          <p:cNvSpPr txBox="1"/>
          <p:nvPr/>
        </p:nvSpPr>
        <p:spPr>
          <a:xfrm>
            <a:off x="3666744" y="3246120"/>
            <a:ext cx="2066544" cy="411480"/>
          </a:xfrm>
          <a:prstGeom prst="rect">
            <a:avLst/>
          </a:prstGeom>
          <a:noFill/>
          <a:ln/>
        </p:spPr>
        <p:txBody>
          <a:bodyPr wrap="square" lIns="0" tIns="0" rIns="0" bIns="0" rtlCol="0" anchor="t"/>
          <a:lstStyle/>
          <a:p>
            <a:pPr indent="0" marL="0">
              <a:buNone/>
            </a:pPr>
            <a:r>
              <a:rPr lang="en-US" sz="2100" b="1" dirty="0">
                <a:solidFill>
                  <a:schemeClr val="bg1"/>
                </a:solidFill>
              </a:rPr>
              <a:t>Ticketing</a:t>
            </a:r>
            <a:endParaRPr lang="en-US" sz="2100" dirty="0"/>
          </a:p>
        </p:txBody>
      </p:sp>
      <p:sp>
        <p:nvSpPr>
          <p:cNvPr id="13" name="Text 9"/>
          <p:cNvSpPr txBox="1"/>
          <p:nvPr/>
        </p:nvSpPr>
        <p:spPr>
          <a:xfrm>
            <a:off x="3666744" y="3703320"/>
            <a:ext cx="2066544" cy="1280160"/>
          </a:xfrm>
          <a:prstGeom prst="rect">
            <a:avLst/>
          </a:prstGeom>
          <a:noFill/>
          <a:ln/>
        </p:spPr>
        <p:txBody>
          <a:bodyPr wrap="square" lIns="0" tIns="0" rIns="0" bIns="0" rtlCol="0" anchor="t"/>
          <a:lstStyle/>
          <a:p>
            <a:pPr indent="0" marL="0">
              <a:buNone/>
            </a:pPr>
            <a:r>
              <a:rPr lang="en-US" sz="1500" dirty="0">
                <a:solidFill>
                  <a:schemeClr val="bg2"/>
                </a:solidFill>
              </a:rPr>
              <a:t>Jira, PagerDuty: tracks who is working on it. Doesn't investigate.</a:t>
            </a:r>
            <a:endParaRPr lang="en-US" sz="1500" dirty="0"/>
          </a:p>
        </p:txBody>
      </p:sp>
      <p:sp>
        <p:nvSpPr>
          <p:cNvPr id="14" name="card"/>
          <p:cNvSpPr/>
          <p:nvPr/>
        </p:nvSpPr>
        <p:spPr>
          <a:xfrm>
            <a:off x="6236208" y="2240280"/>
            <a:ext cx="2615184" cy="2926080"/>
          </a:xfrm>
          <a:prstGeom prst="roundRect">
            <a:avLst>
              <a:gd name="adj" fmla="val 5594"/>
            </a:avLst>
          </a:prstGeom>
          <a:solidFill>
            <a:srgbClr val="15142A">
              <a:alpha val="75000"/>
            </a:srgbClr>
          </a:solidFill>
          <a:ln w="12700">
            <a:solidFill>
              <a:srgbClr val="2C2B45"/>
            </a:solidFill>
            <a:prstDash val="solid"/>
          </a:ln>
        </p:spPr>
      </p:sp>
      <p:sp>
        <p:nvSpPr>
          <p:cNvPr id="15" name="icon tile"/>
          <p:cNvSpPr/>
          <p:nvPr/>
        </p:nvSpPr>
        <p:spPr>
          <a:xfrm>
            <a:off x="6510528" y="2532888"/>
            <a:ext cx="512064" cy="512064"/>
          </a:xfrm>
          <a:prstGeom prst="roundRect">
            <a:avLst>
              <a:gd name="adj" fmla="val 21429"/>
            </a:avLst>
          </a:prstGeom>
          <a:solidFill>
            <a:srgbClr val="A9A7C8">
              <a:alpha val="18000"/>
            </a:srgbClr>
          </a:solidFill>
          <a:ln w="9525">
            <a:solidFill>
              <a:srgbClr val="A9A7C8">
                <a:alpha val="45000"/>
              </a:srgbClr>
            </a:solidFill>
            <a:prstDash val="solid"/>
          </a:ln>
        </p:spPr>
      </p:sp>
      <p:pic>
        <p:nvPicPr>
          <p:cNvPr id="16" name="Image 2" descr="MessageCircle icon">    </p:cNvPr>
          <p:cNvPicPr>
            <a:picLocks noChangeAspect="1"/>
          </p:cNvPicPr>
          <p:nvPr/>
        </p:nvPicPr>
        <p:blipFill>
          <a:blip r:embed="rId3"/>
          <a:stretch>
            <a:fillRect/>
          </a:stretch>
        </p:blipFill>
        <p:spPr>
          <a:xfrm>
            <a:off x="6623182" y="2645542"/>
            <a:ext cx="286756" cy="286756"/>
          </a:xfrm>
          <a:prstGeom prst="rect">
            <a:avLst/>
          </a:prstGeom>
        </p:spPr>
      </p:pic>
      <p:sp>
        <p:nvSpPr>
          <p:cNvPr id="17" name="Text 12"/>
          <p:cNvSpPr txBox="1"/>
          <p:nvPr/>
        </p:nvSpPr>
        <p:spPr>
          <a:xfrm>
            <a:off x="6510528" y="3246120"/>
            <a:ext cx="2066544" cy="411480"/>
          </a:xfrm>
          <a:prstGeom prst="rect">
            <a:avLst/>
          </a:prstGeom>
          <a:noFill/>
          <a:ln/>
        </p:spPr>
        <p:txBody>
          <a:bodyPr wrap="square" lIns="0" tIns="0" rIns="0" bIns="0" rtlCol="0" anchor="t"/>
          <a:lstStyle/>
          <a:p>
            <a:pPr indent="0" marL="0">
              <a:buNone/>
            </a:pPr>
            <a:r>
              <a:rPr lang="en-US" sz="2100" b="1" dirty="0">
                <a:solidFill>
                  <a:schemeClr val="bg1"/>
                </a:solidFill>
              </a:rPr>
              <a:t>AI chatbots</a:t>
            </a:r>
            <a:endParaRPr lang="en-US" sz="2100" dirty="0"/>
          </a:p>
        </p:txBody>
      </p:sp>
      <p:sp>
        <p:nvSpPr>
          <p:cNvPr id="18" name="Text 13"/>
          <p:cNvSpPr txBox="1"/>
          <p:nvPr/>
        </p:nvSpPr>
        <p:spPr>
          <a:xfrm>
            <a:off x="6510528" y="3703320"/>
            <a:ext cx="2066544" cy="1280160"/>
          </a:xfrm>
          <a:prstGeom prst="rect">
            <a:avLst/>
          </a:prstGeom>
          <a:noFill/>
          <a:ln/>
        </p:spPr>
        <p:txBody>
          <a:bodyPr wrap="square" lIns="0" tIns="0" rIns="0" bIns="0" rtlCol="0" anchor="t"/>
          <a:lstStyle/>
          <a:p>
            <a:pPr indent="0" marL="0">
              <a:buNone/>
            </a:pPr>
            <a:r>
              <a:rPr lang="en-US" sz="1500" dirty="0">
                <a:solidFill>
                  <a:schemeClr val="bg2"/>
                </a:solidFill>
              </a:rPr>
              <a:t>Guesses from a pasted log tail. No tools, no proof, no tests.</a:t>
            </a:r>
            <a:endParaRPr lang="en-US" sz="1500" dirty="0"/>
          </a:p>
        </p:txBody>
      </p:sp>
      <p:sp>
        <p:nvSpPr>
          <p:cNvPr id="19" name="card"/>
          <p:cNvSpPr/>
          <p:nvPr/>
        </p:nvSpPr>
        <p:spPr>
          <a:xfrm>
            <a:off x="9079992" y="2240280"/>
            <a:ext cx="2615184" cy="2926080"/>
          </a:xfrm>
          <a:prstGeom prst="roundRect">
            <a:avLst>
              <a:gd name="adj" fmla="val 5594"/>
            </a:avLst>
          </a:prstGeom>
          <a:solidFill>
            <a:srgbClr val="2A2260">
              <a:alpha val="85000"/>
            </a:srgbClr>
          </a:solidFill>
          <a:ln w="12700">
            <a:solidFill>
              <a:srgbClr val="8B7CFF"/>
            </a:solidFill>
            <a:prstDash val="solid"/>
          </a:ln>
        </p:spPr>
      </p:sp>
      <p:sp>
        <p:nvSpPr>
          <p:cNvPr id="20" name="icon tile"/>
          <p:cNvSpPr/>
          <p:nvPr/>
        </p:nvSpPr>
        <p:spPr>
          <a:xfrm>
            <a:off x="9354312" y="2532888"/>
            <a:ext cx="512064" cy="512064"/>
          </a:xfrm>
          <a:prstGeom prst="roundRect">
            <a:avLst>
              <a:gd name="adj" fmla="val 21429"/>
            </a:avLst>
          </a:prstGeom>
          <a:solidFill>
            <a:srgbClr val="8B7CFF">
              <a:alpha val="18000"/>
            </a:srgbClr>
          </a:solidFill>
          <a:ln w="9525">
            <a:solidFill>
              <a:srgbClr val="8B7CFF">
                <a:alpha val="45000"/>
              </a:srgbClr>
            </a:solidFill>
            <a:prstDash val="solid"/>
          </a:ln>
        </p:spPr>
      </p:sp>
      <p:pic>
        <p:nvPicPr>
          <p:cNvPr id="21" name="Image 3" descr="Eye icon">    </p:cNvPr>
          <p:cNvPicPr>
            <a:picLocks noChangeAspect="1"/>
          </p:cNvPicPr>
          <p:nvPr/>
        </p:nvPicPr>
        <p:blipFill>
          <a:blip r:embed="rId4"/>
          <a:stretch>
            <a:fillRect/>
          </a:stretch>
        </p:blipFill>
        <p:spPr>
          <a:xfrm>
            <a:off x="9466966" y="2645542"/>
            <a:ext cx="286756" cy="286756"/>
          </a:xfrm>
          <a:prstGeom prst="rect">
            <a:avLst/>
          </a:prstGeom>
        </p:spPr>
      </p:pic>
      <p:sp>
        <p:nvSpPr>
          <p:cNvPr id="22" name="Text 16"/>
          <p:cNvSpPr txBox="1"/>
          <p:nvPr/>
        </p:nvSpPr>
        <p:spPr>
          <a:xfrm>
            <a:off x="9354312" y="3246120"/>
            <a:ext cx="2066544" cy="411480"/>
          </a:xfrm>
          <a:prstGeom prst="rect">
            <a:avLst/>
          </a:prstGeom>
          <a:noFill/>
          <a:ln/>
        </p:spPr>
        <p:txBody>
          <a:bodyPr wrap="square" lIns="0" tIns="0" rIns="0" bIns="0" rtlCol="0" anchor="t"/>
          <a:lstStyle/>
          <a:p>
            <a:pPr indent="0" marL="0">
              <a:buNone/>
            </a:pPr>
            <a:r>
              <a:rPr lang="en-US" sz="2100" b="1" dirty="0">
                <a:solidFill>
                  <a:schemeClr val="accent1"/>
                </a:solidFill>
              </a:rPr>
              <a:t>Argus</a:t>
            </a:r>
            <a:endParaRPr lang="en-US" sz="2100" dirty="0"/>
          </a:p>
        </p:txBody>
      </p:sp>
      <p:sp>
        <p:nvSpPr>
          <p:cNvPr id="23" name="Text 17"/>
          <p:cNvSpPr txBox="1"/>
          <p:nvPr/>
        </p:nvSpPr>
        <p:spPr>
          <a:xfrm>
            <a:off x="9354312" y="3703320"/>
            <a:ext cx="2066544" cy="1280160"/>
          </a:xfrm>
          <a:prstGeom prst="rect">
            <a:avLst/>
          </a:prstGeom>
          <a:noFill/>
          <a:ln/>
        </p:spPr>
        <p:txBody>
          <a:bodyPr wrap="square" lIns="0" tIns="0" rIns="0" bIns="0" rtlCol="0" anchor="t"/>
          <a:lstStyle/>
          <a:p>
            <a:pPr indent="0" marL="0">
              <a:buNone/>
            </a:pPr>
            <a:r>
              <a:rPr lang="en-US" sz="1500" dirty="0">
                <a:solidFill>
                  <a:schemeClr val="bg1"/>
                </a:solidFill>
              </a:rPr>
              <a:t>Investigates, proves, tests, asks a person, deploys and reports. End to end.</a:t>
            </a:r>
            <a:endParaRPr lang="en-US" sz="15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ring"/>
          <p:cNvSpPr/>
          <p:nvPr/>
        </p:nvSpPr>
        <p:spPr>
          <a:xfrm>
            <a:off x="3169768" y="502920"/>
            <a:ext cx="5852160" cy="5852160"/>
          </a:xfrm>
          <a:prstGeom prst="ellipse">
            <a:avLst/>
          </a:prstGeom>
          <a:ln w="12700">
            <a:solidFill>
              <a:srgbClr val="8B7CFF">
                <a:alpha val="20000"/>
              </a:srgbClr>
            </a:solidFill>
            <a:prstDash val="solid"/>
          </a:ln>
        </p:spPr>
      </p:sp>
      <p:sp>
        <p:nvSpPr>
          <p:cNvPr id="3" name="ring"/>
          <p:cNvSpPr/>
          <p:nvPr/>
        </p:nvSpPr>
        <p:spPr>
          <a:xfrm>
            <a:off x="3992728" y="1325880"/>
            <a:ext cx="4206240" cy="4206240"/>
          </a:xfrm>
          <a:prstGeom prst="ellipse">
            <a:avLst/>
          </a:prstGeom>
          <a:ln w="12700">
            <a:solidFill>
              <a:srgbClr val="46D3F5">
                <a:alpha val="15000"/>
              </a:srgbClr>
            </a:solidFill>
            <a:prstDash val="solid"/>
          </a:ln>
        </p:spPr>
      </p:sp>
      <p:sp>
        <p:nvSpPr>
          <p:cNvPr id="4" name="orbit dot"/>
          <p:cNvSpPr/>
          <p:nvPr/>
        </p:nvSpPr>
        <p:spPr>
          <a:xfrm>
            <a:off x="6022696" y="429768"/>
            <a:ext cx="146304" cy="146304"/>
          </a:xfrm>
          <a:prstGeom prst="ellipse">
            <a:avLst/>
          </a:prstGeom>
          <a:solidFill>
            <a:srgbClr val="46D3F5"/>
          </a:solidFill>
          <a:ln/>
        </p:spPr>
      </p:sp>
      <p:pic>
        <p:nvPicPr>
          <p:cNvPr id="5" name="Image 0" descr="Argus logo">    </p:cNvPr>
          <p:cNvPicPr>
            <a:picLocks noChangeAspect="1"/>
          </p:cNvPicPr>
          <p:nvPr/>
        </p:nvPicPr>
        <p:blipFill>
          <a:blip r:embed="rId1"/>
          <a:stretch>
            <a:fillRect/>
          </a:stretch>
        </p:blipFill>
        <p:spPr>
          <a:xfrm>
            <a:off x="5547208" y="1325880"/>
            <a:ext cx="1097280" cy="1097280"/>
          </a:xfrm>
          <a:prstGeom prst="rect">
            <a:avLst/>
          </a:prstGeom>
        </p:spPr>
      </p:pic>
      <p:sp>
        <p:nvSpPr>
          <p:cNvPr id="6" name="Text 3"/>
          <p:cNvSpPr txBox="1"/>
          <p:nvPr/>
        </p:nvSpPr>
        <p:spPr>
          <a:xfrm>
            <a:off x="0" y="2560320"/>
            <a:ext cx="12191695" cy="1554480"/>
          </a:xfrm>
          <a:prstGeom prst="rect">
            <a:avLst/>
          </a:prstGeom>
          <a:noFill/>
          <a:ln/>
        </p:spPr>
        <p:txBody>
          <a:bodyPr wrap="square" lIns="0" tIns="0" rIns="0" bIns="0" rtlCol="0" anchor="ctr"/>
          <a:lstStyle/>
          <a:p>
            <a:pPr algn="ctr" indent="0" marL="0">
              <a:buNone/>
            </a:pPr>
            <a:r>
              <a:rPr lang="en-US" sz="11000" b="1" dirty="0">
                <a:solidFill>
                  <a:schemeClr val="bg1"/>
                </a:solidFill>
              </a:rPr>
              <a:t>Meet </a:t>
            </a:r>
            <a:pPr algn="ctr" indent="0" marL="0">
              <a:buNone/>
            </a:pPr>
            <a:r>
              <a:rPr lang="en-US" sz="11000" b="1" dirty="0">
                <a:solidFill>
                  <a:schemeClr val="accent1"/>
                </a:solidFill>
              </a:rPr>
              <a:t>Argus</a:t>
            </a:r>
            <a:endParaRPr lang="en-US" sz="11000" dirty="0"/>
          </a:p>
        </p:txBody>
      </p:sp>
      <p:sp>
        <p:nvSpPr>
          <p:cNvPr id="7" name="Text 4"/>
          <p:cNvSpPr txBox="1"/>
          <p:nvPr/>
        </p:nvSpPr>
        <p:spPr>
          <a:xfrm>
            <a:off x="914400" y="4343400"/>
            <a:ext cx="10362895" cy="548640"/>
          </a:xfrm>
          <a:prstGeom prst="rect">
            <a:avLst/>
          </a:prstGeom>
          <a:noFill/>
          <a:ln/>
        </p:spPr>
        <p:txBody>
          <a:bodyPr wrap="square" lIns="0" tIns="0" rIns="0" bIns="0" rtlCol="0" anchor="t"/>
          <a:lstStyle/>
          <a:p>
            <a:pPr algn="ctr" indent="0" marL="0">
              <a:buNone/>
            </a:pPr>
            <a:r>
              <a:rPr lang="en-US" sz="2200" dirty="0">
                <a:solidFill>
                  <a:schemeClr val="bg2"/>
                </a:solidFill>
              </a:rPr>
              <a:t>The hundred-eyed watchman of Greek myth, now watching your production systems.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THE SOLUTION</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An alert goes in. A proven, approved fix comes out</a:t>
            </a:r>
            <a:endParaRPr lang="en-US" sz="3600" dirty="0"/>
          </a:p>
        </p:txBody>
      </p:sp>
      <p:sp>
        <p:nvSpPr>
          <p:cNvPr id="4" name="flow arrow"/>
          <p:cNvSpPr/>
          <p:nvPr/>
        </p:nvSpPr>
        <p:spPr>
          <a:xfrm>
            <a:off x="1752382" y="2377440"/>
            <a:ext cx="761565" cy="0"/>
          </a:xfrm>
          <a:prstGeom prst="line">
            <a:avLst/>
          </a:prstGeom>
          <a:noFill/>
          <a:ln w="19050">
            <a:solidFill>
              <a:srgbClr val="8B7CFF">
                <a:alpha val="70000"/>
              </a:srgbClr>
            </a:solidFill>
            <a:prstDash val="solid"/>
            <a:tailEnd type="triangle"/>
          </a:ln>
        </p:spPr>
      </p:sp>
      <p:sp>
        <p:nvSpPr>
          <p:cNvPr id="5" name="flow arrow"/>
          <p:cNvSpPr/>
          <p:nvPr/>
        </p:nvSpPr>
        <p:spPr>
          <a:xfrm>
            <a:off x="3336907" y="2377440"/>
            <a:ext cx="761565" cy="0"/>
          </a:xfrm>
          <a:prstGeom prst="line">
            <a:avLst/>
          </a:prstGeom>
          <a:noFill/>
          <a:ln w="19050">
            <a:solidFill>
              <a:srgbClr val="8B7CFF">
                <a:alpha val="70000"/>
              </a:srgbClr>
            </a:solidFill>
            <a:prstDash val="solid"/>
            <a:tailEnd type="triangle"/>
          </a:ln>
        </p:spPr>
      </p:sp>
      <p:sp>
        <p:nvSpPr>
          <p:cNvPr id="6" name="flow arrow"/>
          <p:cNvSpPr/>
          <p:nvPr/>
        </p:nvSpPr>
        <p:spPr>
          <a:xfrm>
            <a:off x="4921431" y="2377440"/>
            <a:ext cx="761565" cy="0"/>
          </a:xfrm>
          <a:prstGeom prst="line">
            <a:avLst/>
          </a:prstGeom>
          <a:noFill/>
          <a:ln w="19050">
            <a:solidFill>
              <a:srgbClr val="8B7CFF">
                <a:alpha val="70000"/>
              </a:srgbClr>
            </a:solidFill>
            <a:prstDash val="solid"/>
            <a:tailEnd type="triangle"/>
          </a:ln>
        </p:spPr>
      </p:sp>
      <p:sp>
        <p:nvSpPr>
          <p:cNvPr id="7" name="flow arrow"/>
          <p:cNvSpPr/>
          <p:nvPr/>
        </p:nvSpPr>
        <p:spPr>
          <a:xfrm>
            <a:off x="6505956" y="2377440"/>
            <a:ext cx="761565" cy="0"/>
          </a:xfrm>
          <a:prstGeom prst="line">
            <a:avLst/>
          </a:prstGeom>
          <a:noFill/>
          <a:ln w="19050">
            <a:solidFill>
              <a:srgbClr val="8B7CFF">
                <a:alpha val="70000"/>
              </a:srgbClr>
            </a:solidFill>
            <a:prstDash val="solid"/>
            <a:tailEnd type="triangle"/>
          </a:ln>
        </p:spPr>
      </p:sp>
      <p:sp>
        <p:nvSpPr>
          <p:cNvPr id="8" name="flow arrow"/>
          <p:cNvSpPr/>
          <p:nvPr/>
        </p:nvSpPr>
        <p:spPr>
          <a:xfrm>
            <a:off x="8090481" y="2377440"/>
            <a:ext cx="761565" cy="0"/>
          </a:xfrm>
          <a:prstGeom prst="line">
            <a:avLst/>
          </a:prstGeom>
          <a:noFill/>
          <a:ln w="19050">
            <a:solidFill>
              <a:srgbClr val="8B7CFF">
                <a:alpha val="70000"/>
              </a:srgbClr>
            </a:solidFill>
            <a:prstDash val="solid"/>
            <a:tailEnd type="triangle"/>
          </a:ln>
        </p:spPr>
      </p:sp>
      <p:sp>
        <p:nvSpPr>
          <p:cNvPr id="9" name="flow arrow"/>
          <p:cNvSpPr/>
          <p:nvPr/>
        </p:nvSpPr>
        <p:spPr>
          <a:xfrm>
            <a:off x="9675005" y="2377440"/>
            <a:ext cx="761565" cy="0"/>
          </a:xfrm>
          <a:prstGeom prst="line">
            <a:avLst/>
          </a:prstGeom>
          <a:noFill/>
          <a:ln w="19050">
            <a:solidFill>
              <a:srgbClr val="8B7CFF">
                <a:alpha val="70000"/>
              </a:srgbClr>
            </a:solidFill>
            <a:prstDash val="solid"/>
            <a:tailEnd type="triangle"/>
          </a:ln>
        </p:spPr>
      </p:sp>
      <p:sp>
        <p:nvSpPr>
          <p:cNvPr id="10" name="icon tile"/>
          <p:cNvSpPr/>
          <p:nvPr/>
        </p:nvSpPr>
        <p:spPr>
          <a:xfrm>
            <a:off x="975142" y="2011680"/>
            <a:ext cx="731520" cy="731520"/>
          </a:xfrm>
          <a:prstGeom prst="roundRect">
            <a:avLst>
              <a:gd name="adj" fmla="val 15000"/>
            </a:avLst>
          </a:prstGeom>
          <a:solidFill>
            <a:srgbClr val="FFB547">
              <a:alpha val="18000"/>
            </a:srgbClr>
          </a:solidFill>
          <a:ln w="9525">
            <a:solidFill>
              <a:srgbClr val="FFB547">
                <a:alpha val="45000"/>
              </a:srgbClr>
            </a:solidFill>
            <a:prstDash val="solid"/>
          </a:ln>
        </p:spPr>
      </p:sp>
      <p:pic>
        <p:nvPicPr>
          <p:cNvPr id="11" name="Image 0" descr="AlertTriangle icon">    </p:cNvPr>
          <p:cNvPicPr>
            <a:picLocks noChangeAspect="1"/>
          </p:cNvPicPr>
          <p:nvPr/>
        </p:nvPicPr>
        <p:blipFill>
          <a:blip r:embed="rId1"/>
          <a:stretch>
            <a:fillRect/>
          </a:stretch>
        </p:blipFill>
        <p:spPr>
          <a:xfrm>
            <a:off x="1136077" y="2172614"/>
            <a:ext cx="409651" cy="409651"/>
          </a:xfrm>
          <a:prstGeom prst="rect">
            <a:avLst/>
          </a:prstGeom>
        </p:spPr>
      </p:pic>
      <p:sp>
        <p:nvSpPr>
          <p:cNvPr id="12" name="Text 9"/>
          <p:cNvSpPr txBox="1"/>
          <p:nvPr/>
        </p:nvSpPr>
        <p:spPr>
          <a:xfrm>
            <a:off x="594360" y="2880360"/>
            <a:ext cx="1493085" cy="320040"/>
          </a:xfrm>
          <a:prstGeom prst="rect">
            <a:avLst/>
          </a:prstGeom>
          <a:noFill/>
          <a:ln/>
        </p:spPr>
        <p:txBody>
          <a:bodyPr wrap="square" lIns="0" tIns="0" rIns="0" bIns="0" rtlCol="0" anchor="t"/>
          <a:lstStyle/>
          <a:p>
            <a:pPr algn="ctr" indent="0" marL="0">
              <a:buNone/>
            </a:pPr>
            <a:r>
              <a:rPr lang="en-US" sz="1500" b="1" dirty="0">
                <a:solidFill>
                  <a:schemeClr val="bg1"/>
                </a:solidFill>
              </a:rPr>
              <a:t>Alert</a:t>
            </a:r>
            <a:endParaRPr lang="en-US" sz="1500" dirty="0"/>
          </a:p>
        </p:txBody>
      </p:sp>
      <p:sp>
        <p:nvSpPr>
          <p:cNvPr id="13" name="Text 10"/>
          <p:cNvSpPr txBox="1"/>
          <p:nvPr/>
        </p:nvSpPr>
        <p:spPr>
          <a:xfrm>
            <a:off x="621792" y="3218688"/>
            <a:ext cx="1438221" cy="685800"/>
          </a:xfrm>
          <a:prstGeom prst="rect">
            <a:avLst/>
          </a:prstGeom>
          <a:noFill/>
          <a:ln/>
        </p:spPr>
        <p:txBody>
          <a:bodyPr wrap="square" lIns="0" tIns="0" rIns="0" bIns="0" rtlCol="0" anchor="t"/>
          <a:lstStyle/>
          <a:p>
            <a:pPr algn="ctr" indent="0" marL="0">
              <a:buNone/>
            </a:pPr>
            <a:r>
              <a:rPr lang="en-US" sz="1200" dirty="0">
                <a:solidFill>
                  <a:schemeClr val="bg2"/>
                </a:solidFill>
              </a:rPr>
              <a:t>Alertmanager or Grafana webhook opens a ticket</a:t>
            </a:r>
            <a:endParaRPr lang="en-US" sz="1200" dirty="0"/>
          </a:p>
        </p:txBody>
      </p:sp>
      <p:sp>
        <p:nvSpPr>
          <p:cNvPr id="14" name="icon tile"/>
          <p:cNvSpPr/>
          <p:nvPr/>
        </p:nvSpPr>
        <p:spPr>
          <a:xfrm>
            <a:off x="2559667" y="2011680"/>
            <a:ext cx="731520" cy="731520"/>
          </a:xfrm>
          <a:prstGeom prst="roundRect">
            <a:avLst>
              <a:gd name="adj" fmla="val 15000"/>
            </a:avLst>
          </a:prstGeom>
          <a:solidFill>
            <a:srgbClr val="8B7CFF">
              <a:alpha val="18000"/>
            </a:srgbClr>
          </a:solidFill>
          <a:ln w="9525">
            <a:solidFill>
              <a:srgbClr val="8B7CFF">
                <a:alpha val="45000"/>
              </a:srgbClr>
            </a:solidFill>
            <a:prstDash val="solid"/>
          </a:ln>
        </p:spPr>
      </p:sp>
      <p:pic>
        <p:nvPicPr>
          <p:cNvPr id="15" name="Image 1" descr="List icon">    </p:cNvPr>
          <p:cNvPicPr>
            <a:picLocks noChangeAspect="1"/>
          </p:cNvPicPr>
          <p:nvPr/>
        </p:nvPicPr>
        <p:blipFill>
          <a:blip r:embed="rId2"/>
          <a:stretch>
            <a:fillRect/>
          </a:stretch>
        </p:blipFill>
        <p:spPr>
          <a:xfrm>
            <a:off x="2720601" y="2172614"/>
            <a:ext cx="409651" cy="409651"/>
          </a:xfrm>
          <a:prstGeom prst="rect">
            <a:avLst/>
          </a:prstGeom>
        </p:spPr>
      </p:pic>
      <p:sp>
        <p:nvSpPr>
          <p:cNvPr id="16" name="Text 12"/>
          <p:cNvSpPr txBox="1"/>
          <p:nvPr/>
        </p:nvSpPr>
        <p:spPr>
          <a:xfrm>
            <a:off x="2178885" y="2880360"/>
            <a:ext cx="1493085" cy="320040"/>
          </a:xfrm>
          <a:prstGeom prst="rect">
            <a:avLst/>
          </a:prstGeom>
          <a:noFill/>
          <a:ln/>
        </p:spPr>
        <p:txBody>
          <a:bodyPr wrap="square" lIns="0" tIns="0" rIns="0" bIns="0" rtlCol="0" anchor="t"/>
          <a:lstStyle/>
          <a:p>
            <a:pPr algn="ctr" indent="0" marL="0">
              <a:buNone/>
            </a:pPr>
            <a:r>
              <a:rPr lang="en-US" sz="1500" b="1" dirty="0">
                <a:solidFill>
                  <a:schemeClr val="bg1"/>
                </a:solidFill>
              </a:rPr>
              <a:t>Plan</a:t>
            </a:r>
            <a:endParaRPr lang="en-US" sz="1500" dirty="0"/>
          </a:p>
        </p:txBody>
      </p:sp>
      <p:sp>
        <p:nvSpPr>
          <p:cNvPr id="17" name="Text 13"/>
          <p:cNvSpPr txBox="1"/>
          <p:nvPr/>
        </p:nvSpPr>
        <p:spPr>
          <a:xfrm>
            <a:off x="2206317" y="3218688"/>
            <a:ext cx="1438221" cy="685800"/>
          </a:xfrm>
          <a:prstGeom prst="rect">
            <a:avLst/>
          </a:prstGeom>
          <a:noFill/>
          <a:ln/>
        </p:spPr>
        <p:txBody>
          <a:bodyPr wrap="square" lIns="0" tIns="0" rIns="0" bIns="0" rtlCol="0" anchor="t"/>
          <a:lstStyle/>
          <a:p>
            <a:pPr algn="ctr" indent="0" marL="0">
              <a:buNone/>
            </a:pPr>
            <a:r>
              <a:rPr lang="en-US" sz="1200" dirty="0">
                <a:solidFill>
                  <a:schemeClr val="bg2"/>
                </a:solidFill>
              </a:rPr>
              <a:t>Commander maps the investigation</a:t>
            </a:r>
            <a:endParaRPr lang="en-US" sz="1200" dirty="0"/>
          </a:p>
        </p:txBody>
      </p:sp>
      <p:sp>
        <p:nvSpPr>
          <p:cNvPr id="18" name="icon tile"/>
          <p:cNvSpPr/>
          <p:nvPr/>
        </p:nvSpPr>
        <p:spPr>
          <a:xfrm>
            <a:off x="4144191" y="2011680"/>
            <a:ext cx="731520" cy="731520"/>
          </a:xfrm>
          <a:prstGeom prst="roundRect">
            <a:avLst>
              <a:gd name="adj" fmla="val 15000"/>
            </a:avLst>
          </a:prstGeom>
          <a:solidFill>
            <a:srgbClr val="46D3F5">
              <a:alpha val="18000"/>
            </a:srgbClr>
          </a:solidFill>
          <a:ln w="9525">
            <a:solidFill>
              <a:srgbClr val="46D3F5">
                <a:alpha val="45000"/>
              </a:srgbClr>
            </a:solidFill>
            <a:prstDash val="solid"/>
          </a:ln>
        </p:spPr>
      </p:sp>
      <p:pic>
        <p:nvPicPr>
          <p:cNvPr id="19" name="Image 2" descr="Search icon">    </p:cNvPr>
          <p:cNvPicPr>
            <a:picLocks noChangeAspect="1"/>
          </p:cNvPicPr>
          <p:nvPr/>
        </p:nvPicPr>
        <p:blipFill>
          <a:blip r:embed="rId3"/>
          <a:stretch>
            <a:fillRect/>
          </a:stretch>
        </p:blipFill>
        <p:spPr>
          <a:xfrm>
            <a:off x="4305126" y="2172614"/>
            <a:ext cx="409651" cy="409651"/>
          </a:xfrm>
          <a:prstGeom prst="rect">
            <a:avLst/>
          </a:prstGeom>
        </p:spPr>
      </p:pic>
      <p:sp>
        <p:nvSpPr>
          <p:cNvPr id="20" name="Text 15"/>
          <p:cNvSpPr txBox="1"/>
          <p:nvPr/>
        </p:nvSpPr>
        <p:spPr>
          <a:xfrm>
            <a:off x="3763409" y="2880360"/>
            <a:ext cx="1493085" cy="320040"/>
          </a:xfrm>
          <a:prstGeom prst="rect">
            <a:avLst/>
          </a:prstGeom>
          <a:noFill/>
          <a:ln/>
        </p:spPr>
        <p:txBody>
          <a:bodyPr wrap="square" lIns="0" tIns="0" rIns="0" bIns="0" rtlCol="0" anchor="t"/>
          <a:lstStyle/>
          <a:p>
            <a:pPr algn="ctr" indent="0" marL="0">
              <a:buNone/>
            </a:pPr>
            <a:r>
              <a:rPr lang="en-US" sz="1500" b="1" dirty="0">
                <a:solidFill>
                  <a:schemeClr val="bg1"/>
                </a:solidFill>
              </a:rPr>
              <a:t>Investigate</a:t>
            </a:r>
            <a:endParaRPr lang="en-US" sz="1500" dirty="0"/>
          </a:p>
        </p:txBody>
      </p:sp>
      <p:sp>
        <p:nvSpPr>
          <p:cNvPr id="21" name="Text 16"/>
          <p:cNvSpPr txBox="1"/>
          <p:nvPr/>
        </p:nvSpPr>
        <p:spPr>
          <a:xfrm>
            <a:off x="3790841" y="3218688"/>
            <a:ext cx="1438221" cy="685800"/>
          </a:xfrm>
          <a:prstGeom prst="rect">
            <a:avLst/>
          </a:prstGeom>
          <a:noFill/>
          <a:ln/>
        </p:spPr>
        <p:txBody>
          <a:bodyPr wrap="square" lIns="0" tIns="0" rIns="0" bIns="0" rtlCol="0" anchor="t"/>
          <a:lstStyle/>
          <a:p>
            <a:pPr algn="ctr" indent="0" marL="0">
              <a:buNone/>
            </a:pPr>
            <a:r>
              <a:rPr lang="en-US" sz="1200" dirty="0">
                <a:solidFill>
                  <a:schemeClr val="bg2"/>
                </a:solidFill>
              </a:rPr>
              <a:t>Logs, metrics, git, deploys</a:t>
            </a:r>
            <a:endParaRPr lang="en-US" sz="1200" dirty="0"/>
          </a:p>
        </p:txBody>
      </p:sp>
      <p:sp>
        <p:nvSpPr>
          <p:cNvPr id="22" name="icon tile"/>
          <p:cNvSpPr/>
          <p:nvPr/>
        </p:nvSpPr>
        <p:spPr>
          <a:xfrm>
            <a:off x="5728716" y="2011680"/>
            <a:ext cx="731520" cy="731520"/>
          </a:xfrm>
          <a:prstGeom prst="roundRect">
            <a:avLst>
              <a:gd name="adj" fmla="val 15000"/>
            </a:avLst>
          </a:prstGeom>
          <a:solidFill>
            <a:srgbClr val="FF5D73">
              <a:alpha val="18000"/>
            </a:srgbClr>
          </a:solidFill>
          <a:ln w="9525">
            <a:solidFill>
              <a:srgbClr val="FF5D73">
                <a:alpha val="45000"/>
              </a:srgbClr>
            </a:solidFill>
            <a:prstDash val="solid"/>
          </a:ln>
        </p:spPr>
      </p:sp>
      <p:pic>
        <p:nvPicPr>
          <p:cNvPr id="23" name="Image 3" descr="Shield icon">    </p:cNvPr>
          <p:cNvPicPr>
            <a:picLocks noChangeAspect="1"/>
          </p:cNvPicPr>
          <p:nvPr/>
        </p:nvPicPr>
        <p:blipFill>
          <a:blip r:embed="rId4"/>
          <a:stretch>
            <a:fillRect/>
          </a:stretch>
        </p:blipFill>
        <p:spPr>
          <a:xfrm>
            <a:off x="5889650" y="2172614"/>
            <a:ext cx="409651" cy="409651"/>
          </a:xfrm>
          <a:prstGeom prst="rect">
            <a:avLst/>
          </a:prstGeom>
        </p:spPr>
      </p:pic>
      <p:sp>
        <p:nvSpPr>
          <p:cNvPr id="24" name="Text 18"/>
          <p:cNvSpPr txBox="1"/>
          <p:nvPr/>
        </p:nvSpPr>
        <p:spPr>
          <a:xfrm>
            <a:off x="5347934" y="2880360"/>
            <a:ext cx="1493085" cy="320040"/>
          </a:xfrm>
          <a:prstGeom prst="rect">
            <a:avLst/>
          </a:prstGeom>
          <a:noFill/>
          <a:ln/>
        </p:spPr>
        <p:txBody>
          <a:bodyPr wrap="square" lIns="0" tIns="0" rIns="0" bIns="0" rtlCol="0" anchor="t"/>
          <a:lstStyle/>
          <a:p>
            <a:pPr algn="ctr" indent="0" marL="0">
              <a:buNone/>
            </a:pPr>
            <a:r>
              <a:rPr lang="en-US" sz="1500" b="1" dirty="0">
                <a:solidFill>
                  <a:schemeClr val="bg1"/>
                </a:solidFill>
              </a:rPr>
              <a:t>Disprove</a:t>
            </a:r>
            <a:endParaRPr lang="en-US" sz="1500" dirty="0"/>
          </a:p>
        </p:txBody>
      </p:sp>
      <p:sp>
        <p:nvSpPr>
          <p:cNvPr id="25" name="Text 19"/>
          <p:cNvSpPr txBox="1"/>
          <p:nvPr/>
        </p:nvSpPr>
        <p:spPr>
          <a:xfrm>
            <a:off x="5375366" y="3218688"/>
            <a:ext cx="1438221" cy="685800"/>
          </a:xfrm>
          <a:prstGeom prst="rect">
            <a:avLst/>
          </a:prstGeom>
          <a:noFill/>
          <a:ln/>
        </p:spPr>
        <p:txBody>
          <a:bodyPr wrap="square" lIns="0" tIns="0" rIns="0" bIns="0" rtlCol="0" anchor="t"/>
          <a:lstStyle/>
          <a:p>
            <a:pPr algn="ctr" indent="0" marL="0">
              <a:buNone/>
            </a:pPr>
            <a:r>
              <a:rPr lang="en-US" sz="1200" dirty="0">
                <a:solidFill>
                  <a:schemeClr val="bg2"/>
                </a:solidFill>
              </a:rPr>
              <a:t>Every cause attacked; quotes checked</a:t>
            </a:r>
            <a:endParaRPr lang="en-US" sz="1200" dirty="0"/>
          </a:p>
        </p:txBody>
      </p:sp>
      <p:sp>
        <p:nvSpPr>
          <p:cNvPr id="26" name="icon tile"/>
          <p:cNvSpPr/>
          <p:nvPr/>
        </p:nvSpPr>
        <p:spPr>
          <a:xfrm>
            <a:off x="7313241" y="2011680"/>
            <a:ext cx="731520" cy="731520"/>
          </a:xfrm>
          <a:prstGeom prst="roundRect">
            <a:avLst>
              <a:gd name="adj" fmla="val 15000"/>
            </a:avLst>
          </a:prstGeom>
          <a:solidFill>
            <a:srgbClr val="FF914D">
              <a:alpha val="18000"/>
            </a:srgbClr>
          </a:solidFill>
          <a:ln w="9525">
            <a:solidFill>
              <a:srgbClr val="FF914D">
                <a:alpha val="45000"/>
              </a:srgbClr>
            </a:solidFill>
            <a:prstDash val="solid"/>
          </a:ln>
        </p:spPr>
      </p:sp>
      <p:pic>
        <p:nvPicPr>
          <p:cNvPr id="27" name="Image 4" descr="Tool icon">    </p:cNvPr>
          <p:cNvPicPr>
            <a:picLocks noChangeAspect="1"/>
          </p:cNvPicPr>
          <p:nvPr/>
        </p:nvPicPr>
        <p:blipFill>
          <a:blip r:embed="rId5"/>
          <a:stretch>
            <a:fillRect/>
          </a:stretch>
        </p:blipFill>
        <p:spPr>
          <a:xfrm>
            <a:off x="7474175" y="2172614"/>
            <a:ext cx="409651" cy="409651"/>
          </a:xfrm>
          <a:prstGeom prst="rect">
            <a:avLst/>
          </a:prstGeom>
        </p:spPr>
      </p:pic>
      <p:sp>
        <p:nvSpPr>
          <p:cNvPr id="28" name="Text 21"/>
          <p:cNvSpPr txBox="1"/>
          <p:nvPr/>
        </p:nvSpPr>
        <p:spPr>
          <a:xfrm>
            <a:off x="6932458" y="2880360"/>
            <a:ext cx="1493085" cy="320040"/>
          </a:xfrm>
          <a:prstGeom prst="rect">
            <a:avLst/>
          </a:prstGeom>
          <a:noFill/>
          <a:ln/>
        </p:spPr>
        <p:txBody>
          <a:bodyPr wrap="square" lIns="0" tIns="0" rIns="0" bIns="0" rtlCol="0" anchor="t"/>
          <a:lstStyle/>
          <a:p>
            <a:pPr algn="ctr" indent="0" marL="0">
              <a:buNone/>
            </a:pPr>
            <a:r>
              <a:rPr lang="en-US" sz="1500" b="1" dirty="0">
                <a:solidFill>
                  <a:schemeClr val="bg1"/>
                </a:solidFill>
              </a:rPr>
              <a:t>Fix + test</a:t>
            </a:r>
            <a:endParaRPr lang="en-US" sz="1500" dirty="0"/>
          </a:p>
        </p:txBody>
      </p:sp>
      <p:sp>
        <p:nvSpPr>
          <p:cNvPr id="29" name="Text 22"/>
          <p:cNvSpPr txBox="1"/>
          <p:nvPr/>
        </p:nvSpPr>
        <p:spPr>
          <a:xfrm>
            <a:off x="6959890" y="3218688"/>
            <a:ext cx="1438221" cy="685800"/>
          </a:xfrm>
          <a:prstGeom prst="rect">
            <a:avLst/>
          </a:prstGeom>
          <a:noFill/>
          <a:ln/>
        </p:spPr>
        <p:txBody>
          <a:bodyPr wrap="square" lIns="0" tIns="0" rIns="0" bIns="0" rtlCol="0" anchor="t"/>
          <a:lstStyle/>
          <a:p>
            <a:pPr algn="ctr" indent="0" marL="0">
              <a:buNone/>
            </a:pPr>
            <a:r>
              <a:rPr lang="en-US" sz="1200" dirty="0">
                <a:solidFill>
                  <a:schemeClr val="bg2"/>
                </a:solidFill>
              </a:rPr>
              <a:t>Smallest fix, replayed in a sandbox</a:t>
            </a:r>
            <a:endParaRPr lang="en-US" sz="1200" dirty="0"/>
          </a:p>
        </p:txBody>
      </p:sp>
      <p:sp>
        <p:nvSpPr>
          <p:cNvPr id="30" name="icon tile"/>
          <p:cNvSpPr/>
          <p:nvPr/>
        </p:nvSpPr>
        <p:spPr>
          <a:xfrm>
            <a:off x="8897765" y="2011680"/>
            <a:ext cx="731520" cy="731520"/>
          </a:xfrm>
          <a:prstGeom prst="roundRect">
            <a:avLst>
              <a:gd name="adj" fmla="val 15000"/>
            </a:avLst>
          </a:prstGeom>
          <a:solidFill>
            <a:srgbClr val="3EE59A">
              <a:alpha val="18000"/>
            </a:srgbClr>
          </a:solidFill>
          <a:ln w="9525">
            <a:solidFill>
              <a:srgbClr val="3EE59A">
                <a:alpha val="45000"/>
              </a:srgbClr>
            </a:solidFill>
            <a:prstDash val="solid"/>
          </a:ln>
        </p:spPr>
      </p:sp>
      <p:pic>
        <p:nvPicPr>
          <p:cNvPr id="31" name="Image 5" descr="UserCheck icon">    </p:cNvPr>
          <p:cNvPicPr>
            <a:picLocks noChangeAspect="1"/>
          </p:cNvPicPr>
          <p:nvPr/>
        </p:nvPicPr>
        <p:blipFill>
          <a:blip r:embed="rId6"/>
          <a:stretch>
            <a:fillRect/>
          </a:stretch>
        </p:blipFill>
        <p:spPr>
          <a:xfrm>
            <a:off x="9058700" y="2172614"/>
            <a:ext cx="409651" cy="409651"/>
          </a:xfrm>
          <a:prstGeom prst="rect">
            <a:avLst/>
          </a:prstGeom>
        </p:spPr>
      </p:pic>
      <p:sp>
        <p:nvSpPr>
          <p:cNvPr id="32" name="Text 24"/>
          <p:cNvSpPr txBox="1"/>
          <p:nvPr/>
        </p:nvSpPr>
        <p:spPr>
          <a:xfrm>
            <a:off x="8516983" y="2880360"/>
            <a:ext cx="1493085" cy="320040"/>
          </a:xfrm>
          <a:prstGeom prst="rect">
            <a:avLst/>
          </a:prstGeom>
          <a:noFill/>
          <a:ln/>
        </p:spPr>
        <p:txBody>
          <a:bodyPr wrap="square" lIns="0" tIns="0" rIns="0" bIns="0" rtlCol="0" anchor="t"/>
          <a:lstStyle/>
          <a:p>
            <a:pPr algn="ctr" indent="0" marL="0">
              <a:buNone/>
            </a:pPr>
            <a:r>
              <a:rPr lang="en-US" sz="1500" b="1" dirty="0">
                <a:solidFill>
                  <a:schemeClr val="accent3"/>
                </a:solidFill>
              </a:rPr>
              <a:t>Human approves</a:t>
            </a:r>
            <a:endParaRPr lang="en-US" sz="1500" dirty="0"/>
          </a:p>
        </p:txBody>
      </p:sp>
      <p:sp>
        <p:nvSpPr>
          <p:cNvPr id="33" name="Text 25"/>
          <p:cNvSpPr txBox="1"/>
          <p:nvPr/>
        </p:nvSpPr>
        <p:spPr>
          <a:xfrm>
            <a:off x="8544415" y="3218688"/>
            <a:ext cx="1438221" cy="685800"/>
          </a:xfrm>
          <a:prstGeom prst="rect">
            <a:avLst/>
          </a:prstGeom>
          <a:noFill/>
          <a:ln/>
        </p:spPr>
        <p:txBody>
          <a:bodyPr wrap="square" lIns="0" tIns="0" rIns="0" bIns="0" rtlCol="0" anchor="t"/>
          <a:lstStyle/>
          <a:p>
            <a:pPr algn="ctr" indent="0" marL="0">
              <a:buNone/>
            </a:pPr>
            <a:r>
              <a:rPr lang="en-US" sz="1200" dirty="0">
                <a:solidFill>
                  <a:schemeClr val="bg2"/>
                </a:solidFill>
              </a:rPr>
              <a:t>Nothing changes without a person</a:t>
            </a:r>
            <a:endParaRPr lang="en-US" sz="1200" dirty="0"/>
          </a:p>
        </p:txBody>
      </p:sp>
      <p:sp>
        <p:nvSpPr>
          <p:cNvPr id="34" name="icon tile"/>
          <p:cNvSpPr/>
          <p:nvPr/>
        </p:nvSpPr>
        <p:spPr>
          <a:xfrm>
            <a:off x="10482290" y="2011680"/>
            <a:ext cx="731520" cy="731520"/>
          </a:xfrm>
          <a:prstGeom prst="roundRect">
            <a:avLst>
              <a:gd name="adj" fmla="val 15000"/>
            </a:avLst>
          </a:prstGeom>
          <a:solidFill>
            <a:srgbClr val="3EE59A">
              <a:alpha val="18000"/>
            </a:srgbClr>
          </a:solidFill>
          <a:ln w="9525">
            <a:solidFill>
              <a:srgbClr val="3EE59A">
                <a:alpha val="45000"/>
              </a:srgbClr>
            </a:solidFill>
            <a:prstDash val="solid"/>
          </a:ln>
        </p:spPr>
      </p:sp>
      <p:pic>
        <p:nvPicPr>
          <p:cNvPr id="35" name="Image 6" descr="CheckCircle icon">    </p:cNvPr>
          <p:cNvPicPr>
            <a:picLocks noChangeAspect="1"/>
          </p:cNvPicPr>
          <p:nvPr/>
        </p:nvPicPr>
        <p:blipFill>
          <a:blip r:embed="rId7"/>
          <a:stretch>
            <a:fillRect/>
          </a:stretch>
        </p:blipFill>
        <p:spPr>
          <a:xfrm>
            <a:off x="10643224" y="2172614"/>
            <a:ext cx="409651" cy="409651"/>
          </a:xfrm>
          <a:prstGeom prst="rect">
            <a:avLst/>
          </a:prstGeom>
        </p:spPr>
      </p:pic>
      <p:sp>
        <p:nvSpPr>
          <p:cNvPr id="36" name="Text 27"/>
          <p:cNvSpPr txBox="1"/>
          <p:nvPr/>
        </p:nvSpPr>
        <p:spPr>
          <a:xfrm>
            <a:off x="10101507" y="2880360"/>
            <a:ext cx="1493085" cy="320040"/>
          </a:xfrm>
          <a:prstGeom prst="rect">
            <a:avLst/>
          </a:prstGeom>
          <a:noFill/>
          <a:ln/>
        </p:spPr>
        <p:txBody>
          <a:bodyPr wrap="square" lIns="0" tIns="0" rIns="0" bIns="0" rtlCol="0" anchor="t"/>
          <a:lstStyle/>
          <a:p>
            <a:pPr algn="ctr" indent="0" marL="0">
              <a:buNone/>
            </a:pPr>
            <a:r>
              <a:rPr lang="en-US" sz="1500" b="1" dirty="0">
                <a:solidFill>
                  <a:schemeClr val="bg1"/>
                </a:solidFill>
              </a:rPr>
              <a:t>Deploy + report</a:t>
            </a:r>
            <a:endParaRPr lang="en-US" sz="1500" dirty="0"/>
          </a:p>
        </p:txBody>
      </p:sp>
      <p:sp>
        <p:nvSpPr>
          <p:cNvPr id="37" name="Text 28"/>
          <p:cNvSpPr txBox="1"/>
          <p:nvPr/>
        </p:nvSpPr>
        <p:spPr>
          <a:xfrm>
            <a:off x="10128939" y="3218688"/>
            <a:ext cx="1438221" cy="685800"/>
          </a:xfrm>
          <a:prstGeom prst="rect">
            <a:avLst/>
          </a:prstGeom>
          <a:noFill/>
          <a:ln/>
        </p:spPr>
        <p:txBody>
          <a:bodyPr wrap="square" lIns="0" tIns="0" rIns="0" bIns="0" rtlCol="0" anchor="t"/>
          <a:lstStyle/>
          <a:p>
            <a:pPr algn="ctr" indent="0" marL="0">
              <a:buNone/>
            </a:pPr>
            <a:r>
              <a:rPr lang="en-US" sz="1200" dirty="0">
                <a:solidFill>
                  <a:schemeClr val="bg2"/>
                </a:solidFill>
              </a:rPr>
              <a:t>Commit, recover, cost and savings</a:t>
            </a:r>
            <a:endParaRPr lang="en-US" sz="1200" dirty="0"/>
          </a:p>
        </p:txBody>
      </p:sp>
      <p:sp>
        <p:nvSpPr>
          <p:cNvPr id="38" name="card"/>
          <p:cNvSpPr/>
          <p:nvPr/>
        </p:nvSpPr>
        <p:spPr>
          <a:xfrm>
            <a:off x="548640" y="4160520"/>
            <a:ext cx="3547872" cy="1783080"/>
          </a:xfrm>
          <a:prstGeom prst="roundRect">
            <a:avLst>
              <a:gd name="adj" fmla="val 8205"/>
            </a:avLst>
          </a:prstGeom>
          <a:solidFill>
            <a:srgbClr val="15142A">
              <a:alpha val="75000"/>
            </a:srgbClr>
          </a:solidFill>
          <a:ln w="12700">
            <a:solidFill>
              <a:srgbClr val="2C2B45"/>
            </a:solidFill>
            <a:prstDash val="solid"/>
          </a:ln>
        </p:spPr>
      </p:sp>
      <p:sp>
        <p:nvSpPr>
          <p:cNvPr id="39" name="Text 30"/>
          <p:cNvSpPr txBox="1"/>
          <p:nvPr/>
        </p:nvSpPr>
        <p:spPr>
          <a:xfrm>
            <a:off x="822960" y="4389120"/>
            <a:ext cx="2999232" cy="365760"/>
          </a:xfrm>
          <a:prstGeom prst="rect">
            <a:avLst/>
          </a:prstGeom>
          <a:noFill/>
          <a:ln/>
        </p:spPr>
        <p:txBody>
          <a:bodyPr wrap="square" lIns="0" tIns="0" rIns="0" bIns="0" rtlCol="0" anchor="t"/>
          <a:lstStyle/>
          <a:p>
            <a:pPr indent="0" marL="0">
              <a:buNone/>
            </a:pPr>
            <a:r>
              <a:rPr lang="en-US" sz="1800" b="1" dirty="0">
                <a:solidFill>
                  <a:schemeClr val="bg1"/>
                </a:solidFill>
              </a:rPr>
              <a:t>Autonomous where it's safe</a:t>
            </a:r>
            <a:endParaRPr lang="en-US" sz="1800" dirty="0"/>
          </a:p>
        </p:txBody>
      </p:sp>
      <p:sp>
        <p:nvSpPr>
          <p:cNvPr id="40" name="Text 31"/>
          <p:cNvSpPr txBox="1"/>
          <p:nvPr/>
        </p:nvSpPr>
        <p:spPr>
          <a:xfrm>
            <a:off x="822960" y="4818888"/>
            <a:ext cx="2999232" cy="1005840"/>
          </a:xfrm>
          <a:prstGeom prst="rect">
            <a:avLst/>
          </a:prstGeom>
          <a:noFill/>
          <a:ln/>
        </p:spPr>
        <p:txBody>
          <a:bodyPr wrap="square" lIns="0" tIns="0" rIns="0" bIns="0" rtlCol="0" anchor="t"/>
          <a:lstStyle/>
          <a:p>
            <a:pPr indent="0" marL="0">
              <a:buNone/>
            </a:pPr>
            <a:r>
              <a:rPr lang="en-US" sz="1400" dirty="0">
                <a:solidFill>
                  <a:schemeClr val="bg2"/>
                </a:solidFill>
              </a:rPr>
              <a:t>Opens the incident, assigns on-call, pings Slack, investigates and tests without being asked.</a:t>
            </a:r>
            <a:endParaRPr lang="en-US" sz="1400" dirty="0"/>
          </a:p>
        </p:txBody>
      </p:sp>
      <p:sp>
        <p:nvSpPr>
          <p:cNvPr id="41" name="card"/>
          <p:cNvSpPr/>
          <p:nvPr/>
        </p:nvSpPr>
        <p:spPr>
          <a:xfrm>
            <a:off x="4320540" y="4160520"/>
            <a:ext cx="3547872" cy="1783080"/>
          </a:xfrm>
          <a:prstGeom prst="roundRect">
            <a:avLst>
              <a:gd name="adj" fmla="val 8205"/>
            </a:avLst>
          </a:prstGeom>
          <a:solidFill>
            <a:srgbClr val="15142A">
              <a:alpha val="75000"/>
            </a:srgbClr>
          </a:solidFill>
          <a:ln w="12700">
            <a:solidFill>
              <a:srgbClr val="2C2B45"/>
            </a:solidFill>
            <a:prstDash val="solid"/>
          </a:ln>
        </p:spPr>
      </p:sp>
      <p:sp>
        <p:nvSpPr>
          <p:cNvPr id="42" name="Text 33"/>
          <p:cNvSpPr txBox="1"/>
          <p:nvPr/>
        </p:nvSpPr>
        <p:spPr>
          <a:xfrm>
            <a:off x="4594860" y="4389120"/>
            <a:ext cx="2999232" cy="365760"/>
          </a:xfrm>
          <a:prstGeom prst="rect">
            <a:avLst/>
          </a:prstGeom>
          <a:noFill/>
          <a:ln/>
        </p:spPr>
        <p:txBody>
          <a:bodyPr wrap="square" lIns="0" tIns="0" rIns="0" bIns="0" rtlCol="0" anchor="t"/>
          <a:lstStyle/>
          <a:p>
            <a:pPr indent="0" marL="0">
              <a:buNone/>
            </a:pPr>
            <a:r>
              <a:rPr lang="en-US" sz="1800" b="1" dirty="0">
                <a:solidFill>
                  <a:schemeClr val="bg1"/>
                </a:solidFill>
              </a:rPr>
              <a:t>Human where it matters</a:t>
            </a:r>
            <a:endParaRPr lang="en-US" sz="1800" dirty="0"/>
          </a:p>
        </p:txBody>
      </p:sp>
      <p:sp>
        <p:nvSpPr>
          <p:cNvPr id="43" name="Text 34"/>
          <p:cNvSpPr txBox="1"/>
          <p:nvPr/>
        </p:nvSpPr>
        <p:spPr>
          <a:xfrm>
            <a:off x="4594860" y="4818888"/>
            <a:ext cx="2999232" cy="1005840"/>
          </a:xfrm>
          <a:prstGeom prst="rect">
            <a:avLst/>
          </a:prstGeom>
          <a:noFill/>
          <a:ln/>
        </p:spPr>
        <p:txBody>
          <a:bodyPr wrap="square" lIns="0" tIns="0" rIns="0" bIns="0" rtlCol="0" anchor="t"/>
          <a:lstStyle/>
          <a:p>
            <a:pPr indent="0" marL="0">
              <a:buNone/>
            </a:pPr>
            <a:r>
              <a:rPr lang="en-US" sz="1400" dirty="0">
                <a:solidFill>
                  <a:schemeClr val="bg2"/>
                </a:solidFill>
              </a:rPr>
              <a:t>The AI never approves. Policy decides who must sign off, by severity.</a:t>
            </a:r>
            <a:endParaRPr lang="en-US" sz="1400" dirty="0"/>
          </a:p>
        </p:txBody>
      </p:sp>
      <p:sp>
        <p:nvSpPr>
          <p:cNvPr id="44" name="card"/>
          <p:cNvSpPr/>
          <p:nvPr/>
        </p:nvSpPr>
        <p:spPr>
          <a:xfrm>
            <a:off x="8092440" y="4160520"/>
            <a:ext cx="3547872" cy="1783080"/>
          </a:xfrm>
          <a:prstGeom prst="roundRect">
            <a:avLst>
              <a:gd name="adj" fmla="val 8205"/>
            </a:avLst>
          </a:prstGeom>
          <a:solidFill>
            <a:srgbClr val="15142A">
              <a:alpha val="75000"/>
            </a:srgbClr>
          </a:solidFill>
          <a:ln w="12700">
            <a:solidFill>
              <a:srgbClr val="2C2B45"/>
            </a:solidFill>
            <a:prstDash val="solid"/>
          </a:ln>
        </p:spPr>
      </p:sp>
      <p:sp>
        <p:nvSpPr>
          <p:cNvPr id="45" name="Text 36"/>
          <p:cNvSpPr txBox="1"/>
          <p:nvPr/>
        </p:nvSpPr>
        <p:spPr>
          <a:xfrm>
            <a:off x="8366760" y="4389120"/>
            <a:ext cx="2999232" cy="365760"/>
          </a:xfrm>
          <a:prstGeom prst="rect">
            <a:avLst/>
          </a:prstGeom>
          <a:noFill/>
          <a:ln/>
        </p:spPr>
        <p:txBody>
          <a:bodyPr wrap="square" lIns="0" tIns="0" rIns="0" bIns="0" rtlCol="0" anchor="t"/>
          <a:lstStyle/>
          <a:p>
            <a:pPr indent="0" marL="0">
              <a:buNone/>
            </a:pPr>
            <a:r>
              <a:rPr lang="en-US" sz="1800" b="1" dirty="0">
                <a:solidFill>
                  <a:schemeClr val="bg1"/>
                </a:solidFill>
              </a:rPr>
              <a:t>Business-aware</a:t>
            </a:r>
            <a:endParaRPr lang="en-US" sz="1800" dirty="0"/>
          </a:p>
        </p:txBody>
      </p:sp>
      <p:sp>
        <p:nvSpPr>
          <p:cNvPr id="46" name="Text 37"/>
          <p:cNvSpPr txBox="1"/>
          <p:nvPr/>
        </p:nvSpPr>
        <p:spPr>
          <a:xfrm>
            <a:off x="8366760" y="4818888"/>
            <a:ext cx="2999232" cy="1005840"/>
          </a:xfrm>
          <a:prstGeom prst="rect">
            <a:avLst/>
          </a:prstGeom>
          <a:noFill/>
          <a:ln/>
        </p:spPr>
        <p:txBody>
          <a:bodyPr wrap="square" lIns="0" tIns="0" rIns="0" bIns="0" rtlCol="0" anchor="t"/>
          <a:lstStyle/>
          <a:p>
            <a:pPr indent="0" marL="0">
              <a:buNone/>
            </a:pPr>
            <a:r>
              <a:rPr lang="en-US" sz="1400" dirty="0">
                <a:solidFill>
                  <a:schemeClr val="bg2"/>
                </a:solidFill>
              </a:rPr>
              <a:t>Every ticket shows revenue at risk per minute, time to fix and money protected.</a:t>
            </a:r>
            <a:endParaRPr lang="en-US" sz="14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ring"/>
          <p:cNvSpPr/>
          <p:nvPr/>
        </p:nvSpPr>
        <p:spPr>
          <a:xfrm>
            <a:off x="2804008" y="137160"/>
            <a:ext cx="6583680" cy="6583680"/>
          </a:xfrm>
          <a:prstGeom prst="ellipse">
            <a:avLst/>
          </a:prstGeom>
          <a:ln w="12700">
            <a:solidFill>
              <a:srgbClr val="8B7CFF">
                <a:alpha val="20000"/>
              </a:srgbClr>
            </a:solidFill>
            <a:prstDash val="solid"/>
          </a:ln>
        </p:spPr>
      </p:sp>
      <p:sp>
        <p:nvSpPr>
          <p:cNvPr id="3" name="Text 1"/>
          <p:cNvSpPr txBox="1"/>
          <p:nvPr/>
        </p:nvSpPr>
        <p:spPr>
          <a:xfrm>
            <a:off x="0" y="1828800"/>
            <a:ext cx="12191695" cy="365760"/>
          </a:xfrm>
          <a:prstGeom prst="rect">
            <a:avLst/>
          </a:prstGeom>
          <a:noFill/>
          <a:ln/>
        </p:spPr>
        <p:txBody>
          <a:bodyPr wrap="square" lIns="0" tIns="0" rIns="0" bIns="0" rtlCol="0" anchor="t"/>
          <a:lstStyle/>
          <a:p>
            <a:pPr algn="ctr" indent="0" marL="0">
              <a:buNone/>
            </a:pPr>
            <a:r>
              <a:rPr lang="en-US" sz="1400" b="1" spc="300" kern="0" dirty="0">
                <a:solidFill>
                  <a:schemeClr val="accent2"/>
                </a:solidFill>
                <a:latin typeface="Consolas" pitchFamily="34" charset="0"/>
                <a:ea typeface="Consolas" pitchFamily="34" charset="-122"/>
                <a:cs typeface="Consolas" pitchFamily="34" charset="-120"/>
              </a:rPr>
              <a:t>SEVEN SPECIALIST AGENTS  ·  ONE COMMANDER</a:t>
            </a:r>
            <a:endParaRPr lang="en-US" sz="1400" dirty="0"/>
          </a:p>
        </p:txBody>
      </p:sp>
      <p:sp>
        <p:nvSpPr>
          <p:cNvPr id="4" name="Text 2"/>
          <p:cNvSpPr txBox="1"/>
          <p:nvPr/>
        </p:nvSpPr>
        <p:spPr>
          <a:xfrm>
            <a:off x="0" y="2286000"/>
            <a:ext cx="12191695" cy="1554480"/>
          </a:xfrm>
          <a:prstGeom prst="rect">
            <a:avLst/>
          </a:prstGeom>
          <a:noFill/>
          <a:ln/>
        </p:spPr>
        <p:txBody>
          <a:bodyPr wrap="square" lIns="0" tIns="0" rIns="0" bIns="0" rtlCol="0" anchor="ctr"/>
          <a:lstStyle/>
          <a:p>
            <a:pPr algn="ctr" indent="0" marL="0">
              <a:buNone/>
            </a:pPr>
            <a:r>
              <a:rPr lang="en-US" sz="11000" b="1" dirty="0">
                <a:solidFill>
                  <a:schemeClr val="bg1"/>
                </a:solidFill>
              </a:rPr>
              <a:t>Meet the </a:t>
            </a:r>
            <a:pPr algn="ctr" indent="0" marL="0">
              <a:buNone/>
            </a:pPr>
            <a:r>
              <a:rPr lang="en-US" sz="11000" b="1" dirty="0">
                <a:solidFill>
                  <a:schemeClr val="accent1"/>
                </a:solidFill>
              </a:rPr>
              <a:t>team</a:t>
            </a:r>
            <a:endParaRPr lang="en-US" sz="11000" dirty="0"/>
          </a:p>
        </p:txBody>
      </p:sp>
      <p:sp>
        <p:nvSpPr>
          <p:cNvPr id="5" name="Text 3"/>
          <p:cNvSpPr txBox="1"/>
          <p:nvPr/>
        </p:nvSpPr>
        <p:spPr>
          <a:xfrm>
            <a:off x="914400" y="4069080"/>
            <a:ext cx="10362895" cy="548640"/>
          </a:xfrm>
          <a:prstGeom prst="rect">
            <a:avLst/>
          </a:prstGeom>
          <a:noFill/>
          <a:ln/>
        </p:spPr>
        <p:txBody>
          <a:bodyPr wrap="square" lIns="0" tIns="0" rIns="0" bIns="0" rtlCol="0" anchor="t"/>
          <a:lstStyle/>
          <a:p>
            <a:pPr algn="ctr" indent="0" marL="0">
              <a:buNone/>
            </a:pPr>
            <a:r>
              <a:rPr lang="en-US" sz="2200" dirty="0">
                <a:solidFill>
                  <a:schemeClr val="bg2"/>
                </a:solidFill>
              </a:rPr>
              <a:t>Each one does a single job well, and one of them exists only to prove the others wrong.</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THE AGENTS</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A war room that never sleeps</a:t>
            </a:r>
            <a:endParaRPr lang="en-US" sz="3600" dirty="0"/>
          </a:p>
        </p:txBody>
      </p:sp>
      <p:sp>
        <p:nvSpPr>
          <p:cNvPr id="4" name="Athena card"/>
          <p:cNvSpPr/>
          <p:nvPr/>
        </p:nvSpPr>
        <p:spPr>
          <a:xfrm>
            <a:off x="548640" y="1920240"/>
            <a:ext cx="2615184" cy="2011680"/>
          </a:xfrm>
          <a:prstGeom prst="roundRect">
            <a:avLst>
              <a:gd name="adj" fmla="val 7273"/>
            </a:avLst>
          </a:prstGeom>
          <a:solidFill>
            <a:srgbClr val="8B7CFF">
              <a:alpha val="12000"/>
            </a:srgbClr>
          </a:solidFill>
          <a:ln w="12700">
            <a:solidFill>
              <a:srgbClr val="8B7CFF">
                <a:alpha val="45000"/>
              </a:srgbClr>
            </a:solidFill>
            <a:prstDash val="solid"/>
          </a:ln>
        </p:spPr>
      </p:sp>
      <p:sp>
        <p:nvSpPr>
          <p:cNvPr id="5" name="icon tile"/>
          <p:cNvSpPr/>
          <p:nvPr/>
        </p:nvSpPr>
        <p:spPr>
          <a:xfrm>
            <a:off x="777240" y="2148840"/>
            <a:ext cx="548640" cy="548640"/>
          </a:xfrm>
          <a:prstGeom prst="roundRect">
            <a:avLst>
              <a:gd name="adj" fmla="val 20000"/>
            </a:avLst>
          </a:prstGeom>
          <a:solidFill>
            <a:srgbClr val="8B7CFF">
              <a:alpha val="18000"/>
            </a:srgbClr>
          </a:solidFill>
          <a:ln w="9525">
            <a:solidFill>
              <a:srgbClr val="8B7CFF">
                <a:alpha val="45000"/>
              </a:srgbClr>
            </a:solidFill>
            <a:prstDash val="solid"/>
          </a:ln>
        </p:spPr>
      </p:sp>
      <p:pic>
        <p:nvPicPr>
          <p:cNvPr id="6" name="Image 0" descr="Star icon">    </p:cNvPr>
          <p:cNvPicPr>
            <a:picLocks noChangeAspect="1"/>
          </p:cNvPicPr>
          <p:nvPr/>
        </p:nvPicPr>
        <p:blipFill>
          <a:blip r:embed="rId1"/>
          <a:stretch>
            <a:fillRect/>
          </a:stretch>
        </p:blipFill>
        <p:spPr>
          <a:xfrm>
            <a:off x="897941" y="2269541"/>
            <a:ext cx="307238" cy="307238"/>
          </a:xfrm>
          <a:prstGeom prst="rect">
            <a:avLst/>
          </a:prstGeom>
        </p:spPr>
      </p:pic>
      <p:sp>
        <p:nvSpPr>
          <p:cNvPr id="7" name="Text 4"/>
          <p:cNvSpPr txBox="1"/>
          <p:nvPr/>
        </p:nvSpPr>
        <p:spPr>
          <a:xfrm>
            <a:off x="1463040" y="2121408"/>
            <a:ext cx="1563624" cy="365760"/>
          </a:xfrm>
          <a:prstGeom prst="rect">
            <a:avLst/>
          </a:prstGeom>
          <a:noFill/>
          <a:ln/>
        </p:spPr>
        <p:txBody>
          <a:bodyPr wrap="square" lIns="0" tIns="0" rIns="0" bIns="0" rtlCol="0" anchor="t"/>
          <a:lstStyle/>
          <a:p>
            <a:pPr indent="0" marL="0">
              <a:buNone/>
            </a:pPr>
            <a:r>
              <a:rPr lang="en-US" sz="2100" b="1" dirty="0">
                <a:solidFill>
                  <a:schemeClr val="bg1"/>
                </a:solidFill>
              </a:rPr>
              <a:t>Athena</a:t>
            </a:r>
            <a:endParaRPr lang="en-US" sz="2100" dirty="0"/>
          </a:p>
        </p:txBody>
      </p:sp>
      <p:sp>
        <p:nvSpPr>
          <p:cNvPr id="8" name="Text 5"/>
          <p:cNvSpPr txBox="1"/>
          <p:nvPr/>
        </p:nvSpPr>
        <p:spPr>
          <a:xfrm>
            <a:off x="1463040" y="2468880"/>
            <a:ext cx="1563624" cy="256032"/>
          </a:xfrm>
          <a:prstGeom prst="rect">
            <a:avLst/>
          </a:prstGeom>
          <a:noFill/>
          <a:ln/>
        </p:spPr>
        <p:txBody>
          <a:bodyPr wrap="square" lIns="0" tIns="0" rIns="0" bIns="0" rtlCol="0" anchor="t"/>
          <a:lstStyle/>
          <a:p>
            <a:pPr indent="0" marL="0">
              <a:buNone/>
            </a:pPr>
            <a:r>
              <a:rPr lang="en-US" sz="1050" b="1" spc="100" kern="0" dirty="0">
                <a:solidFill>
                  <a:srgbClr val="8B7CFF"/>
                </a:solidFill>
                <a:latin typeface="Consolas" pitchFamily="34" charset="0"/>
                <a:ea typeface="Consolas" pitchFamily="34" charset="-122"/>
                <a:cs typeface="Consolas" pitchFamily="34" charset="-120"/>
              </a:rPr>
              <a:t>COMMANDER</a:t>
            </a:r>
            <a:endParaRPr lang="en-US" sz="1050" dirty="0"/>
          </a:p>
        </p:txBody>
      </p:sp>
      <p:sp>
        <p:nvSpPr>
          <p:cNvPr id="9" name="Text 6"/>
          <p:cNvSpPr txBox="1"/>
          <p:nvPr/>
        </p:nvSpPr>
        <p:spPr>
          <a:xfrm>
            <a:off x="777240" y="2880360"/>
            <a:ext cx="2157984" cy="960120"/>
          </a:xfrm>
          <a:prstGeom prst="rect">
            <a:avLst/>
          </a:prstGeom>
          <a:noFill/>
          <a:ln/>
        </p:spPr>
        <p:txBody>
          <a:bodyPr wrap="square" lIns="0" tIns="0" rIns="0" bIns="0" rtlCol="0" anchor="t"/>
          <a:lstStyle/>
          <a:p>
            <a:pPr indent="0" marL="0">
              <a:buNone/>
            </a:pPr>
            <a:r>
              <a:rPr lang="en-US" sz="1350" dirty="0">
                <a:solidFill>
                  <a:schemeClr val="bg2"/>
                </a:solidFill>
              </a:rPr>
              <a:t>Plans the investigation and re-plans when a guess is ruled out.</a:t>
            </a:r>
            <a:endParaRPr lang="en-US" sz="1350" dirty="0"/>
          </a:p>
        </p:txBody>
      </p:sp>
      <p:sp>
        <p:nvSpPr>
          <p:cNvPr id="10" name="Theia card"/>
          <p:cNvSpPr/>
          <p:nvPr/>
        </p:nvSpPr>
        <p:spPr>
          <a:xfrm>
            <a:off x="3392424" y="1920240"/>
            <a:ext cx="2615184" cy="2011680"/>
          </a:xfrm>
          <a:prstGeom prst="roundRect">
            <a:avLst>
              <a:gd name="adj" fmla="val 7273"/>
            </a:avLst>
          </a:prstGeom>
          <a:solidFill>
            <a:srgbClr val="46D3F5">
              <a:alpha val="12000"/>
            </a:srgbClr>
          </a:solidFill>
          <a:ln w="12700">
            <a:solidFill>
              <a:srgbClr val="46D3F5">
                <a:alpha val="45000"/>
              </a:srgbClr>
            </a:solidFill>
            <a:prstDash val="solid"/>
          </a:ln>
        </p:spPr>
      </p:sp>
      <p:sp>
        <p:nvSpPr>
          <p:cNvPr id="11" name="icon tile"/>
          <p:cNvSpPr/>
          <p:nvPr/>
        </p:nvSpPr>
        <p:spPr>
          <a:xfrm>
            <a:off x="3621024" y="2148840"/>
            <a:ext cx="548640" cy="548640"/>
          </a:xfrm>
          <a:prstGeom prst="roundRect">
            <a:avLst>
              <a:gd name="adj" fmla="val 20000"/>
            </a:avLst>
          </a:prstGeom>
          <a:solidFill>
            <a:srgbClr val="46D3F5">
              <a:alpha val="18000"/>
            </a:srgbClr>
          </a:solidFill>
          <a:ln w="9525">
            <a:solidFill>
              <a:srgbClr val="46D3F5">
                <a:alpha val="45000"/>
              </a:srgbClr>
            </a:solidFill>
            <a:prstDash val="solid"/>
          </a:ln>
        </p:spPr>
      </p:sp>
      <p:pic>
        <p:nvPicPr>
          <p:cNvPr id="12" name="Image 1" descr="Search icon">    </p:cNvPr>
          <p:cNvPicPr>
            <a:picLocks noChangeAspect="1"/>
          </p:cNvPicPr>
          <p:nvPr/>
        </p:nvPicPr>
        <p:blipFill>
          <a:blip r:embed="rId2"/>
          <a:stretch>
            <a:fillRect/>
          </a:stretch>
        </p:blipFill>
        <p:spPr>
          <a:xfrm>
            <a:off x="3741725" y="2269541"/>
            <a:ext cx="307238" cy="307238"/>
          </a:xfrm>
          <a:prstGeom prst="rect">
            <a:avLst/>
          </a:prstGeom>
        </p:spPr>
      </p:pic>
      <p:sp>
        <p:nvSpPr>
          <p:cNvPr id="13" name="Text 9"/>
          <p:cNvSpPr txBox="1"/>
          <p:nvPr/>
        </p:nvSpPr>
        <p:spPr>
          <a:xfrm>
            <a:off x="4306824" y="2121408"/>
            <a:ext cx="1563624" cy="365760"/>
          </a:xfrm>
          <a:prstGeom prst="rect">
            <a:avLst/>
          </a:prstGeom>
          <a:noFill/>
          <a:ln/>
        </p:spPr>
        <p:txBody>
          <a:bodyPr wrap="square" lIns="0" tIns="0" rIns="0" bIns="0" rtlCol="0" anchor="t"/>
          <a:lstStyle/>
          <a:p>
            <a:pPr indent="0" marL="0">
              <a:buNone/>
            </a:pPr>
            <a:r>
              <a:rPr lang="en-US" sz="2100" b="1" dirty="0">
                <a:solidFill>
                  <a:schemeClr val="bg1"/>
                </a:solidFill>
              </a:rPr>
              <a:t>Theia</a:t>
            </a:r>
            <a:endParaRPr lang="en-US" sz="2100" dirty="0"/>
          </a:p>
        </p:txBody>
      </p:sp>
      <p:sp>
        <p:nvSpPr>
          <p:cNvPr id="14" name="Text 10"/>
          <p:cNvSpPr txBox="1"/>
          <p:nvPr/>
        </p:nvSpPr>
        <p:spPr>
          <a:xfrm>
            <a:off x="4306824" y="2468880"/>
            <a:ext cx="1563624" cy="256032"/>
          </a:xfrm>
          <a:prstGeom prst="rect">
            <a:avLst/>
          </a:prstGeom>
          <a:noFill/>
          <a:ln/>
        </p:spPr>
        <p:txBody>
          <a:bodyPr wrap="square" lIns="0" tIns="0" rIns="0" bIns="0" rtlCol="0" anchor="t"/>
          <a:lstStyle/>
          <a:p>
            <a:pPr indent="0" marL="0">
              <a:buNone/>
            </a:pPr>
            <a:r>
              <a:rPr lang="en-US" sz="1050" b="1" spc="100" kern="0" dirty="0">
                <a:solidFill>
                  <a:srgbClr val="46D3F5"/>
                </a:solidFill>
                <a:latin typeface="Consolas" pitchFamily="34" charset="0"/>
                <a:ea typeface="Consolas" pitchFamily="34" charset="-122"/>
                <a:cs typeface="Consolas" pitchFamily="34" charset="-120"/>
              </a:rPr>
              <a:t>INVESTIGATOR</a:t>
            </a:r>
            <a:endParaRPr lang="en-US" sz="1050" dirty="0"/>
          </a:p>
        </p:txBody>
      </p:sp>
      <p:sp>
        <p:nvSpPr>
          <p:cNvPr id="15" name="Text 11"/>
          <p:cNvSpPr txBox="1"/>
          <p:nvPr/>
        </p:nvSpPr>
        <p:spPr>
          <a:xfrm>
            <a:off x="3621024" y="2880360"/>
            <a:ext cx="2157984" cy="960120"/>
          </a:xfrm>
          <a:prstGeom prst="rect">
            <a:avLst/>
          </a:prstGeom>
          <a:noFill/>
          <a:ln/>
        </p:spPr>
        <p:txBody>
          <a:bodyPr wrap="square" lIns="0" tIns="0" rIns="0" bIns="0" rtlCol="0" anchor="t"/>
          <a:lstStyle/>
          <a:p>
            <a:pPr indent="0" marL="0">
              <a:buNone/>
            </a:pPr>
            <a:r>
              <a:rPr lang="en-US" sz="1350" dirty="0">
                <a:solidFill>
                  <a:schemeClr val="bg2"/>
                </a:solidFill>
              </a:rPr>
              <a:t>Reads logs and metrics, proposes causes with quoted evidence.</a:t>
            </a:r>
            <a:endParaRPr lang="en-US" sz="1350" dirty="0"/>
          </a:p>
        </p:txBody>
      </p:sp>
      <p:sp>
        <p:nvSpPr>
          <p:cNvPr id="16" name="Chronos card"/>
          <p:cNvSpPr/>
          <p:nvPr/>
        </p:nvSpPr>
        <p:spPr>
          <a:xfrm>
            <a:off x="6236208" y="1920240"/>
            <a:ext cx="2615184" cy="2011680"/>
          </a:xfrm>
          <a:prstGeom prst="roundRect">
            <a:avLst>
              <a:gd name="adj" fmla="val 7273"/>
            </a:avLst>
          </a:prstGeom>
          <a:solidFill>
            <a:srgbClr val="FFB547">
              <a:alpha val="12000"/>
            </a:srgbClr>
          </a:solidFill>
          <a:ln w="12700">
            <a:solidFill>
              <a:srgbClr val="FFB547">
                <a:alpha val="45000"/>
              </a:srgbClr>
            </a:solidFill>
            <a:prstDash val="solid"/>
          </a:ln>
        </p:spPr>
      </p:sp>
      <p:sp>
        <p:nvSpPr>
          <p:cNvPr id="17" name="icon tile"/>
          <p:cNvSpPr/>
          <p:nvPr/>
        </p:nvSpPr>
        <p:spPr>
          <a:xfrm>
            <a:off x="6464808" y="2148840"/>
            <a:ext cx="548640" cy="548640"/>
          </a:xfrm>
          <a:prstGeom prst="roundRect">
            <a:avLst>
              <a:gd name="adj" fmla="val 20000"/>
            </a:avLst>
          </a:prstGeom>
          <a:solidFill>
            <a:srgbClr val="FFB547">
              <a:alpha val="18000"/>
            </a:srgbClr>
          </a:solidFill>
          <a:ln w="9525">
            <a:solidFill>
              <a:srgbClr val="FFB547">
                <a:alpha val="45000"/>
              </a:srgbClr>
            </a:solidFill>
            <a:prstDash val="solid"/>
          </a:ln>
        </p:spPr>
      </p:sp>
      <p:pic>
        <p:nvPicPr>
          <p:cNvPr id="18" name="Image 2" descr="Clock icon">    </p:cNvPr>
          <p:cNvPicPr>
            <a:picLocks noChangeAspect="1"/>
          </p:cNvPicPr>
          <p:nvPr/>
        </p:nvPicPr>
        <p:blipFill>
          <a:blip r:embed="rId3"/>
          <a:stretch>
            <a:fillRect/>
          </a:stretch>
        </p:blipFill>
        <p:spPr>
          <a:xfrm>
            <a:off x="6585509" y="2269541"/>
            <a:ext cx="307238" cy="307238"/>
          </a:xfrm>
          <a:prstGeom prst="rect">
            <a:avLst/>
          </a:prstGeom>
        </p:spPr>
      </p:pic>
      <p:sp>
        <p:nvSpPr>
          <p:cNvPr id="19" name="Text 14"/>
          <p:cNvSpPr txBox="1"/>
          <p:nvPr/>
        </p:nvSpPr>
        <p:spPr>
          <a:xfrm>
            <a:off x="7150608" y="2121408"/>
            <a:ext cx="1563624" cy="365760"/>
          </a:xfrm>
          <a:prstGeom prst="rect">
            <a:avLst/>
          </a:prstGeom>
          <a:noFill/>
          <a:ln/>
        </p:spPr>
        <p:txBody>
          <a:bodyPr wrap="square" lIns="0" tIns="0" rIns="0" bIns="0" rtlCol="0" anchor="t"/>
          <a:lstStyle/>
          <a:p>
            <a:pPr indent="0" marL="0">
              <a:buNone/>
            </a:pPr>
            <a:r>
              <a:rPr lang="en-US" sz="2100" b="1" dirty="0">
                <a:solidFill>
                  <a:schemeClr val="bg1"/>
                </a:solidFill>
              </a:rPr>
              <a:t>Chronos</a:t>
            </a:r>
            <a:endParaRPr lang="en-US" sz="2100" dirty="0"/>
          </a:p>
        </p:txBody>
      </p:sp>
      <p:sp>
        <p:nvSpPr>
          <p:cNvPr id="20" name="Text 15"/>
          <p:cNvSpPr txBox="1"/>
          <p:nvPr/>
        </p:nvSpPr>
        <p:spPr>
          <a:xfrm>
            <a:off x="7150608" y="2468880"/>
            <a:ext cx="1563624" cy="256032"/>
          </a:xfrm>
          <a:prstGeom prst="rect">
            <a:avLst/>
          </a:prstGeom>
          <a:noFill/>
          <a:ln/>
        </p:spPr>
        <p:txBody>
          <a:bodyPr wrap="square" lIns="0" tIns="0" rIns="0" bIns="0" rtlCol="0" anchor="t"/>
          <a:lstStyle/>
          <a:p>
            <a:pPr indent="0" marL="0">
              <a:buNone/>
            </a:pPr>
            <a:r>
              <a:rPr lang="en-US" sz="1050" b="1" spc="100" kern="0" dirty="0">
                <a:solidFill>
                  <a:srgbClr val="FFB547"/>
                </a:solidFill>
                <a:latin typeface="Consolas" pitchFamily="34" charset="0"/>
                <a:ea typeface="Consolas" pitchFamily="34" charset="-122"/>
                <a:cs typeface="Consolas" pitchFamily="34" charset="-120"/>
              </a:rPr>
              <a:t>CHANGE FINDER</a:t>
            </a:r>
            <a:endParaRPr lang="en-US" sz="1050" dirty="0"/>
          </a:p>
        </p:txBody>
      </p:sp>
      <p:sp>
        <p:nvSpPr>
          <p:cNvPr id="21" name="Text 16"/>
          <p:cNvSpPr txBox="1"/>
          <p:nvPr/>
        </p:nvSpPr>
        <p:spPr>
          <a:xfrm>
            <a:off x="6464808" y="2880360"/>
            <a:ext cx="2157984" cy="960120"/>
          </a:xfrm>
          <a:prstGeom prst="rect">
            <a:avLst/>
          </a:prstGeom>
          <a:noFill/>
          <a:ln/>
        </p:spPr>
        <p:txBody>
          <a:bodyPr wrap="square" lIns="0" tIns="0" rIns="0" bIns="0" rtlCol="0" anchor="t"/>
          <a:lstStyle/>
          <a:p>
            <a:pPr indent="0" marL="0">
              <a:buNone/>
            </a:pPr>
            <a:r>
              <a:rPr lang="en-US" sz="1350" dirty="0">
                <a:solidFill>
                  <a:schemeClr val="bg2"/>
                </a:solidFill>
              </a:rPr>
              <a:t>Finds the commit or deploy that lines up with the problem.</a:t>
            </a:r>
            <a:endParaRPr lang="en-US" sz="1350" dirty="0"/>
          </a:p>
        </p:txBody>
      </p:sp>
      <p:sp>
        <p:nvSpPr>
          <p:cNvPr id="22" name="Themis card"/>
          <p:cNvSpPr/>
          <p:nvPr/>
        </p:nvSpPr>
        <p:spPr>
          <a:xfrm>
            <a:off x="9079992" y="1920240"/>
            <a:ext cx="2615184" cy="2011680"/>
          </a:xfrm>
          <a:prstGeom prst="roundRect">
            <a:avLst>
              <a:gd name="adj" fmla="val 7273"/>
            </a:avLst>
          </a:prstGeom>
          <a:solidFill>
            <a:srgbClr val="FF5D73">
              <a:alpha val="12000"/>
            </a:srgbClr>
          </a:solidFill>
          <a:ln w="12700">
            <a:solidFill>
              <a:srgbClr val="FF5D73">
                <a:alpha val="45000"/>
              </a:srgbClr>
            </a:solidFill>
            <a:prstDash val="solid"/>
          </a:ln>
        </p:spPr>
      </p:sp>
      <p:sp>
        <p:nvSpPr>
          <p:cNvPr id="23" name="icon tile"/>
          <p:cNvSpPr/>
          <p:nvPr/>
        </p:nvSpPr>
        <p:spPr>
          <a:xfrm>
            <a:off x="9308592" y="2148840"/>
            <a:ext cx="548640" cy="548640"/>
          </a:xfrm>
          <a:prstGeom prst="roundRect">
            <a:avLst>
              <a:gd name="adj" fmla="val 20000"/>
            </a:avLst>
          </a:prstGeom>
          <a:solidFill>
            <a:srgbClr val="FF5D73">
              <a:alpha val="18000"/>
            </a:srgbClr>
          </a:solidFill>
          <a:ln w="9525">
            <a:solidFill>
              <a:srgbClr val="FF5D73">
                <a:alpha val="45000"/>
              </a:srgbClr>
            </a:solidFill>
            <a:prstDash val="solid"/>
          </a:ln>
        </p:spPr>
      </p:sp>
      <p:pic>
        <p:nvPicPr>
          <p:cNvPr id="24" name="Image 3" descr="Shield icon">    </p:cNvPr>
          <p:cNvPicPr>
            <a:picLocks noChangeAspect="1"/>
          </p:cNvPicPr>
          <p:nvPr/>
        </p:nvPicPr>
        <p:blipFill>
          <a:blip r:embed="rId4"/>
          <a:stretch>
            <a:fillRect/>
          </a:stretch>
        </p:blipFill>
        <p:spPr>
          <a:xfrm>
            <a:off x="9429293" y="2269541"/>
            <a:ext cx="307238" cy="307238"/>
          </a:xfrm>
          <a:prstGeom prst="rect">
            <a:avLst/>
          </a:prstGeom>
        </p:spPr>
      </p:pic>
      <p:sp>
        <p:nvSpPr>
          <p:cNvPr id="25" name="Text 19"/>
          <p:cNvSpPr txBox="1"/>
          <p:nvPr/>
        </p:nvSpPr>
        <p:spPr>
          <a:xfrm>
            <a:off x="9994392" y="2121408"/>
            <a:ext cx="1563624" cy="365760"/>
          </a:xfrm>
          <a:prstGeom prst="rect">
            <a:avLst/>
          </a:prstGeom>
          <a:noFill/>
          <a:ln/>
        </p:spPr>
        <p:txBody>
          <a:bodyPr wrap="square" lIns="0" tIns="0" rIns="0" bIns="0" rtlCol="0" anchor="t"/>
          <a:lstStyle/>
          <a:p>
            <a:pPr indent="0" marL="0">
              <a:buNone/>
            </a:pPr>
            <a:r>
              <a:rPr lang="en-US" sz="2100" b="1" dirty="0">
                <a:solidFill>
                  <a:schemeClr val="bg1"/>
                </a:solidFill>
              </a:rPr>
              <a:t>Themis</a:t>
            </a:r>
            <a:endParaRPr lang="en-US" sz="2100" dirty="0"/>
          </a:p>
        </p:txBody>
      </p:sp>
      <p:sp>
        <p:nvSpPr>
          <p:cNvPr id="26" name="Text 20"/>
          <p:cNvSpPr txBox="1"/>
          <p:nvPr/>
        </p:nvSpPr>
        <p:spPr>
          <a:xfrm>
            <a:off x="9994392" y="2468880"/>
            <a:ext cx="1563624" cy="256032"/>
          </a:xfrm>
          <a:prstGeom prst="rect">
            <a:avLst/>
          </a:prstGeom>
          <a:noFill/>
          <a:ln/>
        </p:spPr>
        <p:txBody>
          <a:bodyPr wrap="square" lIns="0" tIns="0" rIns="0" bIns="0" rtlCol="0" anchor="t"/>
          <a:lstStyle/>
          <a:p>
            <a:pPr indent="0" marL="0">
              <a:buNone/>
            </a:pPr>
            <a:r>
              <a:rPr lang="en-US" sz="1050" b="1" spc="100" kern="0" dirty="0">
                <a:solidFill>
                  <a:srgbClr val="FF5D73"/>
                </a:solidFill>
                <a:latin typeface="Consolas" pitchFamily="34" charset="0"/>
                <a:ea typeface="Consolas" pitchFamily="34" charset="-122"/>
                <a:cs typeface="Consolas" pitchFamily="34" charset="-120"/>
              </a:rPr>
              <a:t>FACT CHECKER</a:t>
            </a:r>
            <a:endParaRPr lang="en-US" sz="1050" dirty="0"/>
          </a:p>
        </p:txBody>
      </p:sp>
      <p:sp>
        <p:nvSpPr>
          <p:cNvPr id="27" name="Text 21"/>
          <p:cNvSpPr txBox="1"/>
          <p:nvPr/>
        </p:nvSpPr>
        <p:spPr>
          <a:xfrm>
            <a:off x="9308592" y="2880360"/>
            <a:ext cx="2157984" cy="960120"/>
          </a:xfrm>
          <a:prstGeom prst="rect">
            <a:avLst/>
          </a:prstGeom>
          <a:noFill/>
          <a:ln/>
        </p:spPr>
        <p:txBody>
          <a:bodyPr wrap="square" lIns="0" tIns="0" rIns="0" bIns="0" rtlCol="0" anchor="t"/>
          <a:lstStyle/>
          <a:p>
            <a:pPr indent="0" marL="0">
              <a:buNone/>
            </a:pPr>
            <a:r>
              <a:rPr lang="en-US" sz="1350" dirty="0">
                <a:solidFill>
                  <a:schemeClr val="bg2"/>
                </a:solidFill>
              </a:rPr>
              <a:t>Tries to prove every cause wrong. Only checked evidence counts.</a:t>
            </a:r>
            <a:endParaRPr lang="en-US" sz="1350" dirty="0"/>
          </a:p>
        </p:txBody>
      </p:sp>
      <p:sp>
        <p:nvSpPr>
          <p:cNvPr id="28" name="Hephaestus card"/>
          <p:cNvSpPr/>
          <p:nvPr/>
        </p:nvSpPr>
        <p:spPr>
          <a:xfrm>
            <a:off x="548640" y="4160520"/>
            <a:ext cx="2615184" cy="2011680"/>
          </a:xfrm>
          <a:prstGeom prst="roundRect">
            <a:avLst>
              <a:gd name="adj" fmla="val 7273"/>
            </a:avLst>
          </a:prstGeom>
          <a:solidFill>
            <a:srgbClr val="FF914D">
              <a:alpha val="12000"/>
            </a:srgbClr>
          </a:solidFill>
          <a:ln w="12700">
            <a:solidFill>
              <a:srgbClr val="FF914D">
                <a:alpha val="45000"/>
              </a:srgbClr>
            </a:solidFill>
            <a:prstDash val="solid"/>
          </a:ln>
        </p:spPr>
      </p:sp>
      <p:sp>
        <p:nvSpPr>
          <p:cNvPr id="29" name="icon tile"/>
          <p:cNvSpPr/>
          <p:nvPr/>
        </p:nvSpPr>
        <p:spPr>
          <a:xfrm>
            <a:off x="777240" y="4389120"/>
            <a:ext cx="548640" cy="548640"/>
          </a:xfrm>
          <a:prstGeom prst="roundRect">
            <a:avLst>
              <a:gd name="adj" fmla="val 20000"/>
            </a:avLst>
          </a:prstGeom>
          <a:solidFill>
            <a:srgbClr val="FF914D">
              <a:alpha val="18000"/>
            </a:srgbClr>
          </a:solidFill>
          <a:ln w="9525">
            <a:solidFill>
              <a:srgbClr val="FF914D">
                <a:alpha val="45000"/>
              </a:srgbClr>
            </a:solidFill>
            <a:prstDash val="solid"/>
          </a:ln>
        </p:spPr>
      </p:sp>
      <p:pic>
        <p:nvPicPr>
          <p:cNvPr id="30" name="Image 4" descr="Tool icon">    </p:cNvPr>
          <p:cNvPicPr>
            <a:picLocks noChangeAspect="1"/>
          </p:cNvPicPr>
          <p:nvPr/>
        </p:nvPicPr>
        <p:blipFill>
          <a:blip r:embed="rId5"/>
          <a:stretch>
            <a:fillRect/>
          </a:stretch>
        </p:blipFill>
        <p:spPr>
          <a:xfrm>
            <a:off x="897941" y="4509821"/>
            <a:ext cx="307238" cy="307238"/>
          </a:xfrm>
          <a:prstGeom prst="rect">
            <a:avLst/>
          </a:prstGeom>
        </p:spPr>
      </p:pic>
      <p:sp>
        <p:nvSpPr>
          <p:cNvPr id="31" name="Text 24"/>
          <p:cNvSpPr txBox="1"/>
          <p:nvPr/>
        </p:nvSpPr>
        <p:spPr>
          <a:xfrm>
            <a:off x="1463040" y="4361688"/>
            <a:ext cx="1563624" cy="365760"/>
          </a:xfrm>
          <a:prstGeom prst="rect">
            <a:avLst/>
          </a:prstGeom>
          <a:noFill/>
          <a:ln/>
        </p:spPr>
        <p:txBody>
          <a:bodyPr wrap="square" lIns="0" tIns="0" rIns="0" bIns="0" rtlCol="0" anchor="t"/>
          <a:lstStyle/>
          <a:p>
            <a:pPr indent="0" marL="0">
              <a:buNone/>
            </a:pPr>
            <a:r>
              <a:rPr lang="en-US" sz="2100" b="1" dirty="0">
                <a:solidFill>
                  <a:schemeClr val="bg1"/>
                </a:solidFill>
              </a:rPr>
              <a:t>Hephaestus</a:t>
            </a:r>
            <a:endParaRPr lang="en-US" sz="2100" dirty="0"/>
          </a:p>
        </p:txBody>
      </p:sp>
      <p:sp>
        <p:nvSpPr>
          <p:cNvPr id="32" name="Text 25"/>
          <p:cNvSpPr txBox="1"/>
          <p:nvPr/>
        </p:nvSpPr>
        <p:spPr>
          <a:xfrm>
            <a:off x="1463040" y="4709160"/>
            <a:ext cx="1563624" cy="256032"/>
          </a:xfrm>
          <a:prstGeom prst="rect">
            <a:avLst/>
          </a:prstGeom>
          <a:noFill/>
          <a:ln/>
        </p:spPr>
        <p:txBody>
          <a:bodyPr wrap="square" lIns="0" tIns="0" rIns="0" bIns="0" rtlCol="0" anchor="t"/>
          <a:lstStyle/>
          <a:p>
            <a:pPr indent="0" marL="0">
              <a:buNone/>
            </a:pPr>
            <a:r>
              <a:rPr lang="en-US" sz="1050" b="1" spc="100" kern="0" dirty="0">
                <a:solidFill>
                  <a:srgbClr val="FF914D"/>
                </a:solidFill>
                <a:latin typeface="Consolas" pitchFamily="34" charset="0"/>
                <a:ea typeface="Consolas" pitchFamily="34" charset="-122"/>
                <a:cs typeface="Consolas" pitchFamily="34" charset="-120"/>
              </a:rPr>
              <a:t>FIXER</a:t>
            </a:r>
            <a:endParaRPr lang="en-US" sz="1050" dirty="0"/>
          </a:p>
        </p:txBody>
      </p:sp>
      <p:sp>
        <p:nvSpPr>
          <p:cNvPr id="33" name="Text 26"/>
          <p:cNvSpPr txBox="1"/>
          <p:nvPr/>
        </p:nvSpPr>
        <p:spPr>
          <a:xfrm>
            <a:off x="777240" y="5120640"/>
            <a:ext cx="2157984" cy="960120"/>
          </a:xfrm>
          <a:prstGeom prst="rect">
            <a:avLst/>
          </a:prstGeom>
          <a:noFill/>
          <a:ln/>
        </p:spPr>
        <p:txBody>
          <a:bodyPr wrap="square" lIns="0" tIns="0" rIns="0" bIns="0" rtlCol="0" anchor="t"/>
          <a:lstStyle/>
          <a:p>
            <a:pPr indent="0" marL="0">
              <a:buNone/>
            </a:pPr>
            <a:r>
              <a:rPr lang="en-US" sz="1350" dirty="0">
                <a:solidFill>
                  <a:schemeClr val="bg2"/>
                </a:solidFill>
              </a:rPr>
              <a:t>Writes the smallest fix: a patch, a settings change or a rollback.</a:t>
            </a:r>
            <a:endParaRPr lang="en-US" sz="1350" dirty="0"/>
          </a:p>
        </p:txBody>
      </p:sp>
      <p:sp>
        <p:nvSpPr>
          <p:cNvPr id="34" name="Talos card"/>
          <p:cNvSpPr/>
          <p:nvPr/>
        </p:nvSpPr>
        <p:spPr>
          <a:xfrm>
            <a:off x="3392424" y="4160520"/>
            <a:ext cx="2615184" cy="2011680"/>
          </a:xfrm>
          <a:prstGeom prst="roundRect">
            <a:avLst>
              <a:gd name="adj" fmla="val 7273"/>
            </a:avLst>
          </a:prstGeom>
          <a:solidFill>
            <a:srgbClr val="3EE59A">
              <a:alpha val="12000"/>
            </a:srgbClr>
          </a:solidFill>
          <a:ln w="12700">
            <a:solidFill>
              <a:srgbClr val="3EE59A">
                <a:alpha val="45000"/>
              </a:srgbClr>
            </a:solidFill>
            <a:prstDash val="solid"/>
          </a:ln>
        </p:spPr>
      </p:sp>
      <p:sp>
        <p:nvSpPr>
          <p:cNvPr id="35" name="icon tile"/>
          <p:cNvSpPr/>
          <p:nvPr/>
        </p:nvSpPr>
        <p:spPr>
          <a:xfrm>
            <a:off x="3621024" y="4389120"/>
            <a:ext cx="548640" cy="548640"/>
          </a:xfrm>
          <a:prstGeom prst="roundRect">
            <a:avLst>
              <a:gd name="adj" fmla="val 20000"/>
            </a:avLst>
          </a:prstGeom>
          <a:solidFill>
            <a:srgbClr val="3EE59A">
              <a:alpha val="18000"/>
            </a:srgbClr>
          </a:solidFill>
          <a:ln w="9525">
            <a:solidFill>
              <a:srgbClr val="3EE59A">
                <a:alpha val="45000"/>
              </a:srgbClr>
            </a:solidFill>
            <a:prstDash val="solid"/>
          </a:ln>
        </p:spPr>
      </p:sp>
      <p:pic>
        <p:nvPicPr>
          <p:cNvPr id="36" name="Image 5" descr="Thermometer icon">    </p:cNvPr>
          <p:cNvPicPr>
            <a:picLocks noChangeAspect="1"/>
          </p:cNvPicPr>
          <p:nvPr/>
        </p:nvPicPr>
        <p:blipFill>
          <a:blip r:embed="rId6"/>
          <a:stretch>
            <a:fillRect/>
          </a:stretch>
        </p:blipFill>
        <p:spPr>
          <a:xfrm>
            <a:off x="3741725" y="4509821"/>
            <a:ext cx="307238" cy="307238"/>
          </a:xfrm>
          <a:prstGeom prst="rect">
            <a:avLst/>
          </a:prstGeom>
        </p:spPr>
      </p:pic>
      <p:sp>
        <p:nvSpPr>
          <p:cNvPr id="37" name="Text 29"/>
          <p:cNvSpPr txBox="1"/>
          <p:nvPr/>
        </p:nvSpPr>
        <p:spPr>
          <a:xfrm>
            <a:off x="4306824" y="4361688"/>
            <a:ext cx="1563624" cy="365760"/>
          </a:xfrm>
          <a:prstGeom prst="rect">
            <a:avLst/>
          </a:prstGeom>
          <a:noFill/>
          <a:ln/>
        </p:spPr>
        <p:txBody>
          <a:bodyPr wrap="square" lIns="0" tIns="0" rIns="0" bIns="0" rtlCol="0" anchor="t"/>
          <a:lstStyle/>
          <a:p>
            <a:pPr indent="0" marL="0">
              <a:buNone/>
            </a:pPr>
            <a:r>
              <a:rPr lang="en-US" sz="2100" b="1" dirty="0">
                <a:solidFill>
                  <a:schemeClr val="bg1"/>
                </a:solidFill>
              </a:rPr>
              <a:t>Talos</a:t>
            </a:r>
            <a:endParaRPr lang="en-US" sz="2100" dirty="0"/>
          </a:p>
        </p:txBody>
      </p:sp>
      <p:sp>
        <p:nvSpPr>
          <p:cNvPr id="38" name="Text 30"/>
          <p:cNvSpPr txBox="1"/>
          <p:nvPr/>
        </p:nvSpPr>
        <p:spPr>
          <a:xfrm>
            <a:off x="4306824" y="4709160"/>
            <a:ext cx="1563624" cy="256032"/>
          </a:xfrm>
          <a:prstGeom prst="rect">
            <a:avLst/>
          </a:prstGeom>
          <a:noFill/>
          <a:ln/>
        </p:spPr>
        <p:txBody>
          <a:bodyPr wrap="square" lIns="0" tIns="0" rIns="0" bIns="0" rtlCol="0" anchor="t"/>
          <a:lstStyle/>
          <a:p>
            <a:pPr indent="0" marL="0">
              <a:buNone/>
            </a:pPr>
            <a:r>
              <a:rPr lang="en-US" sz="1050" b="1" spc="100" kern="0" dirty="0">
                <a:solidFill>
                  <a:srgbClr val="3EE59A"/>
                </a:solidFill>
                <a:latin typeface="Consolas" pitchFamily="34" charset="0"/>
                <a:ea typeface="Consolas" pitchFamily="34" charset="-122"/>
                <a:cs typeface="Consolas" pitchFamily="34" charset="-120"/>
              </a:rPr>
              <a:t>TEST LAB</a:t>
            </a:r>
            <a:endParaRPr lang="en-US" sz="1050" dirty="0"/>
          </a:p>
        </p:txBody>
      </p:sp>
      <p:sp>
        <p:nvSpPr>
          <p:cNvPr id="39" name="Text 31"/>
          <p:cNvSpPr txBox="1"/>
          <p:nvPr/>
        </p:nvSpPr>
        <p:spPr>
          <a:xfrm>
            <a:off x="3621024" y="5120640"/>
            <a:ext cx="2157984" cy="960120"/>
          </a:xfrm>
          <a:prstGeom prst="rect">
            <a:avLst/>
          </a:prstGeom>
          <a:noFill/>
          <a:ln/>
        </p:spPr>
        <p:txBody>
          <a:bodyPr wrap="square" lIns="0" tIns="0" rIns="0" bIns="0" rtlCol="0" anchor="t"/>
          <a:lstStyle/>
          <a:p>
            <a:pPr indent="0" marL="0">
              <a:buNone/>
            </a:pPr>
            <a:r>
              <a:rPr lang="en-US" sz="1350" dirty="0">
                <a:solidFill>
                  <a:schemeClr val="bg2"/>
                </a:solidFill>
              </a:rPr>
              <a:t>Reproduces the failure on a safe copy, then proves the fix works.</a:t>
            </a:r>
            <a:endParaRPr lang="en-US" sz="1350" dirty="0"/>
          </a:p>
        </p:txBody>
      </p:sp>
      <p:sp>
        <p:nvSpPr>
          <p:cNvPr id="40" name="Clio card"/>
          <p:cNvSpPr/>
          <p:nvPr/>
        </p:nvSpPr>
        <p:spPr>
          <a:xfrm>
            <a:off x="6236208" y="4160520"/>
            <a:ext cx="2615184" cy="2011680"/>
          </a:xfrm>
          <a:prstGeom prst="roundRect">
            <a:avLst>
              <a:gd name="adj" fmla="val 7273"/>
            </a:avLst>
          </a:prstGeom>
          <a:solidFill>
            <a:srgbClr val="6EA0FF">
              <a:alpha val="12000"/>
            </a:srgbClr>
          </a:solidFill>
          <a:ln w="12700">
            <a:solidFill>
              <a:srgbClr val="6EA0FF">
                <a:alpha val="45000"/>
              </a:srgbClr>
            </a:solidFill>
            <a:prstDash val="solid"/>
          </a:ln>
        </p:spPr>
      </p:sp>
      <p:sp>
        <p:nvSpPr>
          <p:cNvPr id="41" name="icon tile"/>
          <p:cNvSpPr/>
          <p:nvPr/>
        </p:nvSpPr>
        <p:spPr>
          <a:xfrm>
            <a:off x="6464808" y="4389120"/>
            <a:ext cx="548640" cy="548640"/>
          </a:xfrm>
          <a:prstGeom prst="roundRect">
            <a:avLst>
              <a:gd name="adj" fmla="val 20000"/>
            </a:avLst>
          </a:prstGeom>
          <a:solidFill>
            <a:srgbClr val="6EA0FF">
              <a:alpha val="18000"/>
            </a:srgbClr>
          </a:solidFill>
          <a:ln w="9525">
            <a:solidFill>
              <a:srgbClr val="6EA0FF">
                <a:alpha val="45000"/>
              </a:srgbClr>
            </a:solidFill>
            <a:prstDash val="solid"/>
          </a:ln>
        </p:spPr>
      </p:sp>
      <p:pic>
        <p:nvPicPr>
          <p:cNvPr id="42" name="Image 6" descr="Edit3 icon">    </p:cNvPr>
          <p:cNvPicPr>
            <a:picLocks noChangeAspect="1"/>
          </p:cNvPicPr>
          <p:nvPr/>
        </p:nvPicPr>
        <p:blipFill>
          <a:blip r:embed="rId7"/>
          <a:stretch>
            <a:fillRect/>
          </a:stretch>
        </p:blipFill>
        <p:spPr>
          <a:xfrm>
            <a:off x="6585509" y="4509821"/>
            <a:ext cx="307238" cy="307238"/>
          </a:xfrm>
          <a:prstGeom prst="rect">
            <a:avLst/>
          </a:prstGeom>
        </p:spPr>
      </p:pic>
      <p:sp>
        <p:nvSpPr>
          <p:cNvPr id="43" name="Text 34"/>
          <p:cNvSpPr txBox="1"/>
          <p:nvPr/>
        </p:nvSpPr>
        <p:spPr>
          <a:xfrm>
            <a:off x="7150608" y="4361688"/>
            <a:ext cx="1563624" cy="365760"/>
          </a:xfrm>
          <a:prstGeom prst="rect">
            <a:avLst/>
          </a:prstGeom>
          <a:noFill/>
          <a:ln/>
        </p:spPr>
        <p:txBody>
          <a:bodyPr wrap="square" lIns="0" tIns="0" rIns="0" bIns="0" rtlCol="0" anchor="t"/>
          <a:lstStyle/>
          <a:p>
            <a:pPr indent="0" marL="0">
              <a:buNone/>
            </a:pPr>
            <a:r>
              <a:rPr lang="en-US" sz="2100" b="1" dirty="0">
                <a:solidFill>
                  <a:schemeClr val="bg1"/>
                </a:solidFill>
              </a:rPr>
              <a:t>Clio</a:t>
            </a:r>
            <a:endParaRPr lang="en-US" sz="2100" dirty="0"/>
          </a:p>
        </p:txBody>
      </p:sp>
      <p:sp>
        <p:nvSpPr>
          <p:cNvPr id="44" name="Text 35"/>
          <p:cNvSpPr txBox="1"/>
          <p:nvPr/>
        </p:nvSpPr>
        <p:spPr>
          <a:xfrm>
            <a:off x="7150608" y="4709160"/>
            <a:ext cx="1563624" cy="256032"/>
          </a:xfrm>
          <a:prstGeom prst="rect">
            <a:avLst/>
          </a:prstGeom>
          <a:noFill/>
          <a:ln/>
        </p:spPr>
        <p:txBody>
          <a:bodyPr wrap="square" lIns="0" tIns="0" rIns="0" bIns="0" rtlCol="0" anchor="t"/>
          <a:lstStyle/>
          <a:p>
            <a:pPr indent="0" marL="0">
              <a:buNone/>
            </a:pPr>
            <a:r>
              <a:rPr lang="en-US" sz="1050" b="1" spc="100" kern="0" dirty="0">
                <a:solidFill>
                  <a:srgbClr val="6EA0FF"/>
                </a:solidFill>
                <a:latin typeface="Consolas" pitchFamily="34" charset="0"/>
                <a:ea typeface="Consolas" pitchFamily="34" charset="-122"/>
                <a:cs typeface="Consolas" pitchFamily="34" charset="-120"/>
              </a:rPr>
              <a:t>WRITER</a:t>
            </a:r>
            <a:endParaRPr lang="en-US" sz="1050" dirty="0"/>
          </a:p>
        </p:txBody>
      </p:sp>
      <p:sp>
        <p:nvSpPr>
          <p:cNvPr id="45" name="Text 36"/>
          <p:cNvSpPr txBox="1"/>
          <p:nvPr/>
        </p:nvSpPr>
        <p:spPr>
          <a:xfrm>
            <a:off x="6464808" y="5120640"/>
            <a:ext cx="2157984" cy="960120"/>
          </a:xfrm>
          <a:prstGeom prst="rect">
            <a:avLst/>
          </a:prstGeom>
          <a:noFill/>
          <a:ln/>
        </p:spPr>
        <p:txBody>
          <a:bodyPr wrap="square" lIns="0" tIns="0" rIns="0" bIns="0" rtlCol="0" anchor="t"/>
          <a:lstStyle/>
          <a:p>
            <a:pPr indent="0" marL="0">
              <a:buNone/>
            </a:pPr>
            <a:r>
              <a:rPr lang="en-US" sz="1350" dirty="0">
                <a:solidFill>
                  <a:schemeClr val="bg2"/>
                </a:solidFill>
              </a:rPr>
              <a:t>Writes the report for engineers and managers: what, why, cost, saved.</a:t>
            </a:r>
            <a:endParaRPr lang="en-US" sz="1350" dirty="0"/>
          </a:p>
        </p:txBody>
      </p:sp>
      <p:sp>
        <p:nvSpPr>
          <p:cNvPr id="46" name="You card"/>
          <p:cNvSpPr/>
          <p:nvPr/>
        </p:nvSpPr>
        <p:spPr>
          <a:xfrm>
            <a:off x="9079992" y="4160520"/>
            <a:ext cx="2615184" cy="2011680"/>
          </a:xfrm>
          <a:prstGeom prst="roundRect">
            <a:avLst>
              <a:gd name="adj" fmla="val 7273"/>
            </a:avLst>
          </a:prstGeom>
          <a:solidFill>
            <a:srgbClr val="3EE59A">
              <a:alpha val="12000"/>
            </a:srgbClr>
          </a:solidFill>
          <a:ln w="12700">
            <a:solidFill>
              <a:srgbClr val="3EE59A">
                <a:alpha val="45000"/>
              </a:srgbClr>
            </a:solidFill>
            <a:prstDash val="dash"/>
          </a:ln>
        </p:spPr>
      </p:sp>
      <p:sp>
        <p:nvSpPr>
          <p:cNvPr id="47" name="icon tile"/>
          <p:cNvSpPr/>
          <p:nvPr/>
        </p:nvSpPr>
        <p:spPr>
          <a:xfrm>
            <a:off x="9308592" y="4389120"/>
            <a:ext cx="548640" cy="548640"/>
          </a:xfrm>
          <a:prstGeom prst="roundRect">
            <a:avLst>
              <a:gd name="adj" fmla="val 20000"/>
            </a:avLst>
          </a:prstGeom>
          <a:solidFill>
            <a:srgbClr val="3EE59A">
              <a:alpha val="18000"/>
            </a:srgbClr>
          </a:solidFill>
          <a:ln w="9525">
            <a:solidFill>
              <a:srgbClr val="3EE59A">
                <a:alpha val="45000"/>
              </a:srgbClr>
            </a:solidFill>
            <a:prstDash val="solid"/>
          </a:ln>
        </p:spPr>
      </p:sp>
      <p:pic>
        <p:nvPicPr>
          <p:cNvPr id="48" name="Image 7" descr="UserCheck icon">    </p:cNvPr>
          <p:cNvPicPr>
            <a:picLocks noChangeAspect="1"/>
          </p:cNvPicPr>
          <p:nvPr/>
        </p:nvPicPr>
        <p:blipFill>
          <a:blip r:embed="rId8"/>
          <a:stretch>
            <a:fillRect/>
          </a:stretch>
        </p:blipFill>
        <p:spPr>
          <a:xfrm>
            <a:off x="9429293" y="4509821"/>
            <a:ext cx="307238" cy="307238"/>
          </a:xfrm>
          <a:prstGeom prst="rect">
            <a:avLst/>
          </a:prstGeom>
        </p:spPr>
      </p:pic>
      <p:sp>
        <p:nvSpPr>
          <p:cNvPr id="49" name="Text 39"/>
          <p:cNvSpPr txBox="1"/>
          <p:nvPr/>
        </p:nvSpPr>
        <p:spPr>
          <a:xfrm>
            <a:off x="9994392" y="4361688"/>
            <a:ext cx="1563624" cy="365760"/>
          </a:xfrm>
          <a:prstGeom prst="rect">
            <a:avLst/>
          </a:prstGeom>
          <a:noFill/>
          <a:ln/>
        </p:spPr>
        <p:txBody>
          <a:bodyPr wrap="square" lIns="0" tIns="0" rIns="0" bIns="0" rtlCol="0" anchor="t"/>
          <a:lstStyle/>
          <a:p>
            <a:pPr indent="0" marL="0">
              <a:buNone/>
            </a:pPr>
            <a:r>
              <a:rPr lang="en-US" sz="2100" b="1" dirty="0">
                <a:solidFill>
                  <a:schemeClr val="bg1"/>
                </a:solidFill>
              </a:rPr>
              <a:t>You</a:t>
            </a:r>
            <a:endParaRPr lang="en-US" sz="2100" dirty="0"/>
          </a:p>
        </p:txBody>
      </p:sp>
      <p:sp>
        <p:nvSpPr>
          <p:cNvPr id="50" name="Text 40"/>
          <p:cNvSpPr txBox="1"/>
          <p:nvPr/>
        </p:nvSpPr>
        <p:spPr>
          <a:xfrm>
            <a:off x="9994392" y="4709160"/>
            <a:ext cx="1563624" cy="256032"/>
          </a:xfrm>
          <a:prstGeom prst="rect">
            <a:avLst/>
          </a:prstGeom>
          <a:noFill/>
          <a:ln/>
        </p:spPr>
        <p:txBody>
          <a:bodyPr wrap="square" lIns="0" tIns="0" rIns="0" bIns="0" rtlCol="0" anchor="t"/>
          <a:lstStyle/>
          <a:p>
            <a:pPr indent="0" marL="0">
              <a:buNone/>
            </a:pPr>
            <a:r>
              <a:rPr lang="en-US" sz="1050" b="1" spc="100" kern="0" dirty="0">
                <a:solidFill>
                  <a:srgbClr val="3EE59A"/>
                </a:solidFill>
                <a:latin typeface="Consolas" pitchFamily="34" charset="0"/>
                <a:ea typeface="Consolas" pitchFamily="34" charset="-122"/>
                <a:cs typeface="Consolas" pitchFamily="34" charset="-120"/>
              </a:rPr>
              <a:t>APPROVER</a:t>
            </a:r>
            <a:endParaRPr lang="en-US" sz="1050" dirty="0"/>
          </a:p>
        </p:txBody>
      </p:sp>
      <p:sp>
        <p:nvSpPr>
          <p:cNvPr id="51" name="Text 41"/>
          <p:cNvSpPr txBox="1"/>
          <p:nvPr/>
        </p:nvSpPr>
        <p:spPr>
          <a:xfrm>
            <a:off x="9308592" y="5120640"/>
            <a:ext cx="2157984" cy="960120"/>
          </a:xfrm>
          <a:prstGeom prst="rect">
            <a:avLst/>
          </a:prstGeom>
          <a:noFill/>
          <a:ln/>
        </p:spPr>
        <p:txBody>
          <a:bodyPr wrap="square" lIns="0" tIns="0" rIns="0" bIns="0" rtlCol="0" anchor="t"/>
          <a:lstStyle/>
          <a:p>
            <a:pPr indent="0" marL="0">
              <a:buNone/>
            </a:pPr>
            <a:r>
              <a:rPr lang="en-US" sz="1350" dirty="0">
                <a:solidFill>
                  <a:schemeClr val="bg2"/>
                </a:solidFill>
              </a:rPr>
              <a:t>The only one who can ship a change. Argus waits for you.</a:t>
            </a:r>
            <a:endParaRPr lang="en-US" sz="135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FEATURE · ADVERSARIAL VERIFICATION</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Guesses are cheap. Argus tries to kill them</a:t>
            </a:r>
            <a:endParaRPr lang="en-US" sz="3600" dirty="0"/>
          </a:p>
        </p:txBody>
      </p:sp>
      <p:sp>
        <p:nvSpPr>
          <p:cNvPr id="4" name="terminal"/>
          <p:cNvSpPr/>
          <p:nvPr/>
        </p:nvSpPr>
        <p:spPr>
          <a:xfrm>
            <a:off x="548640" y="1965960"/>
            <a:ext cx="5760720" cy="3337560"/>
          </a:xfrm>
          <a:prstGeom prst="roundRect">
            <a:avLst>
              <a:gd name="adj" fmla="val 3836"/>
            </a:avLst>
          </a:prstGeom>
          <a:solidFill>
            <a:srgbClr val="05050B"/>
          </a:solidFill>
          <a:ln w="12700">
            <a:solidFill>
              <a:srgbClr val="34334F"/>
            </a:solidFill>
            <a:prstDash val="solid"/>
          </a:ln>
        </p:spPr>
      </p:sp>
      <p:sp>
        <p:nvSpPr>
          <p:cNvPr id="5" name="window dot"/>
          <p:cNvSpPr/>
          <p:nvPr/>
        </p:nvSpPr>
        <p:spPr>
          <a:xfrm>
            <a:off x="777240" y="2148840"/>
            <a:ext cx="118872" cy="118872"/>
          </a:xfrm>
          <a:prstGeom prst="ellipse">
            <a:avLst/>
          </a:prstGeom>
          <a:solidFill>
            <a:srgbClr val="FF5F57"/>
          </a:solidFill>
          <a:ln/>
        </p:spPr>
      </p:sp>
      <p:sp>
        <p:nvSpPr>
          <p:cNvPr id="6" name="window dot"/>
          <p:cNvSpPr/>
          <p:nvPr/>
        </p:nvSpPr>
        <p:spPr>
          <a:xfrm>
            <a:off x="978408" y="2148840"/>
            <a:ext cx="118872" cy="118872"/>
          </a:xfrm>
          <a:prstGeom prst="ellipse">
            <a:avLst/>
          </a:prstGeom>
          <a:solidFill>
            <a:srgbClr val="FEBC2E"/>
          </a:solidFill>
          <a:ln/>
        </p:spPr>
      </p:sp>
      <p:sp>
        <p:nvSpPr>
          <p:cNvPr id="7" name="window dot"/>
          <p:cNvSpPr/>
          <p:nvPr/>
        </p:nvSpPr>
        <p:spPr>
          <a:xfrm>
            <a:off x="1179576" y="2148840"/>
            <a:ext cx="118872" cy="118872"/>
          </a:xfrm>
          <a:prstGeom prst="ellipse">
            <a:avLst/>
          </a:prstGeom>
          <a:solidFill>
            <a:srgbClr val="28C840"/>
          </a:solidFill>
          <a:ln/>
        </p:spPr>
      </p:sp>
      <p:sp>
        <p:nvSpPr>
          <p:cNvPr id="8" name="Text 6"/>
          <p:cNvSpPr txBox="1"/>
          <p:nvPr/>
        </p:nvSpPr>
        <p:spPr>
          <a:xfrm>
            <a:off x="1463040" y="2075688"/>
            <a:ext cx="4663440" cy="274320"/>
          </a:xfrm>
          <a:prstGeom prst="rect">
            <a:avLst/>
          </a:prstGeom>
          <a:noFill/>
          <a:ln/>
        </p:spPr>
        <p:txBody>
          <a:bodyPr wrap="square" lIns="0" tIns="0" rIns="0" bIns="0" rtlCol="0" anchor="ctr"/>
          <a:lstStyle/>
          <a:p>
            <a:pPr indent="0" marL="0">
              <a:buNone/>
            </a:pPr>
            <a:r>
              <a:rPr lang="en-US" sz="1050" dirty="0">
                <a:solidFill>
                  <a:srgbClr val="7A7898"/>
                </a:solidFill>
                <a:latin typeface="Consolas" pitchFamily="34" charset="0"/>
                <a:ea typeface="Consolas" pitchFamily="34" charset="-122"/>
                <a:cs typeface="Consolas" pitchFamily="34" charset="-120"/>
              </a:rPr>
              <a:t>reasoning trace (illustrative)</a:t>
            </a:r>
            <a:endParaRPr lang="en-US" sz="1050" dirty="0"/>
          </a:p>
        </p:txBody>
      </p:sp>
      <p:sp>
        <p:nvSpPr>
          <p:cNvPr id="9" name="terminal divider"/>
          <p:cNvSpPr/>
          <p:nvPr/>
        </p:nvSpPr>
        <p:spPr>
          <a:xfrm>
            <a:off x="548640" y="2441448"/>
            <a:ext cx="5760720" cy="0"/>
          </a:xfrm>
          <a:prstGeom prst="line">
            <a:avLst/>
          </a:prstGeom>
          <a:noFill/>
          <a:ln w="9525">
            <a:solidFill>
              <a:srgbClr val="22213A"/>
            </a:solidFill>
            <a:prstDash val="solid"/>
          </a:ln>
        </p:spPr>
      </p:sp>
      <p:sp>
        <p:nvSpPr>
          <p:cNvPr id="10" name="Text 8"/>
          <p:cNvSpPr txBox="1"/>
          <p:nvPr/>
        </p:nvSpPr>
        <p:spPr>
          <a:xfrm>
            <a:off x="822960" y="2606040"/>
            <a:ext cx="5212080" cy="2560320"/>
          </a:xfrm>
          <a:prstGeom prst="rect">
            <a:avLst/>
          </a:prstGeom>
          <a:noFill/>
          <a:ln/>
        </p:spPr>
        <p:txBody>
          <a:bodyPr wrap="square" lIns="0" tIns="0" rIns="0" bIns="0" rtlCol="0" anchor="t"/>
          <a:lstStyle/>
          <a:p>
            <a:pPr indent="0" marL="0">
              <a:lnSpc>
                <a:spcPct val="125000"/>
              </a:lnSpc>
              <a:buNone/>
            </a:pPr>
            <a:r>
              <a:rPr lang="en-US" sz="1250" dirty="0">
                <a:solidFill>
                  <a:srgbClr val="CFCDE8"/>
                </a:solidFill>
                <a:latin typeface="Consolas" pitchFamily="34" charset="0"/>
                <a:ea typeface="Consolas" pitchFamily="34" charset="-122"/>
                <a:cs typeface="Consolas" pitchFamily="34" charset="-120"/>
              </a:rPr>
              <a:t>Theia    claim #1 "database overloaded"</a:t>
            </a:r>
            <a:endParaRPr lang="en-US" sz="1250" dirty="0"/>
          </a:p>
          <a:p>
            <a:pPr indent="0" marL="0">
              <a:lnSpc>
                <a:spcPct val="125000"/>
              </a:lnSpc>
              <a:buNone/>
            </a:pPr>
            <a:r>
              <a:rPr lang="en-US" sz="1250" b="1" dirty="0">
                <a:solidFill>
                  <a:srgbClr val="FF5D73"/>
                </a:solidFill>
                <a:latin typeface="Consolas" pitchFamily="34" charset="0"/>
                <a:ea typeface="Consolas" pitchFamily="34" charset="-122"/>
                <a:cs typeface="Consolas" pitchFamily="34" charset="-120"/>
              </a:rPr>
              <a:t>Themis   REFUTED  db.log:212 cpu 31%, normal</a:t>
            </a:r>
            <a:endParaRPr lang="en-US" sz="1250" dirty="0"/>
          </a:p>
          <a:p>
            <a:pPr indent="0" marL="0">
              <a:lnSpc>
                <a:spcPct val="125000"/>
              </a:lnSpc>
              <a:buNone/>
            </a:pPr>
            <a:r>
              <a:rPr lang="en-US" sz="1250" dirty="0">
                <a:solidFill>
                  <a:srgbClr val="8B7CFF"/>
                </a:solidFill>
                <a:latin typeface="Consolas" pitchFamily="34" charset="0"/>
                <a:ea typeface="Consolas" pitchFamily="34" charset="-122"/>
                <a:cs typeface="Consolas" pitchFamily="34" charset="-120"/>
              </a:rPr>
              <a:t>Athena   re-plan: changes before 14:07</a:t>
            </a:r>
            <a:endParaRPr lang="en-US" sz="1250" dirty="0"/>
          </a:p>
          <a:p>
            <a:pPr indent="0" marL="0">
              <a:lnSpc>
                <a:spcPct val="125000"/>
              </a:lnSpc>
              <a:buNone/>
            </a:pPr>
            <a:r>
              <a:rPr lang="en-US" sz="1250" dirty="0">
                <a:solidFill>
                  <a:srgbClr val="FFB547"/>
                </a:solidFill>
                <a:latin typeface="Consolas" pitchFamily="34" charset="0"/>
                <a:ea typeface="Consolas" pitchFamily="34" charset="-122"/>
                <a:cs typeface="Consolas" pitchFamily="34" charset="-120"/>
              </a:rPr>
              <a:t>Chronos  suspect 6c95fcb "return early"</a:t>
            </a:r>
            <a:endParaRPr lang="en-US" sz="1250" dirty="0"/>
          </a:p>
          <a:p>
            <a:pPr indent="0" marL="0">
              <a:lnSpc>
                <a:spcPct val="125000"/>
              </a:lnSpc>
              <a:buNone/>
            </a:pPr>
            <a:r>
              <a:rPr lang="en-US" sz="1250" dirty="0">
                <a:solidFill>
                  <a:srgbClr val="CFCDE8"/>
                </a:solidFill>
                <a:latin typeface="Consolas" pitchFamily="34" charset="0"/>
                <a:ea typeface="Consolas" pitchFamily="34" charset="-122"/>
                <a:cs typeface="Consolas" pitchFamily="34" charset="-120"/>
              </a:rPr>
              <a:t>Theia    claim #2 "skips pool.release()"</a:t>
            </a:r>
            <a:endParaRPr lang="en-US" sz="1250" dirty="0"/>
          </a:p>
          <a:p>
            <a:pPr indent="0" marL="0">
              <a:lnSpc>
                <a:spcPct val="125000"/>
              </a:lnSpc>
              <a:buNone/>
            </a:pPr>
            <a:r>
              <a:rPr lang="en-US" sz="1250" b="1" dirty="0">
                <a:solidFill>
                  <a:srgbClr val="3EE59A"/>
                </a:solidFill>
                <a:latin typeface="Consolas" pitchFamily="34" charset="0"/>
                <a:ea typeface="Consolas" pitchFamily="34" charset="-122"/>
                <a:cs typeface="Consolas" pitchFamily="34" charset="-120"/>
              </a:rPr>
              <a:t>Themis   SUPPORTED checkout.py:48</a:t>
            </a:r>
            <a:endParaRPr lang="en-US" sz="1250" dirty="0"/>
          </a:p>
          <a:p>
            <a:pPr indent="0" marL="0">
              <a:lnSpc>
                <a:spcPct val="125000"/>
              </a:lnSpc>
              <a:buNone/>
            </a:pPr>
            <a:r>
              <a:rPr lang="en-US" sz="1250" dirty="0">
                <a:solidFill>
                  <a:srgbClr val="FF914D"/>
                </a:solidFill>
                <a:latin typeface="Consolas" pitchFamily="34" charset="0"/>
                <a:ea typeface="Consolas" pitchFamily="34" charset="-122"/>
                <a:cs typeface="Consolas" pitchFamily="34" charset="-120"/>
              </a:rPr>
              <a:t>Hephaestus  patch: release in finally</a:t>
            </a:r>
            <a:endParaRPr lang="en-US" sz="1250" dirty="0"/>
          </a:p>
          <a:p>
            <a:pPr indent="0" marL="0">
              <a:lnSpc>
                <a:spcPct val="125000"/>
              </a:lnSpc>
              <a:buNone/>
            </a:pPr>
            <a:r>
              <a:rPr lang="en-US" sz="1250" dirty="0">
                <a:solidFill>
                  <a:srgbClr val="FF5D73"/>
                </a:solidFill>
                <a:latin typeface="Consolas" pitchFamily="34" charset="0"/>
                <a:ea typeface="Consolas" pitchFamily="34" charset="-122"/>
                <a:cs typeface="Consolas" pitchFamily="34" charset="-120"/>
              </a:rPr>
              <a:t>Talos    before: pool exhausted</a:t>
            </a:r>
            <a:endParaRPr lang="en-US" sz="1250" dirty="0"/>
          </a:p>
          <a:p>
            <a:pPr indent="0" marL="0">
              <a:lnSpc>
                <a:spcPct val="125000"/>
              </a:lnSpc>
              <a:buNone/>
            </a:pPr>
            <a:r>
              <a:rPr lang="en-US" sz="1250" dirty="0">
                <a:solidFill>
                  <a:srgbClr val="3EE59A"/>
                </a:solidFill>
                <a:latin typeface="Consolas" pitchFamily="34" charset="0"/>
                <a:ea typeface="Consolas" pitchFamily="34" charset="-122"/>
                <a:cs typeface="Consolas" pitchFamily="34" charset="-120"/>
              </a:rPr>
              <a:t>         after:  healthy</a:t>
            </a:r>
            <a:endParaRPr lang="en-US" sz="1250" dirty="0"/>
          </a:p>
        </p:txBody>
      </p:sp>
      <p:sp>
        <p:nvSpPr>
          <p:cNvPr id="11" name="tick"/>
          <p:cNvSpPr/>
          <p:nvPr/>
        </p:nvSpPr>
        <p:spPr>
          <a:xfrm>
            <a:off x="6720840" y="2139696"/>
            <a:ext cx="274320" cy="274320"/>
          </a:xfrm>
          <a:prstGeom prst="roundRect">
            <a:avLst>
              <a:gd name="adj" fmla="val 23333"/>
            </a:avLst>
          </a:prstGeom>
          <a:solidFill>
            <a:srgbClr val="3EE59A">
              <a:alpha val="18000"/>
            </a:srgbClr>
          </a:solidFill>
          <a:ln/>
        </p:spPr>
      </p:sp>
      <p:sp>
        <p:nvSpPr>
          <p:cNvPr id="12" name="Text 10"/>
          <p:cNvSpPr txBox="1"/>
          <p:nvPr/>
        </p:nvSpPr>
        <p:spPr>
          <a:xfrm>
            <a:off x="6720840" y="2139696"/>
            <a:ext cx="274320" cy="274320"/>
          </a:xfrm>
          <a:prstGeom prst="rect">
            <a:avLst/>
          </a:prstGeom>
          <a:noFill/>
          <a:ln/>
        </p:spPr>
        <p:txBody>
          <a:bodyPr wrap="square" lIns="0" tIns="0" rIns="0" bIns="0" rtlCol="0" anchor="ctr"/>
          <a:lstStyle/>
          <a:p>
            <a:pPr algn="ctr" indent="0" marL="0">
              <a:buNone/>
            </a:pPr>
            <a:r>
              <a:rPr lang="en-US" sz="1300" b="1" dirty="0">
                <a:solidFill>
                  <a:srgbClr val="3EE59A"/>
                </a:solidFill>
              </a:rPr>
              <a:t>✓</a:t>
            </a:r>
            <a:endParaRPr lang="en-US" sz="1300" dirty="0"/>
          </a:p>
        </p:txBody>
      </p:sp>
      <p:sp>
        <p:nvSpPr>
          <p:cNvPr id="13" name="Text 11"/>
          <p:cNvSpPr txBox="1"/>
          <p:nvPr/>
        </p:nvSpPr>
        <p:spPr>
          <a:xfrm>
            <a:off x="7159752" y="2103120"/>
            <a:ext cx="4480560" cy="886968"/>
          </a:xfrm>
          <a:prstGeom prst="rect">
            <a:avLst/>
          </a:prstGeom>
          <a:noFill/>
          <a:ln/>
        </p:spPr>
        <p:txBody>
          <a:bodyPr wrap="square" lIns="0" tIns="0" rIns="0" bIns="0" rtlCol="0" anchor="t"/>
          <a:lstStyle/>
          <a:p>
            <a:pPr indent="0" marL="0">
              <a:buNone/>
            </a:pPr>
            <a:r>
              <a:rPr lang="en-US" sz="1500" b="1" dirty="0">
                <a:solidFill>
                  <a:schemeClr val="bg1"/>
                </a:solidFill>
              </a:rPr>
              <a:t>A separate fact-checker </a:t>
            </a:r>
            <a:pPr indent="0" marL="0">
              <a:buNone/>
            </a:pPr>
            <a:r>
              <a:rPr lang="en-US" sz="1500" dirty="0">
                <a:solidFill>
                  <a:schemeClr val="bg2"/>
                </a:solidFill>
              </a:rPr>
              <a:t>with its own context attacks each claim and must cite evidence to rule.</a:t>
            </a:r>
            <a:endParaRPr lang="en-US" sz="1500" dirty="0"/>
          </a:p>
        </p:txBody>
      </p:sp>
      <p:sp>
        <p:nvSpPr>
          <p:cNvPr id="14" name="tick"/>
          <p:cNvSpPr/>
          <p:nvPr/>
        </p:nvSpPr>
        <p:spPr>
          <a:xfrm>
            <a:off x="6720840" y="3099816"/>
            <a:ext cx="274320" cy="274320"/>
          </a:xfrm>
          <a:prstGeom prst="roundRect">
            <a:avLst>
              <a:gd name="adj" fmla="val 23333"/>
            </a:avLst>
          </a:prstGeom>
          <a:solidFill>
            <a:srgbClr val="3EE59A">
              <a:alpha val="18000"/>
            </a:srgbClr>
          </a:solidFill>
          <a:ln/>
        </p:spPr>
      </p:sp>
      <p:sp>
        <p:nvSpPr>
          <p:cNvPr id="15" name="Text 13"/>
          <p:cNvSpPr txBox="1"/>
          <p:nvPr/>
        </p:nvSpPr>
        <p:spPr>
          <a:xfrm>
            <a:off x="6720840" y="3099816"/>
            <a:ext cx="274320" cy="274320"/>
          </a:xfrm>
          <a:prstGeom prst="rect">
            <a:avLst/>
          </a:prstGeom>
          <a:noFill/>
          <a:ln/>
        </p:spPr>
        <p:txBody>
          <a:bodyPr wrap="square" lIns="0" tIns="0" rIns="0" bIns="0" rtlCol="0" anchor="ctr"/>
          <a:lstStyle/>
          <a:p>
            <a:pPr algn="ctr" indent="0" marL="0">
              <a:buNone/>
            </a:pPr>
            <a:r>
              <a:rPr lang="en-US" sz="1300" b="1" dirty="0">
                <a:solidFill>
                  <a:srgbClr val="3EE59A"/>
                </a:solidFill>
              </a:rPr>
              <a:t>✓</a:t>
            </a:r>
            <a:endParaRPr lang="en-US" sz="1300" dirty="0"/>
          </a:p>
        </p:txBody>
      </p:sp>
      <p:sp>
        <p:nvSpPr>
          <p:cNvPr id="16" name="Text 14"/>
          <p:cNvSpPr txBox="1"/>
          <p:nvPr/>
        </p:nvSpPr>
        <p:spPr>
          <a:xfrm>
            <a:off x="7159752" y="3063240"/>
            <a:ext cx="4480560" cy="886968"/>
          </a:xfrm>
          <a:prstGeom prst="rect">
            <a:avLst/>
          </a:prstGeom>
          <a:noFill/>
          <a:ln/>
        </p:spPr>
        <p:txBody>
          <a:bodyPr wrap="square" lIns="0" tIns="0" rIns="0" bIns="0" rtlCol="0" anchor="t"/>
          <a:lstStyle/>
          <a:p>
            <a:pPr indent="0" marL="0">
              <a:buNone/>
            </a:pPr>
            <a:r>
              <a:rPr lang="en-US" sz="1500" b="1" dirty="0">
                <a:solidFill>
                  <a:schemeClr val="bg1"/>
                </a:solidFill>
              </a:rPr>
              <a:t>Every quote is checked by code </a:t>
            </a:r>
            <a:pPr indent="0" marL="0">
              <a:buNone/>
            </a:pPr>
            <a:r>
              <a:rPr lang="en-US" sz="1500" dirty="0">
                <a:solidFill>
                  <a:schemeClr val="bg2"/>
                </a:solidFill>
              </a:rPr>
              <a:t>against the real file and line. Made-up evidence never gets in.</a:t>
            </a:r>
            <a:endParaRPr lang="en-US" sz="1500" dirty="0"/>
          </a:p>
        </p:txBody>
      </p:sp>
      <p:sp>
        <p:nvSpPr>
          <p:cNvPr id="17" name="tick"/>
          <p:cNvSpPr/>
          <p:nvPr/>
        </p:nvSpPr>
        <p:spPr>
          <a:xfrm>
            <a:off x="6720840" y="4059936"/>
            <a:ext cx="274320" cy="274320"/>
          </a:xfrm>
          <a:prstGeom prst="roundRect">
            <a:avLst>
              <a:gd name="adj" fmla="val 23333"/>
            </a:avLst>
          </a:prstGeom>
          <a:solidFill>
            <a:srgbClr val="3EE59A">
              <a:alpha val="18000"/>
            </a:srgbClr>
          </a:solidFill>
          <a:ln/>
        </p:spPr>
      </p:sp>
      <p:sp>
        <p:nvSpPr>
          <p:cNvPr id="18" name="Text 16"/>
          <p:cNvSpPr txBox="1"/>
          <p:nvPr/>
        </p:nvSpPr>
        <p:spPr>
          <a:xfrm>
            <a:off x="6720840" y="4059936"/>
            <a:ext cx="274320" cy="274320"/>
          </a:xfrm>
          <a:prstGeom prst="rect">
            <a:avLst/>
          </a:prstGeom>
          <a:noFill/>
          <a:ln/>
        </p:spPr>
        <p:txBody>
          <a:bodyPr wrap="square" lIns="0" tIns="0" rIns="0" bIns="0" rtlCol="0" anchor="ctr"/>
          <a:lstStyle/>
          <a:p>
            <a:pPr algn="ctr" indent="0" marL="0">
              <a:buNone/>
            </a:pPr>
            <a:r>
              <a:rPr lang="en-US" sz="1300" b="1" dirty="0">
                <a:solidFill>
                  <a:srgbClr val="3EE59A"/>
                </a:solidFill>
              </a:rPr>
              <a:t>✓</a:t>
            </a:r>
            <a:endParaRPr lang="en-US" sz="1300" dirty="0"/>
          </a:p>
        </p:txBody>
      </p:sp>
      <p:sp>
        <p:nvSpPr>
          <p:cNvPr id="19" name="Text 17"/>
          <p:cNvSpPr txBox="1"/>
          <p:nvPr/>
        </p:nvSpPr>
        <p:spPr>
          <a:xfrm>
            <a:off x="7159752" y="4023360"/>
            <a:ext cx="4480560" cy="886968"/>
          </a:xfrm>
          <a:prstGeom prst="rect">
            <a:avLst/>
          </a:prstGeom>
          <a:noFill/>
          <a:ln/>
        </p:spPr>
        <p:txBody>
          <a:bodyPr wrap="square" lIns="0" tIns="0" rIns="0" bIns="0" rtlCol="0" anchor="t"/>
          <a:lstStyle/>
          <a:p>
            <a:pPr indent="0" marL="0">
              <a:buNone/>
            </a:pPr>
            <a:r>
              <a:rPr lang="en-US" sz="1500" b="1" dirty="0">
                <a:solidFill>
                  <a:schemeClr val="bg1"/>
                </a:solidFill>
              </a:rPr>
              <a:t>Symptoms aren't enough. </a:t>
            </a:r>
            <a:pPr indent="0" marL="0">
              <a:buNone/>
            </a:pPr>
            <a:r>
              <a:rPr lang="en-US" sz="1500" dirty="0">
                <a:solidFill>
                  <a:schemeClr val="bg2"/>
                </a:solidFill>
              </a:rPr>
              <a:t>A cause must be backed by the code or the change itself.</a:t>
            </a:r>
            <a:endParaRPr lang="en-US" sz="1500" dirty="0"/>
          </a:p>
        </p:txBody>
      </p:sp>
      <p:sp>
        <p:nvSpPr>
          <p:cNvPr id="20" name="tick"/>
          <p:cNvSpPr/>
          <p:nvPr/>
        </p:nvSpPr>
        <p:spPr>
          <a:xfrm>
            <a:off x="6720840" y="5020056"/>
            <a:ext cx="274320" cy="274320"/>
          </a:xfrm>
          <a:prstGeom prst="roundRect">
            <a:avLst>
              <a:gd name="adj" fmla="val 23333"/>
            </a:avLst>
          </a:prstGeom>
          <a:solidFill>
            <a:srgbClr val="3EE59A">
              <a:alpha val="18000"/>
            </a:srgbClr>
          </a:solidFill>
          <a:ln/>
        </p:spPr>
      </p:sp>
      <p:sp>
        <p:nvSpPr>
          <p:cNvPr id="21" name="Text 19"/>
          <p:cNvSpPr txBox="1"/>
          <p:nvPr/>
        </p:nvSpPr>
        <p:spPr>
          <a:xfrm>
            <a:off x="6720840" y="5020056"/>
            <a:ext cx="274320" cy="274320"/>
          </a:xfrm>
          <a:prstGeom prst="rect">
            <a:avLst/>
          </a:prstGeom>
          <a:noFill/>
          <a:ln/>
        </p:spPr>
        <p:txBody>
          <a:bodyPr wrap="square" lIns="0" tIns="0" rIns="0" bIns="0" rtlCol="0" anchor="ctr"/>
          <a:lstStyle/>
          <a:p>
            <a:pPr algn="ctr" indent="0" marL="0">
              <a:buNone/>
            </a:pPr>
            <a:r>
              <a:rPr lang="en-US" sz="1300" b="1" dirty="0">
                <a:solidFill>
                  <a:srgbClr val="3EE59A"/>
                </a:solidFill>
              </a:rPr>
              <a:t>✓</a:t>
            </a:r>
            <a:endParaRPr lang="en-US" sz="1300" dirty="0"/>
          </a:p>
        </p:txBody>
      </p:sp>
      <p:sp>
        <p:nvSpPr>
          <p:cNvPr id="22" name="Text 20"/>
          <p:cNvSpPr txBox="1"/>
          <p:nvPr/>
        </p:nvSpPr>
        <p:spPr>
          <a:xfrm>
            <a:off x="7159752" y="4983480"/>
            <a:ext cx="4480560" cy="886968"/>
          </a:xfrm>
          <a:prstGeom prst="rect">
            <a:avLst/>
          </a:prstGeom>
          <a:noFill/>
          <a:ln/>
        </p:spPr>
        <p:txBody>
          <a:bodyPr wrap="square" lIns="0" tIns="0" rIns="0" bIns="0" rtlCol="0" anchor="t"/>
          <a:lstStyle/>
          <a:p>
            <a:pPr indent="0" marL="0">
              <a:buNone/>
            </a:pPr>
            <a:r>
              <a:rPr lang="en-US" sz="1500" b="1" dirty="0">
                <a:solidFill>
                  <a:schemeClr val="bg1"/>
                </a:solidFill>
              </a:rPr>
              <a:t>The plan adapts. </a:t>
            </a:r>
            <a:pPr indent="0" marL="0">
              <a:buNone/>
            </a:pPr>
            <a:r>
              <a:rPr lang="en-US" sz="1500" dirty="0">
                <a:solidFill>
                  <a:schemeClr val="bg2"/>
                </a:solidFill>
              </a:rPr>
              <a:t>When a guess dies, the Commander re-plans. After 3 failed attempts, a person takes over.</a:t>
            </a:r>
            <a:endParaRPr lang="en-US" sz="15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FEATURE · PROVEN FIXES, REAL DEPLOYS</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Not a suggestion. A fix that already passed the test</a:t>
            </a:r>
            <a:endParaRPr lang="en-US" sz="3600" dirty="0"/>
          </a:p>
        </p:txBody>
      </p:sp>
      <p:sp>
        <p:nvSpPr>
          <p:cNvPr id="4" name="card"/>
          <p:cNvSpPr/>
          <p:nvPr/>
        </p:nvSpPr>
        <p:spPr>
          <a:xfrm>
            <a:off x="548640" y="2011680"/>
            <a:ext cx="3547872" cy="2514600"/>
          </a:xfrm>
          <a:prstGeom prst="roundRect">
            <a:avLst>
              <a:gd name="adj" fmla="val 5818"/>
            </a:avLst>
          </a:prstGeom>
          <a:solidFill>
            <a:srgbClr val="15142A">
              <a:alpha val="75000"/>
            </a:srgbClr>
          </a:solidFill>
          <a:ln w="12700">
            <a:solidFill>
              <a:srgbClr val="2C2B45"/>
            </a:solidFill>
            <a:prstDash val="solid"/>
          </a:ln>
        </p:spPr>
      </p:sp>
      <p:sp>
        <p:nvSpPr>
          <p:cNvPr id="5" name="icon tile"/>
          <p:cNvSpPr/>
          <p:nvPr/>
        </p:nvSpPr>
        <p:spPr>
          <a:xfrm>
            <a:off x="822960" y="2286000"/>
            <a:ext cx="512064" cy="512064"/>
          </a:xfrm>
          <a:prstGeom prst="roundRect">
            <a:avLst>
              <a:gd name="adj" fmla="val 21429"/>
            </a:avLst>
          </a:prstGeom>
          <a:solidFill>
            <a:srgbClr val="3EE59A">
              <a:alpha val="18000"/>
            </a:srgbClr>
          </a:solidFill>
          <a:ln w="9525">
            <a:solidFill>
              <a:srgbClr val="3EE59A">
                <a:alpha val="45000"/>
              </a:srgbClr>
            </a:solidFill>
            <a:prstDash val="solid"/>
          </a:ln>
        </p:spPr>
      </p:sp>
      <p:pic>
        <p:nvPicPr>
          <p:cNvPr id="6" name="Image 0" descr="Terminal icon">    </p:cNvPr>
          <p:cNvPicPr>
            <a:picLocks noChangeAspect="1"/>
          </p:cNvPicPr>
          <p:nvPr/>
        </p:nvPicPr>
        <p:blipFill>
          <a:blip r:embed="rId1"/>
          <a:stretch>
            <a:fillRect/>
          </a:stretch>
        </p:blipFill>
        <p:spPr>
          <a:xfrm>
            <a:off x="935614" y="2398654"/>
            <a:ext cx="286756" cy="286756"/>
          </a:xfrm>
          <a:prstGeom prst="rect">
            <a:avLst/>
          </a:prstGeom>
        </p:spPr>
      </p:pic>
      <p:sp>
        <p:nvSpPr>
          <p:cNvPr id="7" name="Text 4"/>
          <p:cNvSpPr txBox="1"/>
          <p:nvPr/>
        </p:nvSpPr>
        <p:spPr>
          <a:xfrm>
            <a:off x="822960" y="2971800"/>
            <a:ext cx="2999232" cy="384048"/>
          </a:xfrm>
          <a:prstGeom prst="rect">
            <a:avLst/>
          </a:prstGeom>
          <a:noFill/>
          <a:ln/>
        </p:spPr>
        <p:txBody>
          <a:bodyPr wrap="square" lIns="0" tIns="0" rIns="0" bIns="0" rtlCol="0" anchor="t"/>
          <a:lstStyle/>
          <a:p>
            <a:pPr indent="0" marL="0">
              <a:buNone/>
            </a:pPr>
            <a:r>
              <a:rPr lang="en-US" sz="1900" b="1" dirty="0">
                <a:solidFill>
                  <a:schemeClr val="bg1"/>
                </a:solidFill>
              </a:rPr>
              <a:t>Sandboxed replay</a:t>
            </a:r>
            <a:endParaRPr lang="en-US" sz="1900" dirty="0"/>
          </a:p>
        </p:txBody>
      </p:sp>
      <p:sp>
        <p:nvSpPr>
          <p:cNvPr id="8" name="Text 5"/>
          <p:cNvSpPr txBox="1"/>
          <p:nvPr/>
        </p:nvSpPr>
        <p:spPr>
          <a:xfrm>
            <a:off x="822960" y="3383280"/>
            <a:ext cx="2999232" cy="1051560"/>
          </a:xfrm>
          <a:prstGeom prst="rect">
            <a:avLst/>
          </a:prstGeom>
          <a:noFill/>
          <a:ln/>
        </p:spPr>
        <p:txBody>
          <a:bodyPr wrap="square" lIns="0" tIns="0" rIns="0" bIns="0" rtlCol="0" anchor="t"/>
          <a:lstStyle/>
          <a:p>
            <a:pPr indent="0" marL="0">
              <a:buNone/>
            </a:pPr>
            <a:r>
              <a:rPr lang="en-US" sz="1400" dirty="0">
                <a:solidFill>
                  <a:schemeClr val="bg2"/>
                </a:solidFill>
              </a:rPr>
              <a:t>Talos runs the service's own repro and tests in Docker, with no network and CPU/memory limits: failing before, passing after.</a:t>
            </a:r>
            <a:endParaRPr lang="en-US" sz="1400" dirty="0"/>
          </a:p>
        </p:txBody>
      </p:sp>
      <p:sp>
        <p:nvSpPr>
          <p:cNvPr id="9" name="card"/>
          <p:cNvSpPr/>
          <p:nvPr/>
        </p:nvSpPr>
        <p:spPr>
          <a:xfrm>
            <a:off x="4320540" y="2011680"/>
            <a:ext cx="3547872" cy="2514600"/>
          </a:xfrm>
          <a:prstGeom prst="roundRect">
            <a:avLst>
              <a:gd name="adj" fmla="val 5818"/>
            </a:avLst>
          </a:prstGeom>
          <a:solidFill>
            <a:srgbClr val="15142A">
              <a:alpha val="75000"/>
            </a:srgbClr>
          </a:solidFill>
          <a:ln w="12700">
            <a:solidFill>
              <a:srgbClr val="2C2B45"/>
            </a:solidFill>
            <a:prstDash val="solid"/>
          </a:ln>
        </p:spPr>
      </p:sp>
      <p:sp>
        <p:nvSpPr>
          <p:cNvPr id="10" name="icon tile"/>
          <p:cNvSpPr/>
          <p:nvPr/>
        </p:nvSpPr>
        <p:spPr>
          <a:xfrm>
            <a:off x="4594860" y="2286000"/>
            <a:ext cx="512064" cy="512064"/>
          </a:xfrm>
          <a:prstGeom prst="roundRect">
            <a:avLst>
              <a:gd name="adj" fmla="val 21429"/>
            </a:avLst>
          </a:prstGeom>
          <a:solidFill>
            <a:srgbClr val="46D3F5">
              <a:alpha val="18000"/>
            </a:srgbClr>
          </a:solidFill>
          <a:ln w="9525">
            <a:solidFill>
              <a:srgbClr val="46D3F5">
                <a:alpha val="45000"/>
              </a:srgbClr>
            </a:solidFill>
            <a:prstDash val="solid"/>
          </a:ln>
        </p:spPr>
      </p:sp>
      <p:pic>
        <p:nvPicPr>
          <p:cNvPr id="11" name="Image 1" descr="GitBranch icon">    </p:cNvPr>
          <p:cNvPicPr>
            <a:picLocks noChangeAspect="1"/>
          </p:cNvPicPr>
          <p:nvPr/>
        </p:nvPicPr>
        <p:blipFill>
          <a:blip r:embed="rId2"/>
          <a:stretch>
            <a:fillRect/>
          </a:stretch>
        </p:blipFill>
        <p:spPr>
          <a:xfrm>
            <a:off x="4707514" y="2398654"/>
            <a:ext cx="286756" cy="286756"/>
          </a:xfrm>
          <a:prstGeom prst="rect">
            <a:avLst/>
          </a:prstGeom>
        </p:spPr>
      </p:pic>
      <p:sp>
        <p:nvSpPr>
          <p:cNvPr id="12" name="Text 8"/>
          <p:cNvSpPr txBox="1"/>
          <p:nvPr/>
        </p:nvSpPr>
        <p:spPr>
          <a:xfrm>
            <a:off x="4594860" y="2971800"/>
            <a:ext cx="2999232" cy="384048"/>
          </a:xfrm>
          <a:prstGeom prst="rect">
            <a:avLst/>
          </a:prstGeom>
          <a:noFill/>
          <a:ln/>
        </p:spPr>
        <p:txBody>
          <a:bodyPr wrap="square" lIns="0" tIns="0" rIns="0" bIns="0" rtlCol="0" anchor="t"/>
          <a:lstStyle/>
          <a:p>
            <a:pPr indent="0" marL="0">
              <a:buNone/>
            </a:pPr>
            <a:r>
              <a:rPr lang="en-US" sz="1900" b="1" dirty="0">
                <a:solidFill>
                  <a:schemeClr val="bg1"/>
                </a:solidFill>
              </a:rPr>
              <a:t>Real git, real deploy</a:t>
            </a:r>
            <a:endParaRPr lang="en-US" sz="1900" dirty="0"/>
          </a:p>
        </p:txBody>
      </p:sp>
      <p:sp>
        <p:nvSpPr>
          <p:cNvPr id="13" name="Text 9"/>
          <p:cNvSpPr txBox="1"/>
          <p:nvPr/>
        </p:nvSpPr>
        <p:spPr>
          <a:xfrm>
            <a:off x="4594860" y="3383280"/>
            <a:ext cx="2999232" cy="1051560"/>
          </a:xfrm>
          <a:prstGeom prst="rect">
            <a:avLst/>
          </a:prstGeom>
          <a:noFill/>
          <a:ln/>
        </p:spPr>
        <p:txBody>
          <a:bodyPr wrap="square" lIns="0" tIns="0" rIns="0" bIns="0" rtlCol="0" anchor="t"/>
          <a:lstStyle/>
          <a:p>
            <a:pPr indent="0" marL="0">
              <a:buNone/>
            </a:pPr>
            <a:r>
              <a:rPr lang="en-US" sz="1400" dirty="0">
                <a:solidFill>
                  <a:schemeClr val="bg2"/>
                </a:solidFill>
              </a:rPr>
              <a:t>On approval Argus commits the fix to the repo. The service deploys it and the error rate falls back to zero.</a:t>
            </a:r>
            <a:endParaRPr lang="en-US" sz="1400" dirty="0"/>
          </a:p>
        </p:txBody>
      </p:sp>
      <p:sp>
        <p:nvSpPr>
          <p:cNvPr id="14" name="card"/>
          <p:cNvSpPr/>
          <p:nvPr/>
        </p:nvSpPr>
        <p:spPr>
          <a:xfrm>
            <a:off x="8092440" y="2011680"/>
            <a:ext cx="3547872" cy="2514600"/>
          </a:xfrm>
          <a:prstGeom prst="roundRect">
            <a:avLst>
              <a:gd name="adj" fmla="val 5818"/>
            </a:avLst>
          </a:prstGeom>
          <a:solidFill>
            <a:srgbClr val="15142A">
              <a:alpha val="75000"/>
            </a:srgbClr>
          </a:solidFill>
          <a:ln w="12700">
            <a:solidFill>
              <a:srgbClr val="2C2B45"/>
            </a:solidFill>
            <a:prstDash val="solid"/>
          </a:ln>
        </p:spPr>
      </p:sp>
      <p:sp>
        <p:nvSpPr>
          <p:cNvPr id="15" name="icon tile"/>
          <p:cNvSpPr/>
          <p:nvPr/>
        </p:nvSpPr>
        <p:spPr>
          <a:xfrm>
            <a:off x="8366760" y="2286000"/>
            <a:ext cx="512064" cy="512064"/>
          </a:xfrm>
          <a:prstGeom prst="roundRect">
            <a:avLst>
              <a:gd name="adj" fmla="val 21429"/>
            </a:avLst>
          </a:prstGeom>
          <a:solidFill>
            <a:srgbClr val="8B7CFF">
              <a:alpha val="18000"/>
            </a:srgbClr>
          </a:solidFill>
          <a:ln w="9525">
            <a:solidFill>
              <a:srgbClr val="8B7CFF">
                <a:alpha val="45000"/>
              </a:srgbClr>
            </a:solidFill>
            <a:prstDash val="solid"/>
          </a:ln>
        </p:spPr>
      </p:sp>
      <p:pic>
        <p:nvPicPr>
          <p:cNvPr id="16" name="Image 2" descr="FileText icon">    </p:cNvPr>
          <p:cNvPicPr>
            <a:picLocks noChangeAspect="1"/>
          </p:cNvPicPr>
          <p:nvPr/>
        </p:nvPicPr>
        <p:blipFill>
          <a:blip r:embed="rId3"/>
          <a:stretch>
            <a:fillRect/>
          </a:stretch>
        </p:blipFill>
        <p:spPr>
          <a:xfrm>
            <a:off x="8479414" y="2398654"/>
            <a:ext cx="286756" cy="286756"/>
          </a:xfrm>
          <a:prstGeom prst="rect">
            <a:avLst/>
          </a:prstGeom>
        </p:spPr>
      </p:pic>
      <p:sp>
        <p:nvSpPr>
          <p:cNvPr id="17" name="Text 12"/>
          <p:cNvSpPr txBox="1"/>
          <p:nvPr/>
        </p:nvSpPr>
        <p:spPr>
          <a:xfrm>
            <a:off x="8366760" y="2971800"/>
            <a:ext cx="2999232" cy="384048"/>
          </a:xfrm>
          <a:prstGeom prst="rect">
            <a:avLst/>
          </a:prstGeom>
          <a:noFill/>
          <a:ln/>
        </p:spPr>
        <p:txBody>
          <a:bodyPr wrap="square" lIns="0" tIns="0" rIns="0" bIns="0" rtlCol="0" anchor="t"/>
          <a:lstStyle/>
          <a:p>
            <a:pPr indent="0" marL="0">
              <a:buNone/>
            </a:pPr>
            <a:r>
              <a:rPr lang="en-US" sz="1900" b="1" dirty="0">
                <a:solidFill>
                  <a:schemeClr val="bg1"/>
                </a:solidFill>
              </a:rPr>
              <a:t>Reports for two audiences</a:t>
            </a:r>
            <a:endParaRPr lang="en-US" sz="1900" dirty="0"/>
          </a:p>
        </p:txBody>
      </p:sp>
      <p:sp>
        <p:nvSpPr>
          <p:cNvPr id="18" name="Text 13"/>
          <p:cNvSpPr txBox="1"/>
          <p:nvPr/>
        </p:nvSpPr>
        <p:spPr>
          <a:xfrm>
            <a:off x="8366760" y="3383280"/>
            <a:ext cx="2999232" cy="1051560"/>
          </a:xfrm>
          <a:prstGeom prst="rect">
            <a:avLst/>
          </a:prstGeom>
          <a:noFill/>
          <a:ln/>
        </p:spPr>
        <p:txBody>
          <a:bodyPr wrap="square" lIns="0" tIns="0" rIns="0" bIns="0" rtlCol="0" anchor="t"/>
          <a:lstStyle/>
          <a:p>
            <a:pPr indent="0" marL="0">
              <a:buNone/>
            </a:pPr>
            <a:r>
              <a:rPr lang="en-US" sz="1400" dirty="0">
                <a:solidFill>
                  <a:schemeClr val="bg2"/>
                </a:solidFill>
              </a:rPr>
              <a:t>Engineers get the evidence and the diff. Managers get what happened, what it cost and what it saved.</a:t>
            </a:r>
            <a:endParaRPr lang="en-US" sz="1400" dirty="0"/>
          </a:p>
        </p:txBody>
      </p:sp>
      <p:sp>
        <p:nvSpPr>
          <p:cNvPr id="19" name="card"/>
          <p:cNvSpPr/>
          <p:nvPr/>
        </p:nvSpPr>
        <p:spPr>
          <a:xfrm>
            <a:off x="548640" y="4800600"/>
            <a:ext cx="11091672" cy="1097280"/>
          </a:xfrm>
          <a:prstGeom prst="roundRect">
            <a:avLst>
              <a:gd name="adj" fmla="val 13333"/>
            </a:avLst>
          </a:prstGeom>
          <a:solidFill>
            <a:srgbClr val="0F2A26">
              <a:alpha val="75000"/>
            </a:srgbClr>
          </a:solidFill>
          <a:ln w="12700">
            <a:solidFill>
              <a:srgbClr val="1F6B52"/>
            </a:solidFill>
            <a:prstDash val="solid"/>
          </a:ln>
        </p:spPr>
      </p:sp>
      <p:sp>
        <p:nvSpPr>
          <p:cNvPr id="20" name="Text 15"/>
          <p:cNvSpPr txBox="1"/>
          <p:nvPr/>
        </p:nvSpPr>
        <p:spPr>
          <a:xfrm>
            <a:off x="822960" y="4800600"/>
            <a:ext cx="1371600" cy="1097280"/>
          </a:xfrm>
          <a:prstGeom prst="rect">
            <a:avLst/>
          </a:prstGeom>
          <a:noFill/>
          <a:ln/>
        </p:spPr>
        <p:txBody>
          <a:bodyPr wrap="square" lIns="0" tIns="0" rIns="0" bIns="0" rtlCol="0" anchor="ctr"/>
          <a:lstStyle/>
          <a:p>
            <a:pPr indent="0" marL="0">
              <a:buNone/>
            </a:pPr>
            <a:r>
              <a:rPr lang="en-US" sz="1300" b="1" spc="200" kern="0" dirty="0">
                <a:solidFill>
                  <a:schemeClr val="accent3"/>
                </a:solidFill>
                <a:latin typeface="Consolas" pitchFamily="34" charset="0"/>
                <a:ea typeface="Consolas" pitchFamily="34" charset="-122"/>
                <a:cs typeface="Consolas" pitchFamily="34" charset="-120"/>
              </a:rPr>
              <a:t>LIVE DEMO</a:t>
            </a:r>
            <a:endParaRPr lang="en-US" sz="1300" dirty="0"/>
          </a:p>
        </p:txBody>
      </p:sp>
      <p:sp>
        <p:nvSpPr>
          <p:cNvPr id="21" name="Text 16"/>
          <p:cNvSpPr txBox="1"/>
          <p:nvPr/>
        </p:nvSpPr>
        <p:spPr>
          <a:xfrm>
            <a:off x="2286000" y="4800600"/>
            <a:ext cx="9098280" cy="1097280"/>
          </a:xfrm>
          <a:prstGeom prst="rect">
            <a:avLst/>
          </a:prstGeom>
          <a:noFill/>
          <a:ln/>
        </p:spPr>
        <p:txBody>
          <a:bodyPr wrap="square" lIns="0" tIns="0" rIns="0" bIns="0" rtlCol="0" anchor="ctr"/>
          <a:lstStyle/>
          <a:p>
            <a:pPr indent="0" marL="0">
              <a:buNone/>
            </a:pPr>
            <a:r>
              <a:rPr lang="en-US" sz="1500" dirty="0">
                <a:solidFill>
                  <a:schemeClr val="bg2"/>
                </a:solidFill>
              </a:rPr>
              <a:t>Push a bad commit to </a:t>
            </a:r>
            <a:pPr indent="0" marL="0">
              <a:buNone/>
            </a:pPr>
            <a:r>
              <a:rPr lang="en-US" sz="1500" b="1" dirty="0">
                <a:solidFill>
                  <a:schemeClr val="bg1"/>
                </a:solidFill>
              </a:rPr>
              <a:t>ShopFast</a:t>
            </a:r>
            <a:pPr indent="0" marL="0">
              <a:buNone/>
            </a:pPr>
            <a:r>
              <a:rPr lang="en-US" sz="1500" dirty="0">
                <a:solidFill>
                  <a:schemeClr val="bg2"/>
                </a:solidFill>
              </a:rPr>
              <a:t>, a real store with real traffic → checkout breaks → Alertmanager fires → </a:t>
            </a:r>
            <a:pPr indent="0" marL="0">
              <a:buNone/>
            </a:pPr>
            <a:r>
              <a:rPr lang="en-US" sz="1500" b="1" dirty="0">
                <a:solidFill>
                  <a:schemeClr val="bg1"/>
                </a:solidFill>
              </a:rPr>
              <a:t>Argus opens the incident by itself</a:t>
            </a:r>
            <a:pPr indent="0" marL="0">
              <a:buNone/>
            </a:pPr>
            <a:r>
              <a:rPr lang="en-US" sz="1500" dirty="0">
                <a:solidFill>
                  <a:schemeClr val="bg2"/>
                </a:solidFill>
              </a:rPr>
              <a:t> → approve → the shop recovers.</a:t>
            </a:r>
            <a:endParaRPr lang="en-US" sz="15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GOVERNANCE BY DESIGN</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The AI proposes. Policy and people decide</a:t>
            </a:r>
            <a:endParaRPr lang="en-US" sz="3600" dirty="0"/>
          </a:p>
        </p:txBody>
      </p:sp>
      <p:sp>
        <p:nvSpPr>
          <p:cNvPr id="4" name="criteria tag"/>
          <p:cNvSpPr/>
          <p:nvPr/>
        </p:nvSpPr>
        <p:spPr>
          <a:xfrm>
            <a:off x="7434072" y="420624"/>
            <a:ext cx="4206240" cy="347472"/>
          </a:xfrm>
          <a:prstGeom prst="roundRect">
            <a:avLst>
              <a:gd name="adj" fmla="val 21053"/>
            </a:avLst>
          </a:prstGeom>
          <a:solidFill>
            <a:srgbClr val="8B7CFF">
              <a:alpha val="18000"/>
            </a:srgbClr>
          </a:solidFill>
          <a:ln w="9525">
            <a:solidFill>
              <a:srgbClr val="8B7CFF">
                <a:alpha val="55000"/>
              </a:srgbClr>
            </a:solidFill>
            <a:prstDash val="solid"/>
          </a:ln>
        </p:spPr>
      </p:sp>
      <p:sp>
        <p:nvSpPr>
          <p:cNvPr id="5" name="Text 3"/>
          <p:cNvSpPr txBox="1"/>
          <p:nvPr/>
        </p:nvSpPr>
        <p:spPr>
          <a:xfrm>
            <a:off x="7434072" y="420624"/>
            <a:ext cx="4206240" cy="347472"/>
          </a:xfrm>
          <a:prstGeom prst="rect">
            <a:avLst/>
          </a:prstGeom>
          <a:noFill/>
          <a:ln/>
        </p:spPr>
        <p:txBody>
          <a:bodyPr wrap="square" lIns="0" tIns="0" rIns="0" bIns="0" rtlCol="0" anchor="ctr"/>
          <a:lstStyle/>
          <a:p>
            <a:pPr algn="ctr" indent="0" marL="0">
              <a:buNone/>
            </a:pPr>
            <a:r>
              <a:rPr lang="en-US" sz="1100" b="1" spc="100" kern="0" dirty="0">
                <a:solidFill>
                  <a:srgbClr val="C9C2FF"/>
                </a:solidFill>
                <a:latin typeface="Consolas" pitchFamily="34" charset="0"/>
                <a:ea typeface="Consolas" pitchFamily="34" charset="-122"/>
                <a:cs typeface="Consolas" pitchFamily="34" charset="-120"/>
              </a:rPr>
              <a:t>JUDGING · GOVERNANCE &amp; RESPONSIBILITY</a:t>
            </a:r>
            <a:endParaRPr lang="en-US" sz="1100" dirty="0"/>
          </a:p>
        </p:txBody>
      </p:sp>
      <p:sp>
        <p:nvSpPr>
          <p:cNvPr id="6" name="card"/>
          <p:cNvSpPr/>
          <p:nvPr/>
        </p:nvSpPr>
        <p:spPr>
          <a:xfrm>
            <a:off x="548640" y="1920240"/>
            <a:ext cx="3547872" cy="1965960"/>
          </a:xfrm>
          <a:prstGeom prst="roundRect">
            <a:avLst>
              <a:gd name="adj" fmla="val 7442"/>
            </a:avLst>
          </a:prstGeom>
          <a:solidFill>
            <a:srgbClr val="15142A">
              <a:alpha val="75000"/>
            </a:srgbClr>
          </a:solidFill>
          <a:ln w="12700">
            <a:solidFill>
              <a:srgbClr val="2C2B45"/>
            </a:solidFill>
            <a:prstDash val="solid"/>
          </a:ln>
        </p:spPr>
      </p:sp>
      <p:sp>
        <p:nvSpPr>
          <p:cNvPr id="7" name="icon tile"/>
          <p:cNvSpPr/>
          <p:nvPr/>
        </p:nvSpPr>
        <p:spPr>
          <a:xfrm>
            <a:off x="777240" y="2148840"/>
            <a:ext cx="457200" cy="457200"/>
          </a:xfrm>
          <a:prstGeom prst="roundRect">
            <a:avLst>
              <a:gd name="adj" fmla="val 24000"/>
            </a:avLst>
          </a:prstGeom>
          <a:solidFill>
            <a:srgbClr val="3EE59A">
              <a:alpha val="18000"/>
            </a:srgbClr>
          </a:solidFill>
          <a:ln w="9525">
            <a:solidFill>
              <a:srgbClr val="3EE59A">
                <a:alpha val="45000"/>
              </a:srgbClr>
            </a:solidFill>
            <a:prstDash val="solid"/>
          </a:ln>
        </p:spPr>
      </p:sp>
      <p:pic>
        <p:nvPicPr>
          <p:cNvPr id="8" name="Image 0" descr="Users icon">    </p:cNvPr>
          <p:cNvPicPr>
            <a:picLocks noChangeAspect="1"/>
          </p:cNvPicPr>
          <p:nvPr/>
        </p:nvPicPr>
        <p:blipFill>
          <a:blip r:embed="rId1"/>
          <a:stretch>
            <a:fillRect/>
          </a:stretch>
        </p:blipFill>
        <p:spPr>
          <a:xfrm>
            <a:off x="877824" y="2249424"/>
            <a:ext cx="256032" cy="256032"/>
          </a:xfrm>
          <a:prstGeom prst="rect">
            <a:avLst/>
          </a:prstGeom>
        </p:spPr>
      </p:pic>
      <p:sp>
        <p:nvSpPr>
          <p:cNvPr id="9" name="Text 6"/>
          <p:cNvSpPr txBox="1"/>
          <p:nvPr/>
        </p:nvSpPr>
        <p:spPr>
          <a:xfrm>
            <a:off x="1371600" y="2148840"/>
            <a:ext cx="2542032" cy="457200"/>
          </a:xfrm>
          <a:prstGeom prst="rect">
            <a:avLst/>
          </a:prstGeom>
          <a:noFill/>
          <a:ln/>
        </p:spPr>
        <p:txBody>
          <a:bodyPr wrap="square" lIns="0" tIns="0" rIns="0" bIns="0" rtlCol="0" anchor="ctr"/>
          <a:lstStyle/>
          <a:p>
            <a:pPr indent="0" marL="0">
              <a:buNone/>
            </a:pPr>
            <a:r>
              <a:rPr lang="en-US" sz="1700" b="1" dirty="0">
                <a:solidFill>
                  <a:schemeClr val="bg1"/>
                </a:solidFill>
              </a:rPr>
              <a:t>Human approval gate</a:t>
            </a:r>
            <a:endParaRPr lang="en-US" sz="1700" dirty="0"/>
          </a:p>
        </p:txBody>
      </p:sp>
      <p:sp>
        <p:nvSpPr>
          <p:cNvPr id="10" name="Text 7"/>
          <p:cNvSpPr txBox="1"/>
          <p:nvPr/>
        </p:nvSpPr>
        <p:spPr>
          <a:xfrm>
            <a:off x="777240" y="2724912"/>
            <a:ext cx="3090672" cy="1097280"/>
          </a:xfrm>
          <a:prstGeom prst="rect">
            <a:avLst/>
          </a:prstGeom>
          <a:noFill/>
          <a:ln/>
        </p:spPr>
        <p:txBody>
          <a:bodyPr wrap="square" lIns="0" tIns="0" rIns="0" bIns="0" rtlCol="0" anchor="t"/>
          <a:lstStyle/>
          <a:p>
            <a:pPr indent="0" marL="0">
              <a:buNone/>
            </a:pPr>
            <a:r>
              <a:rPr lang="en-US" sz="1350" dirty="0">
                <a:solidFill>
                  <a:schemeClr val="bg2"/>
                </a:solidFill>
              </a:rPr>
              <a:t>Approvers set per severity. Optional two-person rule with a team lead for sev1/2. The reporter can't approve their own serious fix.</a:t>
            </a:r>
            <a:endParaRPr lang="en-US" sz="1350" dirty="0"/>
          </a:p>
        </p:txBody>
      </p:sp>
      <p:sp>
        <p:nvSpPr>
          <p:cNvPr id="11" name="card"/>
          <p:cNvSpPr/>
          <p:nvPr/>
        </p:nvSpPr>
        <p:spPr>
          <a:xfrm>
            <a:off x="4320540" y="1920240"/>
            <a:ext cx="3547872" cy="1965960"/>
          </a:xfrm>
          <a:prstGeom prst="roundRect">
            <a:avLst>
              <a:gd name="adj" fmla="val 7442"/>
            </a:avLst>
          </a:prstGeom>
          <a:solidFill>
            <a:srgbClr val="15142A">
              <a:alpha val="75000"/>
            </a:srgbClr>
          </a:solidFill>
          <a:ln w="12700">
            <a:solidFill>
              <a:srgbClr val="2C2B45"/>
            </a:solidFill>
            <a:prstDash val="solid"/>
          </a:ln>
        </p:spPr>
      </p:sp>
      <p:sp>
        <p:nvSpPr>
          <p:cNvPr id="12" name="icon tile"/>
          <p:cNvSpPr/>
          <p:nvPr/>
        </p:nvSpPr>
        <p:spPr>
          <a:xfrm>
            <a:off x="4549140" y="2148840"/>
            <a:ext cx="457200" cy="457200"/>
          </a:xfrm>
          <a:prstGeom prst="roundRect">
            <a:avLst>
              <a:gd name="adj" fmla="val 24000"/>
            </a:avLst>
          </a:prstGeom>
          <a:solidFill>
            <a:srgbClr val="8B7CFF">
              <a:alpha val="18000"/>
            </a:srgbClr>
          </a:solidFill>
          <a:ln w="9525">
            <a:solidFill>
              <a:srgbClr val="8B7CFF">
                <a:alpha val="45000"/>
              </a:srgbClr>
            </a:solidFill>
            <a:prstDash val="solid"/>
          </a:ln>
        </p:spPr>
      </p:sp>
      <p:pic>
        <p:nvPicPr>
          <p:cNvPr id="13" name="Image 1" descr="FileText icon">    </p:cNvPr>
          <p:cNvPicPr>
            <a:picLocks noChangeAspect="1"/>
          </p:cNvPicPr>
          <p:nvPr/>
        </p:nvPicPr>
        <p:blipFill>
          <a:blip r:embed="rId2"/>
          <a:stretch>
            <a:fillRect/>
          </a:stretch>
        </p:blipFill>
        <p:spPr>
          <a:xfrm>
            <a:off x="4649724" y="2249424"/>
            <a:ext cx="256032" cy="256032"/>
          </a:xfrm>
          <a:prstGeom prst="rect">
            <a:avLst/>
          </a:prstGeom>
        </p:spPr>
      </p:pic>
      <p:sp>
        <p:nvSpPr>
          <p:cNvPr id="14" name="Text 10"/>
          <p:cNvSpPr txBox="1"/>
          <p:nvPr/>
        </p:nvSpPr>
        <p:spPr>
          <a:xfrm>
            <a:off x="5143500" y="2148840"/>
            <a:ext cx="2542032" cy="457200"/>
          </a:xfrm>
          <a:prstGeom prst="rect">
            <a:avLst/>
          </a:prstGeom>
          <a:noFill/>
          <a:ln/>
        </p:spPr>
        <p:txBody>
          <a:bodyPr wrap="square" lIns="0" tIns="0" rIns="0" bIns="0" rtlCol="0" anchor="ctr"/>
          <a:lstStyle/>
          <a:p>
            <a:pPr indent="0" marL="0">
              <a:buNone/>
            </a:pPr>
            <a:r>
              <a:rPr lang="en-US" sz="1700" b="1" dirty="0">
                <a:solidFill>
                  <a:schemeClr val="bg1"/>
                </a:solidFill>
              </a:rPr>
              <a:t>Rules in one file</a:t>
            </a:r>
            <a:endParaRPr lang="en-US" sz="1700" dirty="0"/>
          </a:p>
        </p:txBody>
      </p:sp>
      <p:sp>
        <p:nvSpPr>
          <p:cNvPr id="15" name="Text 11"/>
          <p:cNvSpPr txBox="1"/>
          <p:nvPr/>
        </p:nvSpPr>
        <p:spPr>
          <a:xfrm>
            <a:off x="4549140" y="2724912"/>
            <a:ext cx="3090672" cy="1097280"/>
          </a:xfrm>
          <a:prstGeom prst="rect">
            <a:avLst/>
          </a:prstGeom>
          <a:noFill/>
          <a:ln/>
        </p:spPr>
        <p:txBody>
          <a:bodyPr wrap="square" lIns="0" tIns="0" rIns="0" bIns="0" rtlCol="0" anchor="t"/>
          <a:lstStyle/>
          <a:p>
            <a:pPr indent="0" marL="0">
              <a:buNone/>
            </a:pPr>
            <a:r>
              <a:rPr lang="en-US" sz="1350" dirty="0">
                <a:solidFill>
                  <a:schemeClr val="bg2"/>
                </a:solidFill>
              </a:rPr>
              <a:t>policy.yaml: allowed fix types, protected paths (secrets, migrations, CI), max 80 lines per fix. Break a rule and the fix goes back.</a:t>
            </a:r>
            <a:endParaRPr lang="en-US" sz="1350" dirty="0"/>
          </a:p>
        </p:txBody>
      </p:sp>
      <p:sp>
        <p:nvSpPr>
          <p:cNvPr id="16" name="card"/>
          <p:cNvSpPr/>
          <p:nvPr/>
        </p:nvSpPr>
        <p:spPr>
          <a:xfrm>
            <a:off x="8092440" y="1920240"/>
            <a:ext cx="3547872" cy="1965960"/>
          </a:xfrm>
          <a:prstGeom prst="roundRect">
            <a:avLst>
              <a:gd name="adj" fmla="val 7442"/>
            </a:avLst>
          </a:prstGeom>
          <a:solidFill>
            <a:srgbClr val="15142A">
              <a:alpha val="75000"/>
            </a:srgbClr>
          </a:solidFill>
          <a:ln w="12700">
            <a:solidFill>
              <a:srgbClr val="2C2B45"/>
            </a:solidFill>
            <a:prstDash val="solid"/>
          </a:ln>
        </p:spPr>
      </p:sp>
      <p:sp>
        <p:nvSpPr>
          <p:cNvPr id="17" name="icon tile"/>
          <p:cNvSpPr/>
          <p:nvPr/>
        </p:nvSpPr>
        <p:spPr>
          <a:xfrm>
            <a:off x="8321040" y="2148840"/>
            <a:ext cx="457200" cy="457200"/>
          </a:xfrm>
          <a:prstGeom prst="roundRect">
            <a:avLst>
              <a:gd name="adj" fmla="val 24000"/>
            </a:avLst>
          </a:prstGeom>
          <a:solidFill>
            <a:srgbClr val="FFB547">
              <a:alpha val="18000"/>
            </a:srgbClr>
          </a:solidFill>
          <a:ln w="9525">
            <a:solidFill>
              <a:srgbClr val="FFB547">
                <a:alpha val="45000"/>
              </a:srgbClr>
            </a:solidFill>
            <a:prstDash val="solid"/>
          </a:ln>
        </p:spPr>
      </p:sp>
      <p:pic>
        <p:nvPicPr>
          <p:cNvPr id="18" name="Image 2" descr="Octagon icon">    </p:cNvPr>
          <p:cNvPicPr>
            <a:picLocks noChangeAspect="1"/>
          </p:cNvPicPr>
          <p:nvPr/>
        </p:nvPicPr>
        <p:blipFill>
          <a:blip r:embed="rId3"/>
          <a:stretch>
            <a:fillRect/>
          </a:stretch>
        </p:blipFill>
        <p:spPr>
          <a:xfrm>
            <a:off x="8421624" y="2249424"/>
            <a:ext cx="256032" cy="256032"/>
          </a:xfrm>
          <a:prstGeom prst="rect">
            <a:avLst/>
          </a:prstGeom>
        </p:spPr>
      </p:pic>
      <p:sp>
        <p:nvSpPr>
          <p:cNvPr id="19" name="Text 14"/>
          <p:cNvSpPr txBox="1"/>
          <p:nvPr/>
        </p:nvSpPr>
        <p:spPr>
          <a:xfrm>
            <a:off x="8915400" y="2148840"/>
            <a:ext cx="2542032" cy="457200"/>
          </a:xfrm>
          <a:prstGeom prst="rect">
            <a:avLst/>
          </a:prstGeom>
          <a:noFill/>
          <a:ln/>
        </p:spPr>
        <p:txBody>
          <a:bodyPr wrap="square" lIns="0" tIns="0" rIns="0" bIns="0" rtlCol="0" anchor="ctr"/>
          <a:lstStyle/>
          <a:p>
            <a:pPr indent="0" marL="0">
              <a:buNone/>
            </a:pPr>
            <a:r>
              <a:rPr lang="en-US" sz="1700" b="1" dirty="0">
                <a:solidFill>
                  <a:schemeClr val="bg1"/>
                </a:solidFill>
              </a:rPr>
              <a:t>Hard stops</a:t>
            </a:r>
            <a:endParaRPr lang="en-US" sz="1700" dirty="0"/>
          </a:p>
        </p:txBody>
      </p:sp>
      <p:sp>
        <p:nvSpPr>
          <p:cNvPr id="20" name="Text 15"/>
          <p:cNvSpPr txBox="1"/>
          <p:nvPr/>
        </p:nvSpPr>
        <p:spPr>
          <a:xfrm>
            <a:off x="8321040" y="2724912"/>
            <a:ext cx="3090672" cy="1097280"/>
          </a:xfrm>
          <a:prstGeom prst="rect">
            <a:avLst/>
          </a:prstGeom>
          <a:noFill/>
          <a:ln/>
        </p:spPr>
        <p:txBody>
          <a:bodyPr wrap="square" lIns="0" tIns="0" rIns="0" bIns="0" rtlCol="0" anchor="t"/>
          <a:lstStyle/>
          <a:p>
            <a:pPr indent="0" marL="0">
              <a:buNone/>
            </a:pPr>
            <a:r>
              <a:rPr lang="en-US" sz="1350" dirty="0">
                <a:solidFill>
                  <a:schemeClr val="bg2"/>
                </a:solidFill>
              </a:rPr>
              <a:t>AI budget per incident (₹25), then Argus hands over. 3-attempt limit. A 10-minute approval SLA escalates to the lead.</a:t>
            </a:r>
            <a:endParaRPr lang="en-US" sz="1350" dirty="0"/>
          </a:p>
        </p:txBody>
      </p:sp>
      <p:sp>
        <p:nvSpPr>
          <p:cNvPr id="21" name="card"/>
          <p:cNvSpPr/>
          <p:nvPr/>
        </p:nvSpPr>
        <p:spPr>
          <a:xfrm>
            <a:off x="548640" y="4087368"/>
            <a:ext cx="3547872" cy="1965960"/>
          </a:xfrm>
          <a:prstGeom prst="roundRect">
            <a:avLst>
              <a:gd name="adj" fmla="val 7442"/>
            </a:avLst>
          </a:prstGeom>
          <a:solidFill>
            <a:srgbClr val="15142A">
              <a:alpha val="75000"/>
            </a:srgbClr>
          </a:solidFill>
          <a:ln w="12700">
            <a:solidFill>
              <a:srgbClr val="2C2B45"/>
            </a:solidFill>
            <a:prstDash val="solid"/>
          </a:ln>
        </p:spPr>
      </p:sp>
      <p:sp>
        <p:nvSpPr>
          <p:cNvPr id="22" name="icon tile"/>
          <p:cNvSpPr/>
          <p:nvPr/>
        </p:nvSpPr>
        <p:spPr>
          <a:xfrm>
            <a:off x="777240" y="4315968"/>
            <a:ext cx="457200" cy="457200"/>
          </a:xfrm>
          <a:prstGeom prst="roundRect">
            <a:avLst>
              <a:gd name="adj" fmla="val 24000"/>
            </a:avLst>
          </a:prstGeom>
          <a:solidFill>
            <a:srgbClr val="FF5D73">
              <a:alpha val="18000"/>
            </a:srgbClr>
          </a:solidFill>
          <a:ln w="9525">
            <a:solidFill>
              <a:srgbClr val="FF5D73">
                <a:alpha val="45000"/>
              </a:srgbClr>
            </a:solidFill>
            <a:prstDash val="solid"/>
          </a:ln>
        </p:spPr>
      </p:sp>
      <p:pic>
        <p:nvPicPr>
          <p:cNvPr id="23" name="Image 3" descr="Lock icon">    </p:cNvPr>
          <p:cNvPicPr>
            <a:picLocks noChangeAspect="1"/>
          </p:cNvPicPr>
          <p:nvPr/>
        </p:nvPicPr>
        <p:blipFill>
          <a:blip r:embed="rId4"/>
          <a:stretch>
            <a:fillRect/>
          </a:stretch>
        </p:blipFill>
        <p:spPr>
          <a:xfrm>
            <a:off x="877824" y="4416552"/>
            <a:ext cx="256032" cy="256032"/>
          </a:xfrm>
          <a:prstGeom prst="rect">
            <a:avLst/>
          </a:prstGeom>
        </p:spPr>
      </p:pic>
      <p:sp>
        <p:nvSpPr>
          <p:cNvPr id="24" name="Text 18"/>
          <p:cNvSpPr txBox="1"/>
          <p:nvPr/>
        </p:nvSpPr>
        <p:spPr>
          <a:xfrm>
            <a:off x="1371600" y="4315968"/>
            <a:ext cx="2542032" cy="457200"/>
          </a:xfrm>
          <a:prstGeom prst="rect">
            <a:avLst/>
          </a:prstGeom>
          <a:noFill/>
          <a:ln/>
        </p:spPr>
        <p:txBody>
          <a:bodyPr wrap="square" lIns="0" tIns="0" rIns="0" bIns="0" rtlCol="0" anchor="ctr"/>
          <a:lstStyle/>
          <a:p>
            <a:pPr indent="0" marL="0">
              <a:buNone/>
            </a:pPr>
            <a:r>
              <a:rPr lang="en-US" sz="1700" b="1" dirty="0">
                <a:solidFill>
                  <a:schemeClr val="bg1"/>
                </a:solidFill>
              </a:rPr>
              <a:t>Tamper-evident audit log</a:t>
            </a:r>
            <a:endParaRPr lang="en-US" sz="1700" dirty="0"/>
          </a:p>
        </p:txBody>
      </p:sp>
      <p:sp>
        <p:nvSpPr>
          <p:cNvPr id="25" name="Text 19"/>
          <p:cNvSpPr txBox="1"/>
          <p:nvPr/>
        </p:nvSpPr>
        <p:spPr>
          <a:xfrm>
            <a:off x="777240" y="4892040"/>
            <a:ext cx="3090672" cy="1097280"/>
          </a:xfrm>
          <a:prstGeom prst="rect">
            <a:avLst/>
          </a:prstGeom>
          <a:noFill/>
          <a:ln/>
        </p:spPr>
        <p:txBody>
          <a:bodyPr wrap="square" lIns="0" tIns="0" rIns="0" bIns="0" rtlCol="0" anchor="t"/>
          <a:lstStyle/>
          <a:p>
            <a:pPr indent="0" marL="0">
              <a:buNone/>
            </a:pPr>
            <a:r>
              <a:rPr lang="en-US" sz="1350" dirty="0">
                <a:solidFill>
                  <a:schemeClr val="bg2"/>
                </a:solidFill>
              </a:rPr>
              <a:t>Every event is hash-chained to the one before. Edit, delete or reorder anything and /audit/verify shows where.</a:t>
            </a:r>
            <a:endParaRPr lang="en-US" sz="1350" dirty="0"/>
          </a:p>
        </p:txBody>
      </p:sp>
      <p:sp>
        <p:nvSpPr>
          <p:cNvPr id="26" name="card"/>
          <p:cNvSpPr/>
          <p:nvPr/>
        </p:nvSpPr>
        <p:spPr>
          <a:xfrm>
            <a:off x="4320540" y="4087368"/>
            <a:ext cx="3547872" cy="1965960"/>
          </a:xfrm>
          <a:prstGeom prst="roundRect">
            <a:avLst>
              <a:gd name="adj" fmla="val 7442"/>
            </a:avLst>
          </a:prstGeom>
          <a:solidFill>
            <a:srgbClr val="15142A">
              <a:alpha val="75000"/>
            </a:srgbClr>
          </a:solidFill>
          <a:ln w="12700">
            <a:solidFill>
              <a:srgbClr val="2C2B45"/>
            </a:solidFill>
            <a:prstDash val="solid"/>
          </a:ln>
        </p:spPr>
      </p:sp>
      <p:sp>
        <p:nvSpPr>
          <p:cNvPr id="27" name="icon tile"/>
          <p:cNvSpPr/>
          <p:nvPr/>
        </p:nvSpPr>
        <p:spPr>
          <a:xfrm>
            <a:off x="4549140" y="4315968"/>
            <a:ext cx="457200" cy="457200"/>
          </a:xfrm>
          <a:prstGeom prst="roundRect">
            <a:avLst>
              <a:gd name="adj" fmla="val 24000"/>
            </a:avLst>
          </a:prstGeom>
          <a:solidFill>
            <a:srgbClr val="46D3F5">
              <a:alpha val="18000"/>
            </a:srgbClr>
          </a:solidFill>
          <a:ln w="9525">
            <a:solidFill>
              <a:srgbClr val="46D3F5">
                <a:alpha val="45000"/>
              </a:srgbClr>
            </a:solidFill>
            <a:prstDash val="solid"/>
          </a:ln>
        </p:spPr>
      </p:sp>
      <p:pic>
        <p:nvPicPr>
          <p:cNvPr id="28" name="Image 4" descr="Shield icon">    </p:cNvPr>
          <p:cNvPicPr>
            <a:picLocks noChangeAspect="1"/>
          </p:cNvPicPr>
          <p:nvPr/>
        </p:nvPicPr>
        <p:blipFill>
          <a:blip r:embed="rId5"/>
          <a:stretch>
            <a:fillRect/>
          </a:stretch>
        </p:blipFill>
        <p:spPr>
          <a:xfrm>
            <a:off x="4649724" y="4416552"/>
            <a:ext cx="256032" cy="256032"/>
          </a:xfrm>
          <a:prstGeom prst="rect">
            <a:avLst/>
          </a:prstGeom>
        </p:spPr>
      </p:pic>
      <p:sp>
        <p:nvSpPr>
          <p:cNvPr id="29" name="Text 22"/>
          <p:cNvSpPr txBox="1"/>
          <p:nvPr/>
        </p:nvSpPr>
        <p:spPr>
          <a:xfrm>
            <a:off x="5143500" y="4315968"/>
            <a:ext cx="2542032" cy="457200"/>
          </a:xfrm>
          <a:prstGeom prst="rect">
            <a:avLst/>
          </a:prstGeom>
          <a:noFill/>
          <a:ln/>
        </p:spPr>
        <p:txBody>
          <a:bodyPr wrap="square" lIns="0" tIns="0" rIns="0" bIns="0" rtlCol="0" anchor="ctr"/>
          <a:lstStyle/>
          <a:p>
            <a:pPr indent="0" marL="0">
              <a:buNone/>
            </a:pPr>
            <a:r>
              <a:rPr lang="en-US" sz="1700" b="1" dirty="0">
                <a:solidFill>
                  <a:schemeClr val="bg1"/>
                </a:solidFill>
              </a:rPr>
              <a:t>Every decision explained</a:t>
            </a:r>
            <a:endParaRPr lang="en-US" sz="1700" dirty="0"/>
          </a:p>
        </p:txBody>
      </p:sp>
      <p:sp>
        <p:nvSpPr>
          <p:cNvPr id="30" name="Text 23"/>
          <p:cNvSpPr txBox="1"/>
          <p:nvPr/>
        </p:nvSpPr>
        <p:spPr>
          <a:xfrm>
            <a:off x="4549140" y="4892040"/>
            <a:ext cx="3090672" cy="1097280"/>
          </a:xfrm>
          <a:prstGeom prst="rect">
            <a:avLst/>
          </a:prstGeom>
          <a:noFill/>
          <a:ln/>
        </p:spPr>
        <p:txBody>
          <a:bodyPr wrap="square" lIns="0" tIns="0" rIns="0" bIns="0" rtlCol="0" anchor="t"/>
          <a:lstStyle/>
          <a:p>
            <a:pPr indent="0" marL="0">
              <a:buNone/>
            </a:pPr>
            <a:r>
              <a:rPr lang="en-US" sz="1350" dirty="0">
                <a:solidFill>
                  <a:schemeClr val="bg2"/>
                </a:solidFill>
              </a:rPr>
              <a:t>Each approval, block and stop records the rule that applied and the policy file's fingerprint.</a:t>
            </a:r>
            <a:endParaRPr lang="en-US" sz="1350" dirty="0"/>
          </a:p>
        </p:txBody>
      </p:sp>
      <p:sp>
        <p:nvSpPr>
          <p:cNvPr id="31" name="card"/>
          <p:cNvSpPr/>
          <p:nvPr/>
        </p:nvSpPr>
        <p:spPr>
          <a:xfrm>
            <a:off x="8092440" y="4087368"/>
            <a:ext cx="3547872" cy="1965960"/>
          </a:xfrm>
          <a:prstGeom prst="roundRect">
            <a:avLst>
              <a:gd name="adj" fmla="val 7442"/>
            </a:avLst>
          </a:prstGeom>
          <a:solidFill>
            <a:srgbClr val="15142A">
              <a:alpha val="75000"/>
            </a:srgbClr>
          </a:solidFill>
          <a:ln w="12700">
            <a:solidFill>
              <a:srgbClr val="2C2B45"/>
            </a:solidFill>
            <a:prstDash val="solid"/>
          </a:ln>
        </p:spPr>
      </p:sp>
      <p:sp>
        <p:nvSpPr>
          <p:cNvPr id="32" name="icon tile"/>
          <p:cNvSpPr/>
          <p:nvPr/>
        </p:nvSpPr>
        <p:spPr>
          <a:xfrm>
            <a:off x="8321040" y="4315968"/>
            <a:ext cx="457200" cy="457200"/>
          </a:xfrm>
          <a:prstGeom prst="roundRect">
            <a:avLst>
              <a:gd name="adj" fmla="val 24000"/>
            </a:avLst>
          </a:prstGeom>
          <a:solidFill>
            <a:srgbClr val="6EA0FF">
              <a:alpha val="18000"/>
            </a:srgbClr>
          </a:solidFill>
          <a:ln w="9525">
            <a:solidFill>
              <a:srgbClr val="6EA0FF">
                <a:alpha val="45000"/>
              </a:srgbClr>
            </a:solidFill>
            <a:prstDash val="solid"/>
          </a:ln>
        </p:spPr>
      </p:sp>
      <p:pic>
        <p:nvPicPr>
          <p:cNvPr id="33" name="Image 5" descr="Key icon">    </p:cNvPr>
          <p:cNvPicPr>
            <a:picLocks noChangeAspect="1"/>
          </p:cNvPicPr>
          <p:nvPr/>
        </p:nvPicPr>
        <p:blipFill>
          <a:blip r:embed="rId6"/>
          <a:stretch>
            <a:fillRect/>
          </a:stretch>
        </p:blipFill>
        <p:spPr>
          <a:xfrm>
            <a:off x="8421624" y="4416552"/>
            <a:ext cx="256032" cy="256032"/>
          </a:xfrm>
          <a:prstGeom prst="rect">
            <a:avLst/>
          </a:prstGeom>
        </p:spPr>
      </p:pic>
      <p:sp>
        <p:nvSpPr>
          <p:cNvPr id="34" name="Text 26"/>
          <p:cNvSpPr txBox="1"/>
          <p:nvPr/>
        </p:nvSpPr>
        <p:spPr>
          <a:xfrm>
            <a:off x="8915400" y="4315968"/>
            <a:ext cx="2542032" cy="457200"/>
          </a:xfrm>
          <a:prstGeom prst="rect">
            <a:avLst/>
          </a:prstGeom>
          <a:noFill/>
          <a:ln/>
        </p:spPr>
        <p:txBody>
          <a:bodyPr wrap="square" lIns="0" tIns="0" rIns="0" bIns="0" rtlCol="0" anchor="ctr"/>
          <a:lstStyle/>
          <a:p>
            <a:pPr indent="0" marL="0">
              <a:buNone/>
            </a:pPr>
            <a:r>
              <a:rPr lang="en-US" sz="1700" b="1" dirty="0">
                <a:solidFill>
                  <a:schemeClr val="bg1"/>
                </a:solidFill>
              </a:rPr>
              <a:t>Role-based access</a:t>
            </a:r>
            <a:endParaRPr lang="en-US" sz="1700" dirty="0"/>
          </a:p>
        </p:txBody>
      </p:sp>
      <p:sp>
        <p:nvSpPr>
          <p:cNvPr id="35" name="Text 27"/>
          <p:cNvSpPr txBox="1"/>
          <p:nvPr/>
        </p:nvSpPr>
        <p:spPr>
          <a:xfrm>
            <a:off x="8321040" y="4892040"/>
            <a:ext cx="3090672" cy="1097280"/>
          </a:xfrm>
          <a:prstGeom prst="rect">
            <a:avLst/>
          </a:prstGeom>
          <a:noFill/>
          <a:ln/>
        </p:spPr>
        <p:txBody>
          <a:bodyPr wrap="square" lIns="0" tIns="0" rIns="0" bIns="0" rtlCol="0" anchor="t"/>
          <a:lstStyle/>
          <a:p>
            <a:pPr indent="0" marL="0">
              <a:buNone/>
            </a:pPr>
            <a:r>
              <a:rPr lang="en-US" sz="1350" dirty="0">
                <a:solidFill>
                  <a:schemeClr val="bg2"/>
                </a:solidFill>
              </a:rPr>
              <a:t>Testers, developers and leads, checked server-side on every write. AI tokens, cost and energy on every ticket.</a:t>
            </a:r>
            <a:endParaRPr lang="en-US" sz="135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ARGUS CONNECT</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Same agents. Any service. One config file</a:t>
            </a:r>
            <a:endParaRPr lang="en-US" sz="3600" dirty="0"/>
          </a:p>
        </p:txBody>
      </p:sp>
      <p:sp>
        <p:nvSpPr>
          <p:cNvPr id="4" name="criteria tag"/>
          <p:cNvSpPr/>
          <p:nvPr/>
        </p:nvSpPr>
        <p:spPr>
          <a:xfrm>
            <a:off x="7434072" y="420624"/>
            <a:ext cx="4206240" cy="347472"/>
          </a:xfrm>
          <a:prstGeom prst="roundRect">
            <a:avLst>
              <a:gd name="adj" fmla="val 21053"/>
            </a:avLst>
          </a:prstGeom>
          <a:solidFill>
            <a:srgbClr val="8B7CFF">
              <a:alpha val="18000"/>
            </a:srgbClr>
          </a:solidFill>
          <a:ln w="9525">
            <a:solidFill>
              <a:srgbClr val="8B7CFF">
                <a:alpha val="55000"/>
              </a:srgbClr>
            </a:solidFill>
            <a:prstDash val="solid"/>
          </a:ln>
        </p:spPr>
      </p:sp>
      <p:sp>
        <p:nvSpPr>
          <p:cNvPr id="5" name="Text 3"/>
          <p:cNvSpPr txBox="1"/>
          <p:nvPr/>
        </p:nvSpPr>
        <p:spPr>
          <a:xfrm>
            <a:off x="7434072" y="420624"/>
            <a:ext cx="4206240" cy="347472"/>
          </a:xfrm>
          <a:prstGeom prst="rect">
            <a:avLst/>
          </a:prstGeom>
          <a:noFill/>
          <a:ln/>
        </p:spPr>
        <p:txBody>
          <a:bodyPr wrap="square" lIns="0" tIns="0" rIns="0" bIns="0" rtlCol="0" anchor="ctr"/>
          <a:lstStyle/>
          <a:p>
            <a:pPr algn="ctr" indent="0" marL="0">
              <a:buNone/>
            </a:pPr>
            <a:r>
              <a:rPr lang="en-US" sz="1100" b="1" spc="100" kern="0" dirty="0">
                <a:solidFill>
                  <a:srgbClr val="C9C2FF"/>
                </a:solidFill>
                <a:latin typeface="Consolas" pitchFamily="34" charset="0"/>
                <a:ea typeface="Consolas" pitchFamily="34" charset="-122"/>
                <a:cs typeface="Consolas" pitchFamily="34" charset="-120"/>
              </a:rPr>
              <a:t>JUDGING · REUSABILITY</a:t>
            </a:r>
            <a:endParaRPr lang="en-US" sz="1100" dirty="0"/>
          </a:p>
        </p:txBody>
      </p:sp>
      <p:sp>
        <p:nvSpPr>
          <p:cNvPr id="6" name="card"/>
          <p:cNvSpPr/>
          <p:nvPr/>
        </p:nvSpPr>
        <p:spPr>
          <a:xfrm>
            <a:off x="548640" y="1920240"/>
            <a:ext cx="6035040" cy="914400"/>
          </a:xfrm>
          <a:prstGeom prst="roundRect">
            <a:avLst>
              <a:gd name="adj" fmla="val 16000"/>
            </a:avLst>
          </a:prstGeom>
          <a:solidFill>
            <a:srgbClr val="15142A">
              <a:alpha val="75000"/>
            </a:srgbClr>
          </a:solidFill>
          <a:ln w="12700">
            <a:solidFill>
              <a:srgbClr val="2C2B45"/>
            </a:solidFill>
            <a:prstDash val="solid"/>
          </a:ln>
        </p:spPr>
      </p:sp>
      <p:sp>
        <p:nvSpPr>
          <p:cNvPr id="7" name="icon tile"/>
          <p:cNvSpPr/>
          <p:nvPr/>
        </p:nvSpPr>
        <p:spPr>
          <a:xfrm>
            <a:off x="749808" y="2139696"/>
            <a:ext cx="475488" cy="475488"/>
          </a:xfrm>
          <a:prstGeom prst="roundRect">
            <a:avLst>
              <a:gd name="adj" fmla="val 23077"/>
            </a:avLst>
          </a:prstGeom>
          <a:solidFill>
            <a:srgbClr val="FFB547">
              <a:alpha val="18000"/>
            </a:srgbClr>
          </a:solidFill>
          <a:ln w="9525">
            <a:solidFill>
              <a:srgbClr val="FFB547">
                <a:alpha val="45000"/>
              </a:srgbClr>
            </a:solidFill>
            <a:prstDash val="solid"/>
          </a:ln>
        </p:spPr>
      </p:sp>
      <p:pic>
        <p:nvPicPr>
          <p:cNvPr id="8" name="Image 0" descr="Bell icon">    </p:cNvPr>
          <p:cNvPicPr>
            <a:picLocks noChangeAspect="1"/>
          </p:cNvPicPr>
          <p:nvPr/>
        </p:nvPicPr>
        <p:blipFill>
          <a:blip r:embed="rId1"/>
          <a:stretch>
            <a:fillRect/>
          </a:stretch>
        </p:blipFill>
        <p:spPr>
          <a:xfrm>
            <a:off x="854415" y="2244303"/>
            <a:ext cx="266273" cy="266273"/>
          </a:xfrm>
          <a:prstGeom prst="rect">
            <a:avLst/>
          </a:prstGeom>
        </p:spPr>
      </p:pic>
      <p:sp>
        <p:nvSpPr>
          <p:cNvPr id="9" name="Text 6"/>
          <p:cNvSpPr txBox="1"/>
          <p:nvPr/>
        </p:nvSpPr>
        <p:spPr>
          <a:xfrm>
            <a:off x="1417320" y="2011680"/>
            <a:ext cx="5029200" cy="329184"/>
          </a:xfrm>
          <a:prstGeom prst="rect">
            <a:avLst/>
          </a:prstGeom>
          <a:noFill/>
          <a:ln/>
        </p:spPr>
        <p:txBody>
          <a:bodyPr wrap="square" lIns="0" tIns="0" rIns="0" bIns="0" rtlCol="0" anchor="ctr"/>
          <a:lstStyle/>
          <a:p>
            <a:pPr indent="0" marL="0">
              <a:buNone/>
            </a:pPr>
            <a:r>
              <a:rPr lang="en-US" sz="1600" b="1" dirty="0">
                <a:solidFill>
                  <a:schemeClr val="bg1"/>
                </a:solidFill>
              </a:rPr>
              <a:t>Alert adapters</a:t>
            </a:r>
            <a:endParaRPr lang="en-US" sz="1600" dirty="0"/>
          </a:p>
        </p:txBody>
      </p:sp>
      <p:sp>
        <p:nvSpPr>
          <p:cNvPr id="10" name="Text 7"/>
          <p:cNvSpPr txBox="1"/>
          <p:nvPr/>
        </p:nvSpPr>
        <p:spPr>
          <a:xfrm>
            <a:off x="1417320" y="2331720"/>
            <a:ext cx="5029200" cy="457200"/>
          </a:xfrm>
          <a:prstGeom prst="rect">
            <a:avLst/>
          </a:prstGeom>
          <a:noFill/>
          <a:ln/>
        </p:spPr>
        <p:txBody>
          <a:bodyPr wrap="square" lIns="0" tIns="0" rIns="0" bIns="0" rtlCol="0" anchor="t"/>
          <a:lstStyle/>
          <a:p>
            <a:pPr indent="0" marL="0">
              <a:buNone/>
            </a:pPr>
            <a:r>
              <a:rPr lang="en-US" sz="1250" dirty="0">
                <a:solidFill>
                  <a:schemeClr val="bg2"/>
                </a:solidFill>
              </a:rPr>
              <a:t>alertmanager · grafana · standard: any webhook to POST /alerts becomes one standard incident, routed by labels.</a:t>
            </a:r>
            <a:endParaRPr lang="en-US" sz="1250" dirty="0"/>
          </a:p>
        </p:txBody>
      </p:sp>
      <p:sp>
        <p:nvSpPr>
          <p:cNvPr id="11" name="card"/>
          <p:cNvSpPr/>
          <p:nvPr/>
        </p:nvSpPr>
        <p:spPr>
          <a:xfrm>
            <a:off x="548640" y="2944368"/>
            <a:ext cx="6035040" cy="914400"/>
          </a:xfrm>
          <a:prstGeom prst="roundRect">
            <a:avLst>
              <a:gd name="adj" fmla="val 16000"/>
            </a:avLst>
          </a:prstGeom>
          <a:solidFill>
            <a:srgbClr val="15142A">
              <a:alpha val="75000"/>
            </a:srgbClr>
          </a:solidFill>
          <a:ln w="12700">
            <a:solidFill>
              <a:srgbClr val="2C2B45"/>
            </a:solidFill>
            <a:prstDash val="solid"/>
          </a:ln>
        </p:spPr>
      </p:sp>
      <p:sp>
        <p:nvSpPr>
          <p:cNvPr id="12" name="icon tile"/>
          <p:cNvSpPr/>
          <p:nvPr/>
        </p:nvSpPr>
        <p:spPr>
          <a:xfrm>
            <a:off x="749808" y="3163824"/>
            <a:ext cx="475488" cy="475488"/>
          </a:xfrm>
          <a:prstGeom prst="roundRect">
            <a:avLst>
              <a:gd name="adj" fmla="val 23077"/>
            </a:avLst>
          </a:prstGeom>
          <a:solidFill>
            <a:srgbClr val="46D3F5">
              <a:alpha val="18000"/>
            </a:srgbClr>
          </a:solidFill>
          <a:ln w="9525">
            <a:solidFill>
              <a:srgbClr val="46D3F5">
                <a:alpha val="45000"/>
              </a:srgbClr>
            </a:solidFill>
            <a:prstDash val="solid"/>
          </a:ln>
        </p:spPr>
      </p:sp>
      <p:pic>
        <p:nvPicPr>
          <p:cNvPr id="13" name="Image 1" descr="Database icon">    </p:cNvPr>
          <p:cNvPicPr>
            <a:picLocks noChangeAspect="1"/>
          </p:cNvPicPr>
          <p:nvPr/>
        </p:nvPicPr>
        <p:blipFill>
          <a:blip r:embed="rId2"/>
          <a:stretch>
            <a:fillRect/>
          </a:stretch>
        </p:blipFill>
        <p:spPr>
          <a:xfrm>
            <a:off x="854415" y="3268431"/>
            <a:ext cx="266273" cy="266273"/>
          </a:xfrm>
          <a:prstGeom prst="rect">
            <a:avLst/>
          </a:prstGeom>
        </p:spPr>
      </p:pic>
      <p:sp>
        <p:nvSpPr>
          <p:cNvPr id="14" name="Text 10"/>
          <p:cNvSpPr txBox="1"/>
          <p:nvPr/>
        </p:nvSpPr>
        <p:spPr>
          <a:xfrm>
            <a:off x="1417320" y="3035808"/>
            <a:ext cx="5029200" cy="329184"/>
          </a:xfrm>
          <a:prstGeom prst="rect">
            <a:avLst/>
          </a:prstGeom>
          <a:noFill/>
          <a:ln/>
        </p:spPr>
        <p:txBody>
          <a:bodyPr wrap="square" lIns="0" tIns="0" rIns="0" bIns="0" rtlCol="0" anchor="ctr"/>
          <a:lstStyle/>
          <a:p>
            <a:pPr indent="0" marL="0">
              <a:buNone/>
            </a:pPr>
            <a:r>
              <a:rPr lang="en-US" sz="1600" b="1" dirty="0">
                <a:solidFill>
                  <a:schemeClr val="bg1"/>
                </a:solidFill>
              </a:rPr>
              <a:t>Log &amp; repo adapters</a:t>
            </a:r>
            <a:endParaRPr lang="en-US" sz="1600" dirty="0"/>
          </a:p>
        </p:txBody>
      </p:sp>
      <p:sp>
        <p:nvSpPr>
          <p:cNvPr id="15" name="Text 11"/>
          <p:cNvSpPr txBox="1"/>
          <p:nvPr/>
        </p:nvSpPr>
        <p:spPr>
          <a:xfrm>
            <a:off x="1417320" y="3355848"/>
            <a:ext cx="5029200" cy="457200"/>
          </a:xfrm>
          <a:prstGeom prst="rect">
            <a:avLst/>
          </a:prstGeom>
          <a:noFill/>
          <a:ln/>
        </p:spPr>
        <p:txBody>
          <a:bodyPr wrap="square" lIns="0" tIns="0" rIns="0" bIns="0" rtlCol="0" anchor="t"/>
          <a:lstStyle/>
          <a:p>
            <a:pPr indent="0" marL="0">
              <a:buNone/>
            </a:pPr>
            <a:r>
              <a:rPr lang="en-US" sz="1250" dirty="0">
                <a:solidFill>
                  <a:schemeClr val="bg2"/>
                </a:solidFill>
              </a:rPr>
              <a:t>text · jsonl · csv · command (docker logs, kubectl logs) · git (local checkout or cloned URL).</a:t>
            </a:r>
            <a:endParaRPr lang="en-US" sz="1250" dirty="0"/>
          </a:p>
        </p:txBody>
      </p:sp>
      <p:sp>
        <p:nvSpPr>
          <p:cNvPr id="16" name="card"/>
          <p:cNvSpPr/>
          <p:nvPr/>
        </p:nvSpPr>
        <p:spPr>
          <a:xfrm>
            <a:off x="548640" y="3968496"/>
            <a:ext cx="6035040" cy="914400"/>
          </a:xfrm>
          <a:prstGeom prst="roundRect">
            <a:avLst>
              <a:gd name="adj" fmla="val 16000"/>
            </a:avLst>
          </a:prstGeom>
          <a:solidFill>
            <a:srgbClr val="15142A">
              <a:alpha val="75000"/>
            </a:srgbClr>
          </a:solidFill>
          <a:ln w="12700">
            <a:solidFill>
              <a:srgbClr val="2C2B45"/>
            </a:solidFill>
            <a:prstDash val="solid"/>
          </a:ln>
        </p:spPr>
      </p:sp>
      <p:sp>
        <p:nvSpPr>
          <p:cNvPr id="17" name="icon tile"/>
          <p:cNvSpPr/>
          <p:nvPr/>
        </p:nvSpPr>
        <p:spPr>
          <a:xfrm>
            <a:off x="749808" y="4187952"/>
            <a:ext cx="475488" cy="475488"/>
          </a:xfrm>
          <a:prstGeom prst="roundRect">
            <a:avLst>
              <a:gd name="adj" fmla="val 23077"/>
            </a:avLst>
          </a:prstGeom>
          <a:solidFill>
            <a:srgbClr val="8B7CFF">
              <a:alpha val="18000"/>
            </a:srgbClr>
          </a:solidFill>
          <a:ln w="9525">
            <a:solidFill>
              <a:srgbClr val="8B7CFF">
                <a:alpha val="45000"/>
              </a:srgbClr>
            </a:solidFill>
            <a:prstDash val="solid"/>
          </a:ln>
        </p:spPr>
      </p:sp>
      <p:pic>
        <p:nvPicPr>
          <p:cNvPr id="18" name="Image 2" descr="Cpu icon">    </p:cNvPr>
          <p:cNvPicPr>
            <a:picLocks noChangeAspect="1"/>
          </p:cNvPicPr>
          <p:nvPr/>
        </p:nvPicPr>
        <p:blipFill>
          <a:blip r:embed="rId3"/>
          <a:stretch>
            <a:fillRect/>
          </a:stretch>
        </p:blipFill>
        <p:spPr>
          <a:xfrm>
            <a:off x="854415" y="4292559"/>
            <a:ext cx="266273" cy="266273"/>
          </a:xfrm>
          <a:prstGeom prst="rect">
            <a:avLst/>
          </a:prstGeom>
        </p:spPr>
      </p:pic>
      <p:sp>
        <p:nvSpPr>
          <p:cNvPr id="19" name="Text 14"/>
          <p:cNvSpPr txBox="1"/>
          <p:nvPr/>
        </p:nvSpPr>
        <p:spPr>
          <a:xfrm>
            <a:off x="1417320" y="4059936"/>
            <a:ext cx="5029200" cy="329184"/>
          </a:xfrm>
          <a:prstGeom prst="rect">
            <a:avLst/>
          </a:prstGeom>
          <a:noFill/>
          <a:ln/>
        </p:spPr>
        <p:txBody>
          <a:bodyPr wrap="square" lIns="0" tIns="0" rIns="0" bIns="0" rtlCol="0" anchor="ctr"/>
          <a:lstStyle/>
          <a:p>
            <a:pPr indent="0" marL="0">
              <a:buNone/>
            </a:pPr>
            <a:r>
              <a:rPr lang="en-US" sz="1600" b="1" dirty="0">
                <a:solidFill>
                  <a:schemeClr val="bg1"/>
                </a:solidFill>
              </a:rPr>
              <a:t>Model-agnostic</a:t>
            </a:r>
            <a:endParaRPr lang="en-US" sz="1600" dirty="0"/>
          </a:p>
        </p:txBody>
      </p:sp>
      <p:sp>
        <p:nvSpPr>
          <p:cNvPr id="20" name="Text 15"/>
          <p:cNvSpPr txBox="1"/>
          <p:nvPr/>
        </p:nvSpPr>
        <p:spPr>
          <a:xfrm>
            <a:off x="1417320" y="4379976"/>
            <a:ext cx="5029200" cy="457200"/>
          </a:xfrm>
          <a:prstGeom prst="rect">
            <a:avLst/>
          </a:prstGeom>
          <a:noFill/>
          <a:ln/>
        </p:spPr>
        <p:txBody>
          <a:bodyPr wrap="square" lIns="0" tIns="0" rIns="0" bIns="0" rtlCol="0" anchor="t"/>
          <a:lstStyle/>
          <a:p>
            <a:pPr indent="0" marL="0">
              <a:buNone/>
            </a:pPr>
            <a:r>
              <a:rPr lang="en-US" sz="1250" dirty="0">
                <a:solidFill>
                  <a:schemeClr val="bg2"/>
                </a:solidFill>
              </a:rPr>
              <a:t>Groq, Gemini, OpenRouter or local Ollama through OpenAI-compatible APIs, with automatic failover.</a:t>
            </a:r>
            <a:endParaRPr lang="en-US" sz="1250" dirty="0"/>
          </a:p>
        </p:txBody>
      </p:sp>
      <p:sp>
        <p:nvSpPr>
          <p:cNvPr id="21" name="card"/>
          <p:cNvSpPr/>
          <p:nvPr/>
        </p:nvSpPr>
        <p:spPr>
          <a:xfrm>
            <a:off x="548640" y="4992624"/>
            <a:ext cx="6035040" cy="914400"/>
          </a:xfrm>
          <a:prstGeom prst="roundRect">
            <a:avLst>
              <a:gd name="adj" fmla="val 16000"/>
            </a:avLst>
          </a:prstGeom>
          <a:solidFill>
            <a:srgbClr val="15142A">
              <a:alpha val="75000"/>
            </a:srgbClr>
          </a:solidFill>
          <a:ln w="12700">
            <a:solidFill>
              <a:srgbClr val="2C2B45"/>
            </a:solidFill>
            <a:prstDash val="solid"/>
          </a:ln>
        </p:spPr>
      </p:sp>
      <p:sp>
        <p:nvSpPr>
          <p:cNvPr id="22" name="icon tile"/>
          <p:cNvSpPr/>
          <p:nvPr/>
        </p:nvSpPr>
        <p:spPr>
          <a:xfrm>
            <a:off x="749808" y="5212080"/>
            <a:ext cx="475488" cy="475488"/>
          </a:xfrm>
          <a:prstGeom prst="roundRect">
            <a:avLst>
              <a:gd name="adj" fmla="val 23077"/>
            </a:avLst>
          </a:prstGeom>
          <a:solidFill>
            <a:srgbClr val="3EE59A">
              <a:alpha val="18000"/>
            </a:srgbClr>
          </a:solidFill>
          <a:ln w="9525">
            <a:solidFill>
              <a:srgbClr val="3EE59A">
                <a:alpha val="45000"/>
              </a:srgbClr>
            </a:solidFill>
            <a:prstDash val="solid"/>
          </a:ln>
        </p:spPr>
      </p:sp>
      <p:pic>
        <p:nvPicPr>
          <p:cNvPr id="23" name="Image 3" descr="Zap icon">    </p:cNvPr>
          <p:cNvPicPr>
            <a:picLocks noChangeAspect="1"/>
          </p:cNvPicPr>
          <p:nvPr/>
        </p:nvPicPr>
        <p:blipFill>
          <a:blip r:embed="rId4"/>
          <a:stretch>
            <a:fillRect/>
          </a:stretch>
        </p:blipFill>
        <p:spPr>
          <a:xfrm>
            <a:off x="854415" y="5316687"/>
            <a:ext cx="266273" cy="266273"/>
          </a:xfrm>
          <a:prstGeom prst="rect">
            <a:avLst/>
          </a:prstGeom>
        </p:spPr>
      </p:pic>
      <p:sp>
        <p:nvSpPr>
          <p:cNvPr id="24" name="Text 18"/>
          <p:cNvSpPr txBox="1"/>
          <p:nvPr/>
        </p:nvSpPr>
        <p:spPr>
          <a:xfrm>
            <a:off x="1417320" y="5084064"/>
            <a:ext cx="5029200" cy="329184"/>
          </a:xfrm>
          <a:prstGeom prst="rect">
            <a:avLst/>
          </a:prstGeom>
          <a:noFill/>
          <a:ln/>
        </p:spPr>
        <p:txBody>
          <a:bodyPr wrap="square" lIns="0" tIns="0" rIns="0" bIns="0" rtlCol="0" anchor="ctr"/>
          <a:lstStyle/>
          <a:p>
            <a:pPr indent="0" marL="0">
              <a:buNone/>
            </a:pPr>
            <a:r>
              <a:rPr lang="en-US" sz="1600" b="1" dirty="0">
                <a:solidFill>
                  <a:schemeClr val="bg1"/>
                </a:solidFill>
              </a:rPr>
              <a:t>Onboard in minutes</a:t>
            </a:r>
            <a:endParaRPr lang="en-US" sz="1600" dirty="0"/>
          </a:p>
        </p:txBody>
      </p:sp>
      <p:sp>
        <p:nvSpPr>
          <p:cNvPr id="25" name="Text 19"/>
          <p:cNvSpPr txBox="1"/>
          <p:nvPr/>
        </p:nvSpPr>
        <p:spPr>
          <a:xfrm>
            <a:off x="1417320" y="5404104"/>
            <a:ext cx="5029200" cy="457200"/>
          </a:xfrm>
          <a:prstGeom prst="rect">
            <a:avLst/>
          </a:prstGeom>
          <a:noFill/>
          <a:ln/>
        </p:spPr>
        <p:txBody>
          <a:bodyPr wrap="square" lIns="0" tIns="0" rIns="0" bIns="0" rtlCol="0" anchor="t"/>
          <a:lstStyle/>
          <a:p>
            <a:pPr indent="0" marL="0">
              <a:buNone/>
            </a:pPr>
            <a:r>
              <a:rPr lang="en-US" sz="1250" dirty="0">
                <a:solidFill>
                  <a:schemeClr val="bg2"/>
                </a:solidFill>
              </a:rPr>
              <a:t>connect.wizard new my_service asks a few questions, writes argus.yaml and validates it.</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903720" y="1965960"/>
          <a:ext cx="4736592" cy="914400"/>
        </p:xfrm>
        <a:graphic>
          <a:graphicData uri="http://schemas.openxmlformats.org/drawingml/2006/table">
            <a:tbl>
              <a:tblPr/>
              <a:tblGrid>
                <a:gridCol w="1828800"/>
                <a:gridCol w="1453896"/>
                <a:gridCol w="1453896"/>
              </a:tblGrid>
              <a:tr h="438912">
                <a:tc>
                  <a:txBody>
                    <a:bodyPr/>
                    <a:lstStyle/>
                    <a:p>
                      <a:pPr indent="0" marL="0">
                        <a:buNone/>
                      </a:pPr>
                      <a:r>
                        <a:rPr lang="en-US" sz="1100" b="1" dirty="0">
                          <a:solidFill>
                            <a:srgbClr val="7A7898"/>
                          </a:solidFill>
                          <a:latin typeface="Consolas" pitchFamily="34" charset="0"/>
                          <a:ea typeface="Consolas" pitchFamily="34" charset="-122"/>
                          <a:cs typeface="Consolas" pitchFamily="34" charset="-120"/>
                        </a:rPr>
                        <a:t>PROVEN ON</a:t>
                      </a:r>
                      <a:endParaRPr lang="en-US" sz="1100" dirty="0">
                        <a:latin typeface="Consolas" charset="0"/>
                        <a:ea typeface="Consolas" charset="0"/>
                        <a:cs typeface="Consolas"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c>
                  <a:txBody>
                    <a:bodyPr/>
                    <a:lstStyle/>
                    <a:p>
                      <a:pPr indent="0" marL="0">
                        <a:buNone/>
                      </a:pPr>
                      <a:r>
                        <a:rPr lang="en-US" sz="1100" b="1" dirty="0">
                          <a:solidFill>
                            <a:srgbClr val="7A7898"/>
                          </a:solidFill>
                          <a:latin typeface="Consolas" pitchFamily="34" charset="0"/>
                          <a:ea typeface="Consolas" pitchFamily="34" charset="-122"/>
                          <a:cs typeface="Consolas" pitchFamily="34" charset="-120"/>
                        </a:rPr>
                        <a:t>SHOPFAST</a:t>
                      </a:r>
                      <a:endParaRPr lang="en-US" sz="1100" dirty="0">
                        <a:latin typeface="Consolas" charset="0"/>
                        <a:ea typeface="Consolas" charset="0"/>
                        <a:cs typeface="Consolas"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c>
                  <a:txBody>
                    <a:bodyPr/>
                    <a:lstStyle/>
                    <a:p>
                      <a:pPr indent="0" marL="0">
                        <a:buNone/>
                      </a:pPr>
                      <a:r>
                        <a:rPr lang="en-US" sz="1100" b="1" dirty="0">
                          <a:solidFill>
                            <a:srgbClr val="7A7898"/>
                          </a:solidFill>
                          <a:latin typeface="Consolas" pitchFamily="34" charset="0"/>
                          <a:ea typeface="Consolas" pitchFamily="34" charset="-122"/>
                          <a:cs typeface="Consolas" pitchFamily="34" charset="-120"/>
                        </a:rPr>
                        <a:t>QUICKBITE</a:t>
                      </a:r>
                      <a:endParaRPr lang="en-US" sz="1100" dirty="0">
                        <a:latin typeface="Consolas" charset="0"/>
                        <a:ea typeface="Consolas" charset="0"/>
                        <a:cs typeface="Consolas"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r>
              <a:tr h="438912">
                <a:tc>
                  <a:txBody>
                    <a:bodyPr/>
                    <a:lstStyle/>
                    <a:p>
                      <a:pPr indent="0" marL="0">
                        <a:buNone/>
                      </a:pPr>
                      <a:r>
                        <a:rPr lang="en-US" sz="1400" dirty="0">
                          <a:solidFill>
                            <a:srgbClr val="A9A7C8"/>
                          </a:solidFill>
                          <a:latin typeface="Calibri" pitchFamily="34" charset="0"/>
                          <a:ea typeface="Calibri" pitchFamily="34" charset="-122"/>
                          <a:cs typeface="Calibri" pitchFamily="34" charset="-120"/>
                        </a:rPr>
                        <a:t>Language</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c>
                  <a:txBody>
                    <a:bodyPr/>
                    <a:lstStyle/>
                    <a:p>
                      <a:pPr indent="0" marL="0">
                        <a:buNone/>
                      </a:pPr>
                      <a:r>
                        <a:rPr lang="en-US" sz="1400" b="1" dirty="0">
                          <a:solidFill>
                            <a:srgbClr val="F4F3FF"/>
                          </a:solidFill>
                          <a:latin typeface="Calibri" pitchFamily="34" charset="0"/>
                          <a:ea typeface="Calibri" pitchFamily="34" charset="-122"/>
                          <a:cs typeface="Calibri" pitchFamily="34" charset="-120"/>
                        </a:rPr>
                        <a:t>Python</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c>
                  <a:txBody>
                    <a:bodyPr/>
                    <a:lstStyle/>
                    <a:p>
                      <a:pPr indent="0" marL="0">
                        <a:buNone/>
                      </a:pPr>
                      <a:r>
                        <a:rPr lang="en-US" sz="1400" b="1" dirty="0">
                          <a:solidFill>
                            <a:srgbClr val="F4F3FF"/>
                          </a:solidFill>
                          <a:latin typeface="Calibri" pitchFamily="34" charset="0"/>
                          <a:ea typeface="Calibri" pitchFamily="34" charset="-122"/>
                          <a:cs typeface="Calibri" pitchFamily="34" charset="-120"/>
                        </a:rPr>
                        <a:t>Node.js</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r>
              <a:tr h="438912">
                <a:tc>
                  <a:txBody>
                    <a:bodyPr/>
                    <a:lstStyle/>
                    <a:p>
                      <a:pPr indent="0" marL="0">
                        <a:buNone/>
                      </a:pPr>
                      <a:r>
                        <a:rPr lang="en-US" sz="1400" dirty="0">
                          <a:solidFill>
                            <a:srgbClr val="A9A7C8"/>
                          </a:solidFill>
                          <a:latin typeface="Calibri" pitchFamily="34" charset="0"/>
                          <a:ea typeface="Calibri" pitchFamily="34" charset="-122"/>
                          <a:cs typeface="Calibri" pitchFamily="34" charset="-120"/>
                        </a:rPr>
                        <a:t>Monitoring</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c>
                  <a:txBody>
                    <a:bodyPr/>
                    <a:lstStyle/>
                    <a:p>
                      <a:pPr indent="0" marL="0">
                        <a:buNone/>
                      </a:pPr>
                      <a:r>
                        <a:rPr lang="en-US" sz="1400" b="1" dirty="0">
                          <a:solidFill>
                            <a:srgbClr val="F4F3FF"/>
                          </a:solidFill>
                          <a:latin typeface="Calibri" pitchFamily="34" charset="0"/>
                          <a:ea typeface="Calibri" pitchFamily="34" charset="-122"/>
                          <a:cs typeface="Calibri" pitchFamily="34" charset="-120"/>
                        </a:rPr>
                        <a:t>Alertmanager</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c>
                  <a:txBody>
                    <a:bodyPr/>
                    <a:lstStyle/>
                    <a:p>
                      <a:pPr indent="0" marL="0">
                        <a:buNone/>
                      </a:pPr>
                      <a:r>
                        <a:rPr lang="en-US" sz="1400" b="1" dirty="0">
                          <a:solidFill>
                            <a:srgbClr val="F4F3FF"/>
                          </a:solidFill>
                          <a:latin typeface="Calibri" pitchFamily="34" charset="0"/>
                          <a:ea typeface="Calibri" pitchFamily="34" charset="-122"/>
                          <a:cs typeface="Calibri" pitchFamily="34" charset="-120"/>
                        </a:rPr>
                        <a:t>Grafana</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r>
              <a:tr h="438912">
                <a:tc>
                  <a:txBody>
                    <a:bodyPr/>
                    <a:lstStyle/>
                    <a:p>
                      <a:pPr indent="0" marL="0">
                        <a:buNone/>
                      </a:pPr>
                      <a:r>
                        <a:rPr lang="en-US" sz="1400" dirty="0">
                          <a:solidFill>
                            <a:srgbClr val="A9A7C8"/>
                          </a:solidFill>
                          <a:latin typeface="Calibri" pitchFamily="34" charset="0"/>
                          <a:ea typeface="Calibri" pitchFamily="34" charset="-122"/>
                          <a:cs typeface="Calibri" pitchFamily="34" charset="-120"/>
                        </a:rPr>
                        <a:t>Logs</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c>
                  <a:txBody>
                    <a:bodyPr/>
                    <a:lstStyle/>
                    <a:p>
                      <a:pPr indent="0" marL="0">
                        <a:buNone/>
                      </a:pPr>
                      <a:r>
                        <a:rPr lang="en-US" sz="1400" b="1" dirty="0">
                          <a:solidFill>
                            <a:srgbClr val="F4F3FF"/>
                          </a:solidFill>
                          <a:latin typeface="Calibri" pitchFamily="34" charset="0"/>
                          <a:ea typeface="Calibri" pitchFamily="34" charset="-122"/>
                          <a:cs typeface="Calibri" pitchFamily="34" charset="-120"/>
                        </a:rPr>
                        <a:t>Plain text</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c>
                  <a:txBody>
                    <a:bodyPr/>
                    <a:lstStyle/>
                    <a:p>
                      <a:pPr indent="0" marL="0">
                        <a:buNone/>
                      </a:pPr>
                      <a:r>
                        <a:rPr lang="en-US" sz="1400" b="1" dirty="0">
                          <a:solidFill>
                            <a:srgbClr val="F4F3FF"/>
                          </a:solidFill>
                          <a:latin typeface="Calibri" pitchFamily="34" charset="0"/>
                          <a:ea typeface="Calibri" pitchFamily="34" charset="-122"/>
                          <a:cs typeface="Calibri" pitchFamily="34" charset="-120"/>
                        </a:rPr>
                        <a:t>JSON · CSV</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r>
              <a:tr h="438912">
                <a:tc>
                  <a:txBody>
                    <a:bodyPr/>
                    <a:lstStyle/>
                    <a:p>
                      <a:pPr indent="0" marL="0">
                        <a:buNone/>
                      </a:pPr>
                      <a:r>
                        <a:rPr lang="en-US" sz="1400" dirty="0">
                          <a:solidFill>
                            <a:srgbClr val="A9A7C8"/>
                          </a:solidFill>
                          <a:latin typeface="Calibri" pitchFamily="34" charset="0"/>
                          <a:ea typeface="Calibri" pitchFamily="34" charset="-122"/>
                          <a:cs typeface="Calibri" pitchFamily="34" charset="-120"/>
                        </a:rPr>
                        <a:t>Tests</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c>
                  <a:txBody>
                    <a:bodyPr/>
                    <a:lstStyle/>
                    <a:p>
                      <a:pPr indent="0" marL="0">
                        <a:buNone/>
                      </a:pPr>
                      <a:r>
                        <a:rPr lang="en-US" sz="1400" b="1" dirty="0">
                          <a:solidFill>
                            <a:srgbClr val="F4F3FF"/>
                          </a:solidFill>
                          <a:latin typeface="Calibri" pitchFamily="34" charset="0"/>
                          <a:ea typeface="Calibri" pitchFamily="34" charset="-122"/>
                          <a:cs typeface="Calibri" pitchFamily="34" charset="-120"/>
                        </a:rPr>
                        <a:t>pytest</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c>
                  <a:txBody>
                    <a:bodyPr/>
                    <a:lstStyle/>
                    <a:p>
                      <a:pPr indent="0" marL="0">
                        <a:buNone/>
                      </a:pPr>
                      <a:r>
                        <a:rPr lang="en-US" sz="1400" b="1" dirty="0">
                          <a:solidFill>
                            <a:srgbClr val="F4F3FF"/>
                          </a:solidFill>
                          <a:latin typeface="Calibri" pitchFamily="34" charset="0"/>
                          <a:ea typeface="Calibri" pitchFamily="34" charset="-122"/>
                          <a:cs typeface="Calibri" pitchFamily="34" charset="-120"/>
                        </a:rPr>
                        <a:t>node --test</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r>
              <a:tr h="438912">
                <a:tc>
                  <a:txBody>
                    <a:bodyPr/>
                    <a:lstStyle/>
                    <a:p>
                      <a:pPr indent="0" marL="0">
                        <a:buNone/>
                      </a:pPr>
                      <a:r>
                        <a:rPr lang="en-US" sz="1400" dirty="0">
                          <a:solidFill>
                            <a:srgbClr val="A9A7C8"/>
                          </a:solidFill>
                          <a:latin typeface="Calibri" pitchFamily="34" charset="0"/>
                          <a:ea typeface="Calibri" pitchFamily="34" charset="-122"/>
                          <a:cs typeface="Calibri" pitchFamily="34" charset="-120"/>
                        </a:rPr>
                        <a:t>Pipeline code changed</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tcPr>
                </a:tc>
                <a:tc gridSpan="2">
                  <a:txBody>
                    <a:bodyPr/>
                    <a:lstStyle/>
                    <a:p>
                      <a:pPr algn="ctr" indent="0" marL="0">
                        <a:buNone/>
                      </a:pPr>
                      <a:r>
                        <a:rPr lang="en-US" sz="1600" b="1" dirty="0">
                          <a:solidFill>
                            <a:srgbClr val="3EE59A"/>
                          </a:solidFill>
                          <a:latin typeface="Calibri" pitchFamily="34" charset="0"/>
                          <a:ea typeface="Calibri" pitchFamily="34" charset="-122"/>
                          <a:cs typeface="Calibri" pitchFamily="34" charset="-120"/>
                        </a:rPr>
                        <a:t>0 lines</a:t>
                      </a:r>
                      <a:endParaRPr lang="en-US" sz="16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9525" cap="flat" cmpd="sng" algn="ctr">
                      <a:solidFill>
                        <a:srgbClr val="2C2B45"/>
                      </a:solidFill>
                      <a:prstDash val="solid"/>
                      <a:round/>
                      <a:headEnd type="none" w="med" len="med"/>
                      <a:tailEnd type="none" w="med" len="med"/>
                    </a:lnB>
                    <a:solidFill>
                      <a:srgbClr val="1B1A3A"/>
                    </a:solidFill>
                  </a:tcPr>
                </a:tc>
                <a:tc hMerge="1">
                  <a:tcPr/>
                </a:tc>
              </a:tr>
            </a:tbl>
          </a:graphicData>
        </a:graphic>
      </p:graphicFrame>
      <p:sp>
        <p:nvSpPr>
          <p:cNvPr id="27" name="Text 20"/>
          <p:cNvSpPr txBox="1"/>
          <p:nvPr/>
        </p:nvSpPr>
        <p:spPr>
          <a:xfrm>
            <a:off x="6903720" y="4754880"/>
            <a:ext cx="4736592" cy="777240"/>
          </a:xfrm>
          <a:prstGeom prst="rect">
            <a:avLst/>
          </a:prstGeom>
          <a:noFill/>
          <a:ln/>
        </p:spPr>
        <p:txBody>
          <a:bodyPr wrap="square" lIns="0" tIns="0" rIns="0" bIns="0" rtlCol="0" anchor="t"/>
          <a:lstStyle/>
          <a:p>
            <a:pPr indent="0" marL="0">
              <a:buNone/>
            </a:pPr>
            <a:r>
              <a:rPr lang="en-US" sz="1400" dirty="0">
                <a:solidFill>
                  <a:schemeClr val="bg2"/>
                </a:solidFill>
              </a:rPr>
              <a:t>Adding a service is </a:t>
            </a:r>
            <a:pPr indent="0" marL="0">
              <a:buNone/>
            </a:pPr>
            <a:r>
              <a:rPr lang="en-US" sz="1400" b="1" dirty="0">
                <a:solidFill>
                  <a:schemeClr val="bg1"/>
                </a:solidFill>
              </a:rPr>
              <a:t>data, not code</a:t>
            </a:r>
            <a:pPr indent="0" marL="0">
              <a:buNone/>
            </a:pPr>
            <a:r>
              <a:rPr lang="en-US" sz="1400" dirty="0">
                <a:solidFill>
                  <a:schemeClr val="bg2"/>
                </a:solidFill>
              </a:rPr>
              <a:t>: a service pack of commits, telemetry, repro and business assumptions.</a:t>
            </a:r>
            <a:endParaRPr lang="en-US" sz="14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RETURN ON AI SPEND</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₹6 of AI to protect ₹4.8 lakh</a:t>
            </a:r>
            <a:endParaRPr lang="en-US" sz="3600" dirty="0"/>
          </a:p>
        </p:txBody>
      </p:sp>
      <p:sp>
        <p:nvSpPr>
          <p:cNvPr id="4" name="criteria tag"/>
          <p:cNvSpPr/>
          <p:nvPr/>
        </p:nvSpPr>
        <p:spPr>
          <a:xfrm>
            <a:off x="7434072" y="420624"/>
            <a:ext cx="4206240" cy="347472"/>
          </a:xfrm>
          <a:prstGeom prst="roundRect">
            <a:avLst>
              <a:gd name="adj" fmla="val 21053"/>
            </a:avLst>
          </a:prstGeom>
          <a:solidFill>
            <a:srgbClr val="8B7CFF">
              <a:alpha val="18000"/>
            </a:srgbClr>
          </a:solidFill>
          <a:ln w="9525">
            <a:solidFill>
              <a:srgbClr val="8B7CFF">
                <a:alpha val="55000"/>
              </a:srgbClr>
            </a:solidFill>
            <a:prstDash val="solid"/>
          </a:ln>
        </p:spPr>
      </p:sp>
      <p:sp>
        <p:nvSpPr>
          <p:cNvPr id="5" name="Text 3"/>
          <p:cNvSpPr txBox="1"/>
          <p:nvPr/>
        </p:nvSpPr>
        <p:spPr>
          <a:xfrm>
            <a:off x="7434072" y="420624"/>
            <a:ext cx="4206240" cy="347472"/>
          </a:xfrm>
          <a:prstGeom prst="rect">
            <a:avLst/>
          </a:prstGeom>
          <a:noFill/>
          <a:ln/>
        </p:spPr>
        <p:txBody>
          <a:bodyPr wrap="square" lIns="0" tIns="0" rIns="0" bIns="0" rtlCol="0" anchor="ctr"/>
          <a:lstStyle/>
          <a:p>
            <a:pPr algn="ctr" indent="0" marL="0">
              <a:buNone/>
            </a:pPr>
            <a:r>
              <a:rPr lang="en-US" sz="1100" b="1" spc="100" kern="0" dirty="0">
                <a:solidFill>
                  <a:srgbClr val="C9C2FF"/>
                </a:solidFill>
                <a:latin typeface="Consolas" pitchFamily="34" charset="0"/>
                <a:ea typeface="Consolas" pitchFamily="34" charset="-122"/>
                <a:cs typeface="Consolas" pitchFamily="34" charset="-120"/>
              </a:rPr>
              <a:t>JUDGING · ROI &amp; BUSINESS VALUE</a:t>
            </a:r>
            <a:endParaRPr lang="en-US" sz="1100" dirty="0"/>
          </a:p>
        </p:txBody>
      </p:sp>
      <p:sp>
        <p:nvSpPr>
          <p:cNvPr id="6" name="stat card"/>
          <p:cNvSpPr/>
          <p:nvPr/>
        </p:nvSpPr>
        <p:spPr>
          <a:xfrm>
            <a:off x="548640" y="1874520"/>
            <a:ext cx="2615184" cy="2148840"/>
          </a:xfrm>
          <a:prstGeom prst="roundRect">
            <a:avLst>
              <a:gd name="adj" fmla="val 6809"/>
            </a:avLst>
          </a:prstGeom>
          <a:solidFill>
            <a:srgbClr val="15142A">
              <a:alpha val="75000"/>
            </a:srgbClr>
          </a:solidFill>
          <a:ln w="12700">
            <a:solidFill>
              <a:srgbClr val="2C2B45"/>
            </a:solidFill>
            <a:prstDash val="solid"/>
          </a:ln>
        </p:spPr>
      </p:sp>
      <p:sp>
        <p:nvSpPr>
          <p:cNvPr id="7" name="Text 5"/>
          <p:cNvSpPr txBox="1"/>
          <p:nvPr/>
        </p:nvSpPr>
        <p:spPr>
          <a:xfrm>
            <a:off x="822960" y="2130552"/>
            <a:ext cx="2066544" cy="868680"/>
          </a:xfrm>
          <a:prstGeom prst="rect">
            <a:avLst/>
          </a:prstGeom>
          <a:noFill/>
          <a:ln/>
        </p:spPr>
        <p:txBody>
          <a:bodyPr wrap="square" lIns="0" tIns="0" rIns="0" bIns="0" rtlCol="0" anchor="ctr"/>
          <a:lstStyle/>
          <a:p>
            <a:pPr indent="0" marL="0">
              <a:buNone/>
            </a:pPr>
            <a:r>
              <a:rPr lang="en-US" sz="4400" b="1" dirty="0">
                <a:solidFill>
                  <a:srgbClr val="46D3F5"/>
                </a:solidFill>
              </a:rPr>
              <a:t>&lt; 4 min</a:t>
            </a:r>
            <a:endParaRPr lang="en-US" sz="4400" dirty="0"/>
          </a:p>
        </p:txBody>
      </p:sp>
      <p:sp>
        <p:nvSpPr>
          <p:cNvPr id="8" name="Text 6"/>
          <p:cNvSpPr txBox="1"/>
          <p:nvPr/>
        </p:nvSpPr>
        <p:spPr>
          <a:xfrm>
            <a:off x="822960" y="3044952"/>
            <a:ext cx="2066544" cy="822960"/>
          </a:xfrm>
          <a:prstGeom prst="rect">
            <a:avLst/>
          </a:prstGeom>
          <a:noFill/>
          <a:ln/>
        </p:spPr>
        <p:txBody>
          <a:bodyPr wrap="square" lIns="0" tIns="0" rIns="0" bIns="0" rtlCol="0" anchor="t"/>
          <a:lstStyle/>
          <a:p>
            <a:pPr indent="0" marL="0">
              <a:buNone/>
            </a:pPr>
            <a:r>
              <a:rPr lang="en-US" sz="1400" dirty="0">
                <a:solidFill>
                  <a:schemeClr val="bg2"/>
                </a:solidFill>
              </a:rPr>
              <a:t>from alert to a tested fix awaiting approval (82–234 s on recorded runs)</a:t>
            </a:r>
            <a:endParaRPr lang="en-US" sz="1400" dirty="0"/>
          </a:p>
        </p:txBody>
      </p:sp>
      <p:sp>
        <p:nvSpPr>
          <p:cNvPr id="9" name="stat card"/>
          <p:cNvSpPr/>
          <p:nvPr/>
        </p:nvSpPr>
        <p:spPr>
          <a:xfrm>
            <a:off x="3392424" y="1874520"/>
            <a:ext cx="2615184" cy="2148840"/>
          </a:xfrm>
          <a:prstGeom prst="roundRect">
            <a:avLst>
              <a:gd name="adj" fmla="val 6809"/>
            </a:avLst>
          </a:prstGeom>
          <a:solidFill>
            <a:srgbClr val="15142A">
              <a:alpha val="75000"/>
            </a:srgbClr>
          </a:solidFill>
          <a:ln w="12700">
            <a:solidFill>
              <a:srgbClr val="2C2B45"/>
            </a:solidFill>
            <a:prstDash val="solid"/>
          </a:ln>
        </p:spPr>
      </p:sp>
      <p:sp>
        <p:nvSpPr>
          <p:cNvPr id="10" name="Text 8"/>
          <p:cNvSpPr txBox="1"/>
          <p:nvPr/>
        </p:nvSpPr>
        <p:spPr>
          <a:xfrm>
            <a:off x="3666744" y="2130552"/>
            <a:ext cx="2066544" cy="868680"/>
          </a:xfrm>
          <a:prstGeom prst="rect">
            <a:avLst/>
          </a:prstGeom>
          <a:noFill/>
          <a:ln/>
        </p:spPr>
        <p:txBody>
          <a:bodyPr wrap="square" lIns="0" tIns="0" rIns="0" bIns="0" rtlCol="0" anchor="ctr"/>
          <a:lstStyle/>
          <a:p>
            <a:pPr indent="0" marL="0">
              <a:buNone/>
            </a:pPr>
            <a:r>
              <a:rPr lang="en-US" sz="4400" b="1" dirty="0">
                <a:solidFill>
                  <a:srgbClr val="3EE59A"/>
                </a:solidFill>
              </a:rPr>
              <a:t>₹4.8 L</a:t>
            </a:r>
            <a:endParaRPr lang="en-US" sz="4400" dirty="0"/>
          </a:p>
        </p:txBody>
      </p:sp>
      <p:sp>
        <p:nvSpPr>
          <p:cNvPr id="11" name="Text 9"/>
          <p:cNvSpPr txBox="1"/>
          <p:nvPr/>
        </p:nvSpPr>
        <p:spPr>
          <a:xfrm>
            <a:off x="3666744" y="3044952"/>
            <a:ext cx="2066544" cy="822960"/>
          </a:xfrm>
          <a:prstGeom prst="rect">
            <a:avLst/>
          </a:prstGeom>
          <a:noFill/>
          <a:ln/>
        </p:spPr>
        <p:txBody>
          <a:bodyPr wrap="square" lIns="0" tIns="0" rIns="0" bIns="0" rtlCol="0" anchor="t"/>
          <a:lstStyle/>
          <a:p>
            <a:pPr indent="0" marL="0">
              <a:buNone/>
            </a:pPr>
            <a:r>
              <a:rPr lang="en-US" sz="1400" dirty="0">
                <a:solidFill>
                  <a:schemeClr val="bg2"/>
                </a:solidFill>
              </a:rPr>
              <a:t>revenue protected per checkout incident vs an 80-minute manual fix*</a:t>
            </a:r>
            <a:endParaRPr lang="en-US" sz="1400" dirty="0"/>
          </a:p>
        </p:txBody>
      </p:sp>
      <p:sp>
        <p:nvSpPr>
          <p:cNvPr id="12" name="stat card"/>
          <p:cNvSpPr/>
          <p:nvPr/>
        </p:nvSpPr>
        <p:spPr>
          <a:xfrm>
            <a:off x="6236208" y="1874520"/>
            <a:ext cx="2615184" cy="2148840"/>
          </a:xfrm>
          <a:prstGeom prst="roundRect">
            <a:avLst>
              <a:gd name="adj" fmla="val 6809"/>
            </a:avLst>
          </a:prstGeom>
          <a:solidFill>
            <a:srgbClr val="15142A">
              <a:alpha val="75000"/>
            </a:srgbClr>
          </a:solidFill>
          <a:ln w="12700">
            <a:solidFill>
              <a:srgbClr val="2C2B45"/>
            </a:solidFill>
            <a:prstDash val="solid"/>
          </a:ln>
        </p:spPr>
      </p:sp>
      <p:sp>
        <p:nvSpPr>
          <p:cNvPr id="13" name="Text 11"/>
          <p:cNvSpPr txBox="1"/>
          <p:nvPr/>
        </p:nvSpPr>
        <p:spPr>
          <a:xfrm>
            <a:off x="6510528" y="2130552"/>
            <a:ext cx="2066544" cy="868680"/>
          </a:xfrm>
          <a:prstGeom prst="rect">
            <a:avLst/>
          </a:prstGeom>
          <a:noFill/>
          <a:ln/>
        </p:spPr>
        <p:txBody>
          <a:bodyPr wrap="square" lIns="0" tIns="0" rIns="0" bIns="0" rtlCol="0" anchor="ctr"/>
          <a:lstStyle/>
          <a:p>
            <a:pPr indent="0" marL="0">
              <a:buNone/>
            </a:pPr>
            <a:r>
              <a:rPr lang="en-US" sz="4400" b="1" dirty="0">
                <a:solidFill>
                  <a:srgbClr val="F4F3FF"/>
                </a:solidFill>
              </a:rPr>
              <a:t>4 hrs</a:t>
            </a:r>
            <a:endParaRPr lang="en-US" sz="4400" dirty="0"/>
          </a:p>
        </p:txBody>
      </p:sp>
      <p:sp>
        <p:nvSpPr>
          <p:cNvPr id="14" name="Text 12"/>
          <p:cNvSpPr txBox="1"/>
          <p:nvPr/>
        </p:nvSpPr>
        <p:spPr>
          <a:xfrm>
            <a:off x="6510528" y="3044952"/>
            <a:ext cx="2066544" cy="822960"/>
          </a:xfrm>
          <a:prstGeom prst="rect">
            <a:avLst/>
          </a:prstGeom>
          <a:noFill/>
          <a:ln/>
        </p:spPr>
        <p:txBody>
          <a:bodyPr wrap="square" lIns="0" tIns="0" rIns="0" bIns="0" rtlCol="0" anchor="t"/>
          <a:lstStyle/>
          <a:p>
            <a:pPr indent="0" marL="0">
              <a:buNone/>
            </a:pPr>
            <a:r>
              <a:rPr lang="en-US" sz="1400" dirty="0">
                <a:solidFill>
                  <a:schemeClr val="bg2"/>
                </a:solidFill>
              </a:rPr>
              <a:t>of engineer time saved (3 paged × 80 min, down to one approver)</a:t>
            </a:r>
            <a:endParaRPr lang="en-US" sz="1400" dirty="0"/>
          </a:p>
        </p:txBody>
      </p:sp>
      <p:sp>
        <p:nvSpPr>
          <p:cNvPr id="15" name="stat card"/>
          <p:cNvSpPr/>
          <p:nvPr/>
        </p:nvSpPr>
        <p:spPr>
          <a:xfrm>
            <a:off x="9079992" y="1874520"/>
            <a:ext cx="2615184" cy="2148840"/>
          </a:xfrm>
          <a:prstGeom prst="roundRect">
            <a:avLst>
              <a:gd name="adj" fmla="val 6809"/>
            </a:avLst>
          </a:prstGeom>
          <a:solidFill>
            <a:srgbClr val="15142A">
              <a:alpha val="75000"/>
            </a:srgbClr>
          </a:solidFill>
          <a:ln w="12700">
            <a:solidFill>
              <a:srgbClr val="2C2B45"/>
            </a:solidFill>
            <a:prstDash val="solid"/>
          </a:ln>
        </p:spPr>
      </p:sp>
      <p:sp>
        <p:nvSpPr>
          <p:cNvPr id="16" name="Text 14"/>
          <p:cNvSpPr txBox="1"/>
          <p:nvPr/>
        </p:nvSpPr>
        <p:spPr>
          <a:xfrm>
            <a:off x="9354312" y="2130552"/>
            <a:ext cx="2066544" cy="868680"/>
          </a:xfrm>
          <a:prstGeom prst="rect">
            <a:avLst/>
          </a:prstGeom>
          <a:noFill/>
          <a:ln/>
        </p:spPr>
        <p:txBody>
          <a:bodyPr wrap="square" lIns="0" tIns="0" rIns="0" bIns="0" rtlCol="0" anchor="ctr"/>
          <a:lstStyle/>
          <a:p>
            <a:pPr indent="0" marL="0">
              <a:buNone/>
            </a:pPr>
            <a:r>
              <a:rPr lang="en-US" sz="4400" b="1" dirty="0">
                <a:solidFill>
                  <a:srgbClr val="8B7CFF"/>
                </a:solidFill>
              </a:rPr>
              <a:t>₹6.4</a:t>
            </a:r>
            <a:endParaRPr lang="en-US" sz="4400" dirty="0"/>
          </a:p>
        </p:txBody>
      </p:sp>
      <p:sp>
        <p:nvSpPr>
          <p:cNvPr id="17" name="Text 15"/>
          <p:cNvSpPr txBox="1"/>
          <p:nvPr/>
        </p:nvSpPr>
        <p:spPr>
          <a:xfrm>
            <a:off x="9354312" y="3044952"/>
            <a:ext cx="2066544" cy="822960"/>
          </a:xfrm>
          <a:prstGeom prst="rect">
            <a:avLst/>
          </a:prstGeom>
          <a:noFill/>
          <a:ln/>
        </p:spPr>
        <p:txBody>
          <a:bodyPr wrap="square" lIns="0" tIns="0" rIns="0" bIns="0" rtlCol="0" anchor="t"/>
          <a:lstStyle/>
          <a:p>
            <a:pPr indent="0" marL="0">
              <a:buNone/>
            </a:pPr>
            <a:r>
              <a:rPr lang="en-US" sz="1400" dirty="0">
                <a:solidFill>
                  <a:schemeClr val="bg2"/>
                </a:solidFill>
              </a:rPr>
              <a:t>AI cost of that incident: 127k tokens, hard-capped at ₹25</a:t>
            </a:r>
            <a:endParaRPr lang="en-US" sz="1400" dirty="0"/>
          </a:p>
        </p:txBody>
      </p:sp>
      <p:sp>
        <p:nvSpPr>
          <p:cNvPr id="18" name="equation term"/>
          <p:cNvSpPr/>
          <p:nvPr/>
        </p:nvSpPr>
        <p:spPr>
          <a:xfrm>
            <a:off x="548640" y="4343400"/>
            <a:ext cx="1920240" cy="868680"/>
          </a:xfrm>
          <a:prstGeom prst="roundRect">
            <a:avLst>
              <a:gd name="adj" fmla="val 12632"/>
            </a:avLst>
          </a:prstGeom>
          <a:solidFill>
            <a:srgbClr val="FFFFFF">
              <a:alpha val="7000"/>
            </a:srgbClr>
          </a:solidFill>
          <a:ln w="9525">
            <a:solidFill>
              <a:srgbClr val="FFFFFF">
                <a:alpha val="20000"/>
              </a:srgbClr>
            </a:solidFill>
            <a:prstDash val="solid"/>
          </a:ln>
        </p:spPr>
      </p:sp>
      <p:sp>
        <p:nvSpPr>
          <p:cNvPr id="19" name="Text 17"/>
          <p:cNvSpPr txBox="1"/>
          <p:nvPr/>
        </p:nvSpPr>
        <p:spPr>
          <a:xfrm>
            <a:off x="548640" y="4453128"/>
            <a:ext cx="1920240" cy="365760"/>
          </a:xfrm>
          <a:prstGeom prst="rect">
            <a:avLst/>
          </a:prstGeom>
          <a:noFill/>
          <a:ln/>
        </p:spPr>
        <p:txBody>
          <a:bodyPr wrap="square" lIns="0" tIns="0" rIns="0" bIns="0" rtlCol="0" anchor="t"/>
          <a:lstStyle/>
          <a:p>
            <a:pPr algn="ctr" indent="0" marL="0">
              <a:buNone/>
            </a:pPr>
            <a:r>
              <a:rPr lang="en-US" sz="1600" b="1" dirty="0">
                <a:solidFill>
                  <a:schemeClr val="bg1"/>
                </a:solidFill>
              </a:rPr>
              <a:t>Revenue at risk</a:t>
            </a:r>
            <a:endParaRPr lang="en-US" sz="1600" dirty="0"/>
          </a:p>
        </p:txBody>
      </p:sp>
      <p:sp>
        <p:nvSpPr>
          <p:cNvPr id="20" name="Text 18"/>
          <p:cNvSpPr txBox="1"/>
          <p:nvPr/>
        </p:nvSpPr>
        <p:spPr>
          <a:xfrm>
            <a:off x="548640" y="4818888"/>
            <a:ext cx="1920240" cy="274320"/>
          </a:xfrm>
          <a:prstGeom prst="rect">
            <a:avLst/>
          </a:prstGeom>
          <a:noFill/>
          <a:ln/>
        </p:spPr>
        <p:txBody>
          <a:bodyPr wrap="square" lIns="0" tIns="0" rIns="0" bIns="0" rtlCol="0" anchor="t"/>
          <a:lstStyle/>
          <a:p>
            <a:pPr algn="ctr" indent="0" marL="0">
              <a:buNone/>
            </a:pPr>
            <a:r>
              <a:rPr lang="en-US" sz="1050" dirty="0">
                <a:solidFill>
                  <a:srgbClr val="7A7898"/>
                </a:solidFill>
                <a:latin typeface="Consolas" pitchFamily="34" charset="0"/>
                <a:ea typeface="Consolas" pitchFamily="34" charset="-122"/>
                <a:cs typeface="Consolas" pitchFamily="34" charset="-120"/>
              </a:rPr>
              <a:t>per minute</a:t>
            </a:r>
            <a:endParaRPr lang="en-US" sz="1050" dirty="0"/>
          </a:p>
        </p:txBody>
      </p:sp>
      <p:sp>
        <p:nvSpPr>
          <p:cNvPr id="21" name="Text 19"/>
          <p:cNvSpPr txBox="1"/>
          <p:nvPr/>
        </p:nvSpPr>
        <p:spPr>
          <a:xfrm>
            <a:off x="2468880" y="4343400"/>
            <a:ext cx="411480" cy="868680"/>
          </a:xfrm>
          <a:prstGeom prst="rect">
            <a:avLst/>
          </a:prstGeom>
          <a:noFill/>
          <a:ln/>
        </p:spPr>
        <p:txBody>
          <a:bodyPr wrap="square" lIns="0" tIns="0" rIns="0" bIns="0" rtlCol="0" anchor="ctr"/>
          <a:lstStyle/>
          <a:p>
            <a:pPr algn="ctr" indent="0" marL="0">
              <a:buNone/>
            </a:pPr>
            <a:r>
              <a:rPr lang="en-US" sz="2600" b="1" dirty="0">
                <a:solidFill>
                  <a:srgbClr val="7A7898"/>
                </a:solidFill>
              </a:rPr>
              <a:t>=</a:t>
            </a:r>
            <a:endParaRPr lang="en-US" sz="2600" dirty="0"/>
          </a:p>
        </p:txBody>
      </p:sp>
      <p:sp>
        <p:nvSpPr>
          <p:cNvPr id="22" name="equation term"/>
          <p:cNvSpPr/>
          <p:nvPr/>
        </p:nvSpPr>
        <p:spPr>
          <a:xfrm>
            <a:off x="2880360" y="4343400"/>
            <a:ext cx="1783080" cy="868680"/>
          </a:xfrm>
          <a:prstGeom prst="roundRect">
            <a:avLst>
              <a:gd name="adj" fmla="val 12632"/>
            </a:avLst>
          </a:prstGeom>
          <a:solidFill>
            <a:srgbClr val="FFFFFF">
              <a:alpha val="7000"/>
            </a:srgbClr>
          </a:solidFill>
          <a:ln w="9525">
            <a:solidFill>
              <a:srgbClr val="FFFFFF">
                <a:alpha val="20000"/>
              </a:srgbClr>
            </a:solidFill>
            <a:prstDash val="solid"/>
          </a:ln>
        </p:spPr>
      </p:sp>
      <p:sp>
        <p:nvSpPr>
          <p:cNvPr id="23" name="Text 21"/>
          <p:cNvSpPr txBox="1"/>
          <p:nvPr/>
        </p:nvSpPr>
        <p:spPr>
          <a:xfrm>
            <a:off x="2880360" y="4453128"/>
            <a:ext cx="1783080" cy="365760"/>
          </a:xfrm>
          <a:prstGeom prst="rect">
            <a:avLst/>
          </a:prstGeom>
          <a:noFill/>
          <a:ln/>
        </p:spPr>
        <p:txBody>
          <a:bodyPr wrap="square" lIns="0" tIns="0" rIns="0" bIns="0" rtlCol="0" anchor="t"/>
          <a:lstStyle/>
          <a:p>
            <a:pPr algn="ctr" indent="0" marL="0">
              <a:buNone/>
            </a:pPr>
            <a:r>
              <a:rPr lang="en-US" sz="1600" b="1" dirty="0">
                <a:solidFill>
                  <a:schemeClr val="bg1"/>
                </a:solidFill>
              </a:rPr>
              <a:t>Orders / min</a:t>
            </a:r>
            <a:endParaRPr lang="en-US" sz="1600" dirty="0"/>
          </a:p>
        </p:txBody>
      </p:sp>
      <p:sp>
        <p:nvSpPr>
          <p:cNvPr id="24" name="Text 22"/>
          <p:cNvSpPr txBox="1"/>
          <p:nvPr/>
        </p:nvSpPr>
        <p:spPr>
          <a:xfrm>
            <a:off x="2880360" y="4818888"/>
            <a:ext cx="1783080" cy="274320"/>
          </a:xfrm>
          <a:prstGeom prst="rect">
            <a:avLst/>
          </a:prstGeom>
          <a:noFill/>
          <a:ln/>
        </p:spPr>
        <p:txBody>
          <a:bodyPr wrap="square" lIns="0" tIns="0" rIns="0" bIns="0" rtlCol="0" anchor="t"/>
          <a:lstStyle/>
          <a:p>
            <a:pPr algn="ctr" indent="0" marL="0">
              <a:buNone/>
            </a:pPr>
            <a:r>
              <a:rPr lang="en-US" sz="1050" dirty="0">
                <a:solidFill>
                  <a:srgbClr val="7A7898"/>
                </a:solidFill>
                <a:latin typeface="Consolas" pitchFamily="34" charset="0"/>
                <a:ea typeface="Consolas" pitchFamily="34" charset="-122"/>
                <a:cs typeface="Consolas" pitchFamily="34" charset="-120"/>
              </a:rPr>
              <a:t>15</a:t>
            </a:r>
            <a:endParaRPr lang="en-US" sz="1050" dirty="0"/>
          </a:p>
        </p:txBody>
      </p:sp>
      <p:sp>
        <p:nvSpPr>
          <p:cNvPr id="25" name="Text 23"/>
          <p:cNvSpPr txBox="1"/>
          <p:nvPr/>
        </p:nvSpPr>
        <p:spPr>
          <a:xfrm>
            <a:off x="4663440" y="4343400"/>
            <a:ext cx="411480" cy="868680"/>
          </a:xfrm>
          <a:prstGeom prst="rect">
            <a:avLst/>
          </a:prstGeom>
          <a:noFill/>
          <a:ln/>
        </p:spPr>
        <p:txBody>
          <a:bodyPr wrap="square" lIns="0" tIns="0" rIns="0" bIns="0" rtlCol="0" anchor="ctr"/>
          <a:lstStyle/>
          <a:p>
            <a:pPr algn="ctr" indent="0" marL="0">
              <a:buNone/>
            </a:pPr>
            <a:r>
              <a:rPr lang="en-US" sz="2600" b="1" dirty="0">
                <a:solidFill>
                  <a:srgbClr val="7A7898"/>
                </a:solidFill>
              </a:rPr>
              <a:t>×</a:t>
            </a:r>
            <a:endParaRPr lang="en-US" sz="2600" dirty="0"/>
          </a:p>
        </p:txBody>
      </p:sp>
      <p:sp>
        <p:nvSpPr>
          <p:cNvPr id="26" name="equation term"/>
          <p:cNvSpPr/>
          <p:nvPr/>
        </p:nvSpPr>
        <p:spPr>
          <a:xfrm>
            <a:off x="5074920" y="4343400"/>
            <a:ext cx="1783080" cy="868680"/>
          </a:xfrm>
          <a:prstGeom prst="roundRect">
            <a:avLst>
              <a:gd name="adj" fmla="val 12632"/>
            </a:avLst>
          </a:prstGeom>
          <a:solidFill>
            <a:srgbClr val="FFFFFF">
              <a:alpha val="7000"/>
            </a:srgbClr>
          </a:solidFill>
          <a:ln w="9525">
            <a:solidFill>
              <a:srgbClr val="FFFFFF">
                <a:alpha val="20000"/>
              </a:srgbClr>
            </a:solidFill>
            <a:prstDash val="solid"/>
          </a:ln>
        </p:spPr>
      </p:sp>
      <p:sp>
        <p:nvSpPr>
          <p:cNvPr id="27" name="Text 25"/>
          <p:cNvSpPr txBox="1"/>
          <p:nvPr/>
        </p:nvSpPr>
        <p:spPr>
          <a:xfrm>
            <a:off x="5074920" y="4453128"/>
            <a:ext cx="1783080" cy="365760"/>
          </a:xfrm>
          <a:prstGeom prst="rect">
            <a:avLst/>
          </a:prstGeom>
          <a:noFill/>
          <a:ln/>
        </p:spPr>
        <p:txBody>
          <a:bodyPr wrap="square" lIns="0" tIns="0" rIns="0" bIns="0" rtlCol="0" anchor="t"/>
          <a:lstStyle/>
          <a:p>
            <a:pPr algn="ctr" indent="0" marL="0">
              <a:buNone/>
            </a:pPr>
            <a:r>
              <a:rPr lang="en-US" sz="1600" b="1" dirty="0">
                <a:solidFill>
                  <a:schemeClr val="bg1"/>
                </a:solidFill>
              </a:rPr>
              <a:t>Share failing</a:t>
            </a:r>
            <a:endParaRPr lang="en-US" sz="1600" dirty="0"/>
          </a:p>
        </p:txBody>
      </p:sp>
      <p:sp>
        <p:nvSpPr>
          <p:cNvPr id="28" name="Text 26"/>
          <p:cNvSpPr txBox="1"/>
          <p:nvPr/>
        </p:nvSpPr>
        <p:spPr>
          <a:xfrm>
            <a:off x="5074920" y="4818888"/>
            <a:ext cx="1783080" cy="274320"/>
          </a:xfrm>
          <a:prstGeom prst="rect">
            <a:avLst/>
          </a:prstGeom>
          <a:noFill/>
          <a:ln/>
        </p:spPr>
        <p:txBody>
          <a:bodyPr wrap="square" lIns="0" tIns="0" rIns="0" bIns="0" rtlCol="0" anchor="t"/>
          <a:lstStyle/>
          <a:p>
            <a:pPr algn="ctr" indent="0" marL="0">
              <a:buNone/>
            </a:pPr>
            <a:r>
              <a:rPr lang="en-US" sz="1050" dirty="0">
                <a:solidFill>
                  <a:srgbClr val="7A7898"/>
                </a:solidFill>
                <a:latin typeface="Consolas" pitchFamily="34" charset="0"/>
                <a:ea typeface="Consolas" pitchFamily="34" charset="-122"/>
                <a:cs typeface="Consolas" pitchFamily="34" charset="-120"/>
              </a:rPr>
              <a:t>live 5xx · 38%</a:t>
            </a:r>
            <a:endParaRPr lang="en-US" sz="1050" dirty="0"/>
          </a:p>
        </p:txBody>
      </p:sp>
      <p:sp>
        <p:nvSpPr>
          <p:cNvPr id="29" name="Text 27"/>
          <p:cNvSpPr txBox="1"/>
          <p:nvPr/>
        </p:nvSpPr>
        <p:spPr>
          <a:xfrm>
            <a:off x="6858000" y="4343400"/>
            <a:ext cx="411480" cy="868680"/>
          </a:xfrm>
          <a:prstGeom prst="rect">
            <a:avLst/>
          </a:prstGeom>
          <a:noFill/>
          <a:ln/>
        </p:spPr>
        <p:txBody>
          <a:bodyPr wrap="square" lIns="0" tIns="0" rIns="0" bIns="0" rtlCol="0" anchor="ctr"/>
          <a:lstStyle/>
          <a:p>
            <a:pPr algn="ctr" indent="0" marL="0">
              <a:buNone/>
            </a:pPr>
            <a:r>
              <a:rPr lang="en-US" sz="2600" b="1" dirty="0">
                <a:solidFill>
                  <a:srgbClr val="7A7898"/>
                </a:solidFill>
              </a:rPr>
              <a:t>×</a:t>
            </a:r>
            <a:endParaRPr lang="en-US" sz="2600" dirty="0"/>
          </a:p>
        </p:txBody>
      </p:sp>
      <p:sp>
        <p:nvSpPr>
          <p:cNvPr id="30" name="equation term"/>
          <p:cNvSpPr/>
          <p:nvPr/>
        </p:nvSpPr>
        <p:spPr>
          <a:xfrm>
            <a:off x="7269480" y="4343400"/>
            <a:ext cx="1783080" cy="868680"/>
          </a:xfrm>
          <a:prstGeom prst="roundRect">
            <a:avLst>
              <a:gd name="adj" fmla="val 12632"/>
            </a:avLst>
          </a:prstGeom>
          <a:solidFill>
            <a:srgbClr val="FFFFFF">
              <a:alpha val="7000"/>
            </a:srgbClr>
          </a:solidFill>
          <a:ln w="9525">
            <a:solidFill>
              <a:srgbClr val="FFFFFF">
                <a:alpha val="20000"/>
              </a:srgbClr>
            </a:solidFill>
            <a:prstDash val="solid"/>
          </a:ln>
        </p:spPr>
      </p:sp>
      <p:sp>
        <p:nvSpPr>
          <p:cNvPr id="31" name="Text 29"/>
          <p:cNvSpPr txBox="1"/>
          <p:nvPr/>
        </p:nvSpPr>
        <p:spPr>
          <a:xfrm>
            <a:off x="7269480" y="4453128"/>
            <a:ext cx="1783080" cy="365760"/>
          </a:xfrm>
          <a:prstGeom prst="rect">
            <a:avLst/>
          </a:prstGeom>
          <a:noFill/>
          <a:ln/>
        </p:spPr>
        <p:txBody>
          <a:bodyPr wrap="square" lIns="0" tIns="0" rIns="0" bIns="0" rtlCol="0" anchor="t"/>
          <a:lstStyle/>
          <a:p>
            <a:pPr algn="ctr" indent="0" marL="0">
              <a:buNone/>
            </a:pPr>
            <a:r>
              <a:rPr lang="en-US" sz="1600" b="1" dirty="0">
                <a:solidFill>
                  <a:schemeClr val="bg1"/>
                </a:solidFill>
              </a:rPr>
              <a:t>Order value</a:t>
            </a:r>
            <a:endParaRPr lang="en-US" sz="1600" dirty="0"/>
          </a:p>
        </p:txBody>
      </p:sp>
      <p:sp>
        <p:nvSpPr>
          <p:cNvPr id="32" name="Text 30"/>
          <p:cNvSpPr txBox="1"/>
          <p:nvPr/>
        </p:nvSpPr>
        <p:spPr>
          <a:xfrm>
            <a:off x="7269480" y="4818888"/>
            <a:ext cx="1783080" cy="274320"/>
          </a:xfrm>
          <a:prstGeom prst="rect">
            <a:avLst/>
          </a:prstGeom>
          <a:noFill/>
          <a:ln/>
        </p:spPr>
        <p:txBody>
          <a:bodyPr wrap="square" lIns="0" tIns="0" rIns="0" bIns="0" rtlCol="0" anchor="t"/>
          <a:lstStyle/>
          <a:p>
            <a:pPr algn="ctr" indent="0" marL="0">
              <a:buNone/>
            </a:pPr>
            <a:r>
              <a:rPr lang="en-US" sz="1050" dirty="0">
                <a:solidFill>
                  <a:srgbClr val="7A7898"/>
                </a:solidFill>
                <a:latin typeface="Consolas" pitchFamily="34" charset="0"/>
                <a:ea typeface="Consolas" pitchFamily="34" charset="-122"/>
                <a:cs typeface="Consolas" pitchFamily="34" charset="-120"/>
              </a:rPr>
              <a:t>₹1,200</a:t>
            </a:r>
            <a:endParaRPr lang="en-US" sz="1050" dirty="0"/>
          </a:p>
        </p:txBody>
      </p:sp>
      <p:sp>
        <p:nvSpPr>
          <p:cNvPr id="33" name="Text 31"/>
          <p:cNvSpPr txBox="1"/>
          <p:nvPr/>
        </p:nvSpPr>
        <p:spPr>
          <a:xfrm>
            <a:off x="9052560" y="4343400"/>
            <a:ext cx="411480" cy="868680"/>
          </a:xfrm>
          <a:prstGeom prst="rect">
            <a:avLst/>
          </a:prstGeom>
          <a:noFill/>
          <a:ln/>
        </p:spPr>
        <p:txBody>
          <a:bodyPr wrap="square" lIns="0" tIns="0" rIns="0" bIns="0" rtlCol="0" anchor="ctr"/>
          <a:lstStyle/>
          <a:p>
            <a:pPr algn="ctr" indent="0" marL="0">
              <a:buNone/>
            </a:pPr>
            <a:r>
              <a:rPr lang="en-US" sz="2600" b="1" dirty="0">
                <a:solidFill>
                  <a:srgbClr val="7A7898"/>
                </a:solidFill>
              </a:rPr>
              <a:t>→</a:t>
            </a:r>
            <a:endParaRPr lang="en-US" sz="2600" dirty="0"/>
          </a:p>
        </p:txBody>
      </p:sp>
      <p:sp>
        <p:nvSpPr>
          <p:cNvPr id="34" name="equation term"/>
          <p:cNvSpPr/>
          <p:nvPr/>
        </p:nvSpPr>
        <p:spPr>
          <a:xfrm>
            <a:off x="9464040" y="4343400"/>
            <a:ext cx="2240280" cy="868680"/>
          </a:xfrm>
          <a:prstGeom prst="roundRect">
            <a:avLst>
              <a:gd name="adj" fmla="val 12632"/>
            </a:avLst>
          </a:prstGeom>
          <a:solidFill>
            <a:srgbClr val="FFFFFF">
              <a:alpha val="7000"/>
            </a:srgbClr>
          </a:solidFill>
          <a:ln w="9525">
            <a:solidFill>
              <a:srgbClr val="3EE59A">
                <a:alpha val="70000"/>
              </a:srgbClr>
            </a:solidFill>
            <a:prstDash val="solid"/>
          </a:ln>
        </p:spPr>
      </p:sp>
      <p:sp>
        <p:nvSpPr>
          <p:cNvPr id="35" name="Text 33"/>
          <p:cNvSpPr txBox="1"/>
          <p:nvPr/>
        </p:nvSpPr>
        <p:spPr>
          <a:xfrm>
            <a:off x="9464040" y="4453128"/>
            <a:ext cx="2240280" cy="365760"/>
          </a:xfrm>
          <a:prstGeom prst="rect">
            <a:avLst/>
          </a:prstGeom>
          <a:noFill/>
          <a:ln/>
        </p:spPr>
        <p:txBody>
          <a:bodyPr wrap="square" lIns="0" tIns="0" rIns="0" bIns="0" rtlCol="0" anchor="t"/>
          <a:lstStyle/>
          <a:p>
            <a:pPr algn="ctr" indent="0" marL="0">
              <a:buNone/>
            </a:pPr>
            <a:r>
              <a:rPr lang="en-US" sz="1600" b="1" dirty="0">
                <a:solidFill>
                  <a:schemeClr val="accent3"/>
                </a:solidFill>
              </a:rPr>
              <a:t>Live on every ticket</a:t>
            </a:r>
            <a:endParaRPr lang="en-US" sz="1600" dirty="0"/>
          </a:p>
        </p:txBody>
      </p:sp>
      <p:sp>
        <p:nvSpPr>
          <p:cNvPr id="36" name="Text 34"/>
          <p:cNvSpPr txBox="1"/>
          <p:nvPr/>
        </p:nvSpPr>
        <p:spPr>
          <a:xfrm>
            <a:off x="9464040" y="4818888"/>
            <a:ext cx="2240280" cy="274320"/>
          </a:xfrm>
          <a:prstGeom prst="rect">
            <a:avLst/>
          </a:prstGeom>
          <a:noFill/>
          <a:ln/>
        </p:spPr>
        <p:txBody>
          <a:bodyPr wrap="square" lIns="0" tIns="0" rIns="0" bIns="0" rtlCol="0" anchor="t"/>
          <a:lstStyle/>
          <a:p>
            <a:pPr algn="ctr" indent="0" marL="0">
              <a:buNone/>
            </a:pPr>
            <a:r>
              <a:rPr lang="en-US" sz="1050" dirty="0">
                <a:solidFill>
                  <a:srgbClr val="7A7898"/>
                </a:solidFill>
                <a:latin typeface="Consolas" pitchFamily="34" charset="0"/>
                <a:ea typeface="Consolas" pitchFamily="34" charset="-122"/>
                <a:cs typeface="Consolas" pitchFamily="34" charset="-120"/>
              </a:rPr>
              <a:t>editable assumptions</a:t>
            </a:r>
            <a:endParaRPr lang="en-US" sz="1050" dirty="0"/>
          </a:p>
        </p:txBody>
      </p:sp>
      <p:sp>
        <p:nvSpPr>
          <p:cNvPr id="37" name="Text 35"/>
          <p:cNvSpPr txBox="1"/>
          <p:nvPr/>
        </p:nvSpPr>
        <p:spPr>
          <a:xfrm>
            <a:off x="548640" y="5532120"/>
            <a:ext cx="11064240" cy="320040"/>
          </a:xfrm>
          <a:prstGeom prst="rect">
            <a:avLst/>
          </a:prstGeom>
          <a:noFill/>
          <a:ln/>
        </p:spPr>
        <p:txBody>
          <a:bodyPr wrap="square" lIns="0" tIns="0" rIns="0" bIns="0" rtlCol="0" anchor="t"/>
          <a:lstStyle/>
          <a:p>
            <a:pPr indent="0" marL="0">
              <a:buNone/>
            </a:pPr>
            <a:r>
              <a:rPr lang="en-US" sz="1200" i="1" dirty="0">
                <a:solidFill>
                  <a:srgbClr val="7A7898"/>
                </a:solidFill>
              </a:rPr>
              <a:t>* Estimate: (80 − ~10 min including human approval) × ₹6,840/min. Every figure in the product is labelled as an estimate and lists its assumptions.</a:t>
            </a:r>
            <a:endParaRPr lang="en-US" sz="12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PROOF · ARGUS VS A SINGLE CHATBOT PROMPT</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Same incidents. Same scoring. Planted traps</a:t>
            </a:r>
            <a:endParaRPr lang="en-US" sz="3600" dirty="0"/>
          </a:p>
        </p:txBody>
      </p:sp>
      <p:sp>
        <p:nvSpPr>
          <p:cNvPr id="4" name="criteria tag"/>
          <p:cNvSpPr/>
          <p:nvPr/>
        </p:nvSpPr>
        <p:spPr>
          <a:xfrm>
            <a:off x="7434072" y="420624"/>
            <a:ext cx="4206240" cy="347472"/>
          </a:xfrm>
          <a:prstGeom prst="roundRect">
            <a:avLst>
              <a:gd name="adj" fmla="val 21053"/>
            </a:avLst>
          </a:prstGeom>
          <a:solidFill>
            <a:srgbClr val="8B7CFF">
              <a:alpha val="18000"/>
            </a:srgbClr>
          </a:solidFill>
          <a:ln w="9525">
            <a:solidFill>
              <a:srgbClr val="8B7CFF">
                <a:alpha val="55000"/>
              </a:srgbClr>
            </a:solidFill>
            <a:prstDash val="solid"/>
          </a:ln>
        </p:spPr>
      </p:sp>
      <p:sp>
        <p:nvSpPr>
          <p:cNvPr id="5" name="Text 3"/>
          <p:cNvSpPr txBox="1"/>
          <p:nvPr/>
        </p:nvSpPr>
        <p:spPr>
          <a:xfrm>
            <a:off x="7434072" y="420624"/>
            <a:ext cx="4206240" cy="347472"/>
          </a:xfrm>
          <a:prstGeom prst="rect">
            <a:avLst/>
          </a:prstGeom>
          <a:noFill/>
          <a:ln/>
        </p:spPr>
        <p:txBody>
          <a:bodyPr wrap="square" lIns="0" tIns="0" rIns="0" bIns="0" rtlCol="0" anchor="ctr"/>
          <a:lstStyle/>
          <a:p>
            <a:pPr algn="ctr" indent="0" marL="0">
              <a:buNone/>
            </a:pPr>
            <a:r>
              <a:rPr lang="en-US" sz="1100" b="1" spc="100" kern="0" dirty="0">
                <a:solidFill>
                  <a:srgbClr val="C9C2FF"/>
                </a:solidFill>
                <a:latin typeface="Consolas" pitchFamily="34" charset="0"/>
                <a:ea typeface="Consolas" pitchFamily="34" charset="-122"/>
                <a:cs typeface="Consolas" pitchFamily="34" charset="-120"/>
              </a:rPr>
              <a:t>PROOF · ACCURACY BENCHMARK</a:t>
            </a:r>
            <a:endParaRPr lang="en-US" sz="1100" dirty="0"/>
          </a:p>
        </p:txBody>
      </p:sp>
      <p:sp>
        <p:nvSpPr>
          <p:cNvPr id="6" name="card"/>
          <p:cNvSpPr/>
          <p:nvPr/>
        </p:nvSpPr>
        <p:spPr>
          <a:xfrm>
            <a:off x="548640" y="1874520"/>
            <a:ext cx="6675120" cy="4069080"/>
          </a:xfrm>
          <a:prstGeom prst="roundRect">
            <a:avLst>
              <a:gd name="adj" fmla="val 3596"/>
            </a:avLst>
          </a:prstGeom>
          <a:solidFill>
            <a:srgbClr val="15142A">
              <a:alpha val="75000"/>
            </a:srgbClr>
          </a:solidFill>
          <a:ln w="12700">
            <a:solidFill>
              <a:srgbClr val="2C2B45"/>
            </a:solidFill>
            <a:prstDash val="solid"/>
          </a:ln>
        </p:spPr>
      </p:sp>
      <p:graphicFrame>
        <p:nvGraphicFramePr>
          <p:cNvPr id="7" name="Chart 0" descr=""/>
          <p:cNvGraphicFramePr/>
          <p:nvPr/>
        </p:nvGraphicFramePr>
        <p:xfrm>
          <a:off x="731520" y="1965960"/>
          <a:ext cx="6309360" cy="3886200"/>
        </p:xfrm>
        <a:graphic xmlns:a="http://schemas.openxmlformats.org/drawingml/2006/main">
          <a:graphicData uri="http://schemas.openxmlformats.org/drawingml/2006/chart">
            <c:chart xmlns:c="http://schemas.openxmlformats.org/drawingml/2006/chart" r:id="rId1"/>
          </a:graphicData>
        </a:graphic>
      </p:graphicFrame>
      <p:sp>
        <p:nvSpPr>
          <p:cNvPr id="8" name="card"/>
          <p:cNvSpPr/>
          <p:nvPr/>
        </p:nvSpPr>
        <p:spPr>
          <a:xfrm>
            <a:off x="7452360" y="1874520"/>
            <a:ext cx="4187952" cy="868680"/>
          </a:xfrm>
          <a:prstGeom prst="roundRect">
            <a:avLst>
              <a:gd name="adj" fmla="val 16842"/>
            </a:avLst>
          </a:prstGeom>
          <a:solidFill>
            <a:srgbClr val="15142A">
              <a:alpha val="75000"/>
            </a:srgbClr>
          </a:solidFill>
          <a:ln w="12700">
            <a:solidFill>
              <a:srgbClr val="2C2B45"/>
            </a:solidFill>
            <a:prstDash val="solid"/>
          </a:ln>
        </p:spPr>
      </p:sp>
      <p:sp>
        <p:nvSpPr>
          <p:cNvPr id="9" name="Text 6"/>
          <p:cNvSpPr txBox="1"/>
          <p:nvPr/>
        </p:nvSpPr>
        <p:spPr>
          <a:xfrm>
            <a:off x="7680960" y="1874520"/>
            <a:ext cx="1691640" cy="868680"/>
          </a:xfrm>
          <a:prstGeom prst="rect">
            <a:avLst/>
          </a:prstGeom>
          <a:noFill/>
          <a:ln/>
        </p:spPr>
        <p:txBody>
          <a:bodyPr wrap="square" lIns="0" tIns="0" rIns="0" bIns="0" rtlCol="0" anchor="ctr"/>
          <a:lstStyle/>
          <a:p>
            <a:pPr indent="0" marL="0">
              <a:buNone/>
            </a:pPr>
            <a:r>
              <a:rPr lang="en-US" sz="1900" b="1" dirty="0">
                <a:solidFill>
                  <a:srgbClr val="3EE59A"/>
                </a:solidFill>
              </a:rPr>
              <a:t>26 / 26</a:t>
            </a:r>
            <a:endParaRPr lang="en-US" sz="1900" dirty="0"/>
          </a:p>
        </p:txBody>
      </p:sp>
      <p:sp>
        <p:nvSpPr>
          <p:cNvPr id="10" name="Text 7"/>
          <p:cNvSpPr txBox="1"/>
          <p:nvPr/>
        </p:nvSpPr>
        <p:spPr>
          <a:xfrm>
            <a:off x="9372600" y="1874520"/>
            <a:ext cx="2148840" cy="868680"/>
          </a:xfrm>
          <a:prstGeom prst="rect">
            <a:avLst/>
          </a:prstGeom>
          <a:noFill/>
          <a:ln/>
        </p:spPr>
        <p:txBody>
          <a:bodyPr wrap="square" lIns="0" tIns="0" rIns="0" bIns="0" rtlCol="0" anchor="ctr"/>
          <a:lstStyle/>
          <a:p>
            <a:pPr indent="0" marL="0">
              <a:buNone/>
            </a:pPr>
            <a:r>
              <a:rPr lang="en-US" sz="1250" dirty="0">
                <a:solidFill>
                  <a:schemeClr val="bg2"/>
                </a:solidFill>
              </a:rPr>
              <a:t>Argus quotes verified against the real files. Chatbot: 2 / 8.</a:t>
            </a:r>
            <a:endParaRPr lang="en-US" sz="1250" dirty="0"/>
          </a:p>
        </p:txBody>
      </p:sp>
      <p:sp>
        <p:nvSpPr>
          <p:cNvPr id="11" name="card"/>
          <p:cNvSpPr/>
          <p:nvPr/>
        </p:nvSpPr>
        <p:spPr>
          <a:xfrm>
            <a:off x="7452360" y="2862072"/>
            <a:ext cx="4187952" cy="868680"/>
          </a:xfrm>
          <a:prstGeom prst="roundRect">
            <a:avLst>
              <a:gd name="adj" fmla="val 16842"/>
            </a:avLst>
          </a:prstGeom>
          <a:solidFill>
            <a:srgbClr val="15142A">
              <a:alpha val="75000"/>
            </a:srgbClr>
          </a:solidFill>
          <a:ln w="12700">
            <a:solidFill>
              <a:srgbClr val="2C2B45"/>
            </a:solidFill>
            <a:prstDash val="solid"/>
          </a:ln>
        </p:spPr>
      </p:sp>
      <p:sp>
        <p:nvSpPr>
          <p:cNvPr id="12" name="Text 9"/>
          <p:cNvSpPr txBox="1"/>
          <p:nvPr/>
        </p:nvSpPr>
        <p:spPr>
          <a:xfrm>
            <a:off x="7680960" y="2862072"/>
            <a:ext cx="1691640" cy="868680"/>
          </a:xfrm>
          <a:prstGeom prst="rect">
            <a:avLst/>
          </a:prstGeom>
          <a:noFill/>
          <a:ln/>
        </p:spPr>
        <p:txBody>
          <a:bodyPr wrap="square" lIns="0" tIns="0" rIns="0" bIns="0" rtlCol="0" anchor="ctr"/>
          <a:lstStyle/>
          <a:p>
            <a:pPr indent="0" marL="0">
              <a:buNone/>
            </a:pPr>
            <a:r>
              <a:rPr lang="en-US" sz="1900" b="1" dirty="0">
                <a:solidFill>
                  <a:srgbClr val="8B7CFF"/>
                </a:solidFill>
              </a:rPr>
              <a:t>Blocked</a:t>
            </a:r>
            <a:endParaRPr lang="en-US" sz="1900" dirty="0"/>
          </a:p>
        </p:txBody>
      </p:sp>
      <p:sp>
        <p:nvSpPr>
          <p:cNvPr id="13" name="Text 10"/>
          <p:cNvSpPr txBox="1"/>
          <p:nvPr/>
        </p:nvSpPr>
        <p:spPr>
          <a:xfrm>
            <a:off x="9372600" y="2862072"/>
            <a:ext cx="2148840" cy="868680"/>
          </a:xfrm>
          <a:prstGeom prst="rect">
            <a:avLst/>
          </a:prstGeom>
          <a:noFill/>
          <a:ln/>
        </p:spPr>
        <p:txBody>
          <a:bodyPr wrap="square" lIns="0" tIns="0" rIns="0" bIns="0" rtlCol="0" anchor="ctr"/>
          <a:lstStyle/>
          <a:p>
            <a:pPr indent="0" marL="0">
              <a:buNone/>
            </a:pPr>
            <a:r>
              <a:rPr lang="en-US" sz="1250" dirty="0">
                <a:solidFill>
                  <a:schemeClr val="bg2"/>
                </a:solidFill>
              </a:rPr>
              <a:t>Fabricated quotes are stopped by code before they are used.</a:t>
            </a:r>
            <a:endParaRPr lang="en-US" sz="1250" dirty="0"/>
          </a:p>
        </p:txBody>
      </p:sp>
      <p:sp>
        <p:nvSpPr>
          <p:cNvPr id="14" name="card"/>
          <p:cNvSpPr/>
          <p:nvPr/>
        </p:nvSpPr>
        <p:spPr>
          <a:xfrm>
            <a:off x="7452360" y="3849624"/>
            <a:ext cx="4187952" cy="868680"/>
          </a:xfrm>
          <a:prstGeom prst="roundRect">
            <a:avLst>
              <a:gd name="adj" fmla="val 16842"/>
            </a:avLst>
          </a:prstGeom>
          <a:solidFill>
            <a:srgbClr val="15142A">
              <a:alpha val="75000"/>
            </a:srgbClr>
          </a:solidFill>
          <a:ln w="12700">
            <a:solidFill>
              <a:srgbClr val="2C2B45"/>
            </a:solidFill>
            <a:prstDash val="solid"/>
          </a:ln>
        </p:spPr>
      </p:sp>
      <p:sp>
        <p:nvSpPr>
          <p:cNvPr id="15" name="Text 12"/>
          <p:cNvSpPr txBox="1"/>
          <p:nvPr/>
        </p:nvSpPr>
        <p:spPr>
          <a:xfrm>
            <a:off x="7680960" y="3849624"/>
            <a:ext cx="1691640" cy="868680"/>
          </a:xfrm>
          <a:prstGeom prst="rect">
            <a:avLst/>
          </a:prstGeom>
          <a:noFill/>
          <a:ln/>
        </p:spPr>
        <p:txBody>
          <a:bodyPr wrap="square" lIns="0" tIns="0" rIns="0" bIns="0" rtlCol="0" anchor="ctr"/>
          <a:lstStyle/>
          <a:p>
            <a:pPr indent="0" marL="0">
              <a:buNone/>
            </a:pPr>
            <a:r>
              <a:rPr lang="en-US" sz="1900" b="1" dirty="0">
                <a:solidFill>
                  <a:srgbClr val="FFB547"/>
                </a:solidFill>
              </a:rPr>
              <a:t>~5 s vs 2–4 min</a:t>
            </a:r>
            <a:endParaRPr lang="en-US" sz="1900" dirty="0"/>
          </a:p>
        </p:txBody>
      </p:sp>
      <p:sp>
        <p:nvSpPr>
          <p:cNvPr id="16" name="Text 13"/>
          <p:cNvSpPr txBox="1"/>
          <p:nvPr/>
        </p:nvSpPr>
        <p:spPr>
          <a:xfrm>
            <a:off x="9372600" y="3849624"/>
            <a:ext cx="2148840" cy="868680"/>
          </a:xfrm>
          <a:prstGeom prst="rect">
            <a:avLst/>
          </a:prstGeom>
          <a:noFill/>
          <a:ln/>
        </p:spPr>
        <p:txBody>
          <a:bodyPr wrap="square" lIns="0" tIns="0" rIns="0" bIns="0" rtlCol="0" anchor="ctr"/>
          <a:lstStyle/>
          <a:p>
            <a:pPr indent="0" marL="0">
              <a:buNone/>
            </a:pPr>
            <a:r>
              <a:rPr lang="en-US" sz="1250" dirty="0">
                <a:solidFill>
                  <a:schemeClr val="bg2"/>
                </a:solidFill>
              </a:rPr>
              <a:t>The chatbot is faster. We show that too.</a:t>
            </a:r>
            <a:endParaRPr lang="en-US" sz="1250" dirty="0"/>
          </a:p>
        </p:txBody>
      </p:sp>
      <p:sp>
        <p:nvSpPr>
          <p:cNvPr id="17" name="Text 14"/>
          <p:cNvSpPr txBox="1"/>
          <p:nvPr/>
        </p:nvSpPr>
        <p:spPr>
          <a:xfrm>
            <a:off x="7452360" y="4892040"/>
            <a:ext cx="4187952" cy="1051560"/>
          </a:xfrm>
          <a:prstGeom prst="rect">
            <a:avLst/>
          </a:prstGeom>
          <a:noFill/>
          <a:ln/>
        </p:spPr>
        <p:txBody>
          <a:bodyPr wrap="square" lIns="0" tIns="0" rIns="0" bIns="0" rtlCol="0" anchor="t"/>
          <a:lstStyle/>
          <a:p>
            <a:pPr indent="0" marL="0">
              <a:buNone/>
            </a:pPr>
            <a:r>
              <a:rPr lang="en-US" sz="1300" dirty="0">
                <a:solidFill>
                  <a:schemeClr val="bg2"/>
                </a:solidFill>
              </a:rPr>
              <a:t>Planted traps: </a:t>
            </a:r>
            <a:pPr indent="0" marL="0">
              <a:buNone/>
            </a:pPr>
            <a:r>
              <a:rPr lang="en-US" sz="1300" b="1" dirty="0">
                <a:solidFill>
                  <a:schemeClr val="bg1"/>
                </a:solidFill>
              </a:rPr>
              <a:t>"database overloaded", "payment provider is slow", "marketing traffic spike", "the gateway is failing".</a:t>
            </a:r>
            <a:pPr indent="0" marL="0">
              <a:buNone/>
            </a:pPr>
            <a:r>
              <a:rPr lang="en-US" sz="1300" dirty="0">
                <a:solidFill>
                  <a:schemeClr val="bg2"/>
                </a:solidFill>
              </a:rPr>
              <a:t> Re-run it: python -m eval.compare</a:t>
            </a:r>
            <a:endParaRPr lang="en-US" sz="13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IT RUNS TODAY</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Not a mock-up. A working product, end to end</a:t>
            </a:r>
            <a:endParaRPr lang="en-US" sz="3600" dirty="0"/>
          </a:p>
        </p:txBody>
      </p:sp>
      <p:sp>
        <p:nvSpPr>
          <p:cNvPr id="4" name="criteria tag"/>
          <p:cNvSpPr/>
          <p:nvPr/>
        </p:nvSpPr>
        <p:spPr>
          <a:xfrm>
            <a:off x="7434072" y="420624"/>
            <a:ext cx="4206240" cy="347472"/>
          </a:xfrm>
          <a:prstGeom prst="roundRect">
            <a:avLst>
              <a:gd name="adj" fmla="val 21053"/>
            </a:avLst>
          </a:prstGeom>
          <a:solidFill>
            <a:srgbClr val="8B7CFF">
              <a:alpha val="18000"/>
            </a:srgbClr>
          </a:solidFill>
          <a:ln w="9525">
            <a:solidFill>
              <a:srgbClr val="8B7CFF">
                <a:alpha val="55000"/>
              </a:srgbClr>
            </a:solidFill>
            <a:prstDash val="solid"/>
          </a:ln>
        </p:spPr>
      </p:sp>
      <p:sp>
        <p:nvSpPr>
          <p:cNvPr id="5" name="Text 3"/>
          <p:cNvSpPr txBox="1"/>
          <p:nvPr/>
        </p:nvSpPr>
        <p:spPr>
          <a:xfrm>
            <a:off x="7434072" y="420624"/>
            <a:ext cx="4206240" cy="347472"/>
          </a:xfrm>
          <a:prstGeom prst="rect">
            <a:avLst/>
          </a:prstGeom>
          <a:noFill/>
          <a:ln/>
        </p:spPr>
        <p:txBody>
          <a:bodyPr wrap="square" lIns="0" tIns="0" rIns="0" bIns="0" rtlCol="0" anchor="ctr"/>
          <a:lstStyle/>
          <a:p>
            <a:pPr algn="ctr" indent="0" marL="0">
              <a:buNone/>
            </a:pPr>
            <a:r>
              <a:rPr lang="en-US" sz="1100" b="1" spc="100" kern="0" dirty="0">
                <a:solidFill>
                  <a:srgbClr val="C9C2FF"/>
                </a:solidFill>
                <a:latin typeface="Consolas" pitchFamily="34" charset="0"/>
                <a:ea typeface="Consolas" pitchFamily="34" charset="-122"/>
                <a:cs typeface="Consolas" pitchFamily="34" charset="-120"/>
              </a:rPr>
              <a:t>JUDGING · MVP READINESS</a:t>
            </a:r>
            <a:endParaRPr lang="en-US" sz="1100" dirty="0"/>
          </a:p>
        </p:txBody>
      </p:sp>
      <p:sp>
        <p:nvSpPr>
          <p:cNvPr id="6" name="tick"/>
          <p:cNvSpPr/>
          <p:nvPr/>
        </p:nvSpPr>
        <p:spPr>
          <a:xfrm>
            <a:off x="548640" y="2002536"/>
            <a:ext cx="274320" cy="274320"/>
          </a:xfrm>
          <a:prstGeom prst="roundRect">
            <a:avLst>
              <a:gd name="adj" fmla="val 23333"/>
            </a:avLst>
          </a:prstGeom>
          <a:solidFill>
            <a:srgbClr val="3EE59A">
              <a:alpha val="18000"/>
            </a:srgbClr>
          </a:solidFill>
          <a:ln/>
        </p:spPr>
      </p:sp>
      <p:sp>
        <p:nvSpPr>
          <p:cNvPr id="7" name="Text 5"/>
          <p:cNvSpPr txBox="1"/>
          <p:nvPr/>
        </p:nvSpPr>
        <p:spPr>
          <a:xfrm>
            <a:off x="548640" y="2002536"/>
            <a:ext cx="274320" cy="274320"/>
          </a:xfrm>
          <a:prstGeom prst="rect">
            <a:avLst/>
          </a:prstGeom>
          <a:noFill/>
          <a:ln/>
        </p:spPr>
        <p:txBody>
          <a:bodyPr wrap="square" lIns="0" tIns="0" rIns="0" bIns="0" rtlCol="0" anchor="ctr"/>
          <a:lstStyle/>
          <a:p>
            <a:pPr algn="ctr" indent="0" marL="0">
              <a:buNone/>
            </a:pPr>
            <a:r>
              <a:rPr lang="en-US" sz="1300" b="1" dirty="0">
                <a:solidFill>
                  <a:srgbClr val="3EE59A"/>
                </a:solidFill>
              </a:rPr>
              <a:t>✓</a:t>
            </a:r>
            <a:endParaRPr lang="en-US" sz="1300" dirty="0"/>
          </a:p>
        </p:txBody>
      </p:sp>
      <p:sp>
        <p:nvSpPr>
          <p:cNvPr id="8" name="Text 6"/>
          <p:cNvSpPr txBox="1"/>
          <p:nvPr/>
        </p:nvSpPr>
        <p:spPr>
          <a:xfrm>
            <a:off x="987552" y="1965960"/>
            <a:ext cx="5413248" cy="713232"/>
          </a:xfrm>
          <a:prstGeom prst="rect">
            <a:avLst/>
          </a:prstGeom>
          <a:noFill/>
          <a:ln/>
        </p:spPr>
        <p:txBody>
          <a:bodyPr wrap="square" lIns="0" tIns="0" rIns="0" bIns="0" rtlCol="0" anchor="t"/>
          <a:lstStyle/>
          <a:p>
            <a:pPr indent="0" marL="0">
              <a:buNone/>
            </a:pPr>
            <a:r>
              <a:rPr lang="en-US" sz="1500" b="1" dirty="0">
                <a:solidFill>
                  <a:schemeClr val="bg1"/>
                </a:solidFill>
              </a:rPr>
              <a:t>One command </a:t>
            </a:r>
            <a:pPr indent="0" marL="0">
              <a:buNone/>
            </a:pPr>
            <a:r>
              <a:rPr lang="en-US" sz="1500" dirty="0">
                <a:solidFill>
                  <a:schemeClr val="bg2"/>
                </a:solidFill>
              </a:rPr>
              <a:t>starts it all: python run_demo.py (shop, Argus and a self-check).</a:t>
            </a:r>
            <a:endParaRPr lang="en-US" sz="1500" dirty="0"/>
          </a:p>
        </p:txBody>
      </p:sp>
      <p:sp>
        <p:nvSpPr>
          <p:cNvPr id="9" name="tick"/>
          <p:cNvSpPr/>
          <p:nvPr/>
        </p:nvSpPr>
        <p:spPr>
          <a:xfrm>
            <a:off x="548640" y="2788920"/>
            <a:ext cx="274320" cy="274320"/>
          </a:xfrm>
          <a:prstGeom prst="roundRect">
            <a:avLst>
              <a:gd name="adj" fmla="val 23333"/>
            </a:avLst>
          </a:prstGeom>
          <a:solidFill>
            <a:srgbClr val="3EE59A">
              <a:alpha val="18000"/>
            </a:srgbClr>
          </a:solidFill>
          <a:ln/>
        </p:spPr>
      </p:sp>
      <p:sp>
        <p:nvSpPr>
          <p:cNvPr id="10" name="Text 8"/>
          <p:cNvSpPr txBox="1"/>
          <p:nvPr/>
        </p:nvSpPr>
        <p:spPr>
          <a:xfrm>
            <a:off x="548640" y="2788920"/>
            <a:ext cx="274320" cy="274320"/>
          </a:xfrm>
          <a:prstGeom prst="rect">
            <a:avLst/>
          </a:prstGeom>
          <a:noFill/>
          <a:ln/>
        </p:spPr>
        <p:txBody>
          <a:bodyPr wrap="square" lIns="0" tIns="0" rIns="0" bIns="0" rtlCol="0" anchor="ctr"/>
          <a:lstStyle/>
          <a:p>
            <a:pPr algn="ctr" indent="0" marL="0">
              <a:buNone/>
            </a:pPr>
            <a:r>
              <a:rPr lang="en-US" sz="1300" b="1" dirty="0">
                <a:solidFill>
                  <a:srgbClr val="3EE59A"/>
                </a:solidFill>
              </a:rPr>
              <a:t>✓</a:t>
            </a:r>
            <a:endParaRPr lang="en-US" sz="1300" dirty="0"/>
          </a:p>
        </p:txBody>
      </p:sp>
      <p:sp>
        <p:nvSpPr>
          <p:cNvPr id="11" name="Text 9"/>
          <p:cNvSpPr txBox="1"/>
          <p:nvPr/>
        </p:nvSpPr>
        <p:spPr>
          <a:xfrm>
            <a:off x="987552" y="2752344"/>
            <a:ext cx="5413248" cy="713232"/>
          </a:xfrm>
          <a:prstGeom prst="rect">
            <a:avLst/>
          </a:prstGeom>
          <a:noFill/>
          <a:ln/>
        </p:spPr>
        <p:txBody>
          <a:bodyPr wrap="square" lIns="0" tIns="0" rIns="0" bIns="0" rtlCol="0" anchor="t"/>
          <a:lstStyle/>
          <a:p>
            <a:pPr indent="0" marL="0">
              <a:buNone/>
            </a:pPr>
            <a:r>
              <a:rPr lang="en-US" sz="1500" b="1" dirty="0">
                <a:solidFill>
                  <a:schemeClr val="bg1"/>
                </a:solidFill>
              </a:rPr>
              <a:t>Real integrations: </a:t>
            </a:r>
            <a:pPr indent="0" marL="0">
              <a:buNone/>
            </a:pPr>
            <a:r>
              <a:rPr lang="en-US" sz="1500" dirty="0">
                <a:solidFill>
                  <a:schemeClr val="bg2"/>
                </a:solidFill>
              </a:rPr>
              <a:t>Alertmanager and Grafana webhooks, git repos, Docker sandbox, live deploys.</a:t>
            </a:r>
            <a:endParaRPr lang="en-US" sz="1500" dirty="0"/>
          </a:p>
        </p:txBody>
      </p:sp>
      <p:sp>
        <p:nvSpPr>
          <p:cNvPr id="12" name="tick"/>
          <p:cNvSpPr/>
          <p:nvPr/>
        </p:nvSpPr>
        <p:spPr>
          <a:xfrm>
            <a:off x="548640" y="3575304"/>
            <a:ext cx="274320" cy="274320"/>
          </a:xfrm>
          <a:prstGeom prst="roundRect">
            <a:avLst>
              <a:gd name="adj" fmla="val 23333"/>
            </a:avLst>
          </a:prstGeom>
          <a:solidFill>
            <a:srgbClr val="3EE59A">
              <a:alpha val="18000"/>
            </a:srgbClr>
          </a:solidFill>
          <a:ln/>
        </p:spPr>
      </p:sp>
      <p:sp>
        <p:nvSpPr>
          <p:cNvPr id="13" name="Text 11"/>
          <p:cNvSpPr txBox="1"/>
          <p:nvPr/>
        </p:nvSpPr>
        <p:spPr>
          <a:xfrm>
            <a:off x="548640" y="3575304"/>
            <a:ext cx="274320" cy="274320"/>
          </a:xfrm>
          <a:prstGeom prst="rect">
            <a:avLst/>
          </a:prstGeom>
          <a:noFill/>
          <a:ln/>
        </p:spPr>
        <p:txBody>
          <a:bodyPr wrap="square" lIns="0" tIns="0" rIns="0" bIns="0" rtlCol="0" anchor="ctr"/>
          <a:lstStyle/>
          <a:p>
            <a:pPr algn="ctr" indent="0" marL="0">
              <a:buNone/>
            </a:pPr>
            <a:r>
              <a:rPr lang="en-US" sz="1300" b="1" dirty="0">
                <a:solidFill>
                  <a:srgbClr val="3EE59A"/>
                </a:solidFill>
              </a:rPr>
              <a:t>✓</a:t>
            </a:r>
            <a:endParaRPr lang="en-US" sz="1300" dirty="0"/>
          </a:p>
        </p:txBody>
      </p:sp>
      <p:sp>
        <p:nvSpPr>
          <p:cNvPr id="14" name="Text 12"/>
          <p:cNvSpPr txBox="1"/>
          <p:nvPr/>
        </p:nvSpPr>
        <p:spPr>
          <a:xfrm>
            <a:off x="987552" y="3538728"/>
            <a:ext cx="5413248" cy="713232"/>
          </a:xfrm>
          <a:prstGeom prst="rect">
            <a:avLst/>
          </a:prstGeom>
          <a:noFill/>
          <a:ln/>
        </p:spPr>
        <p:txBody>
          <a:bodyPr wrap="square" lIns="0" tIns="0" rIns="0" bIns="0" rtlCol="0" anchor="t"/>
          <a:lstStyle/>
          <a:p>
            <a:pPr indent="0" marL="0">
              <a:buNone/>
            </a:pPr>
            <a:r>
              <a:rPr lang="en-US" sz="1500" b="1" dirty="0">
                <a:solidFill>
                  <a:schemeClr val="bg1"/>
                </a:solidFill>
              </a:rPr>
              <a:t>Full web app: </a:t>
            </a:r>
            <a:pPr indent="0" marL="0">
              <a:buNone/>
            </a:pPr>
            <a:r>
              <a:rPr lang="en-US" sz="1500" dirty="0">
                <a:solidFill>
                  <a:schemeClr val="bg2"/>
                </a:solidFill>
              </a:rPr>
              <a:t>dashboard, incident board, ticket war room, results, health page, command palette, guided tour.</a:t>
            </a:r>
            <a:endParaRPr lang="en-US" sz="1500" dirty="0"/>
          </a:p>
        </p:txBody>
      </p:sp>
      <p:sp>
        <p:nvSpPr>
          <p:cNvPr id="15" name="tick"/>
          <p:cNvSpPr/>
          <p:nvPr/>
        </p:nvSpPr>
        <p:spPr>
          <a:xfrm>
            <a:off x="548640" y="4361688"/>
            <a:ext cx="274320" cy="274320"/>
          </a:xfrm>
          <a:prstGeom prst="roundRect">
            <a:avLst>
              <a:gd name="adj" fmla="val 23333"/>
            </a:avLst>
          </a:prstGeom>
          <a:solidFill>
            <a:srgbClr val="3EE59A">
              <a:alpha val="18000"/>
            </a:srgbClr>
          </a:solidFill>
          <a:ln/>
        </p:spPr>
      </p:sp>
      <p:sp>
        <p:nvSpPr>
          <p:cNvPr id="16" name="Text 14"/>
          <p:cNvSpPr txBox="1"/>
          <p:nvPr/>
        </p:nvSpPr>
        <p:spPr>
          <a:xfrm>
            <a:off x="548640" y="4361688"/>
            <a:ext cx="274320" cy="274320"/>
          </a:xfrm>
          <a:prstGeom prst="rect">
            <a:avLst/>
          </a:prstGeom>
          <a:noFill/>
          <a:ln/>
        </p:spPr>
        <p:txBody>
          <a:bodyPr wrap="square" lIns="0" tIns="0" rIns="0" bIns="0" rtlCol="0" anchor="ctr"/>
          <a:lstStyle/>
          <a:p>
            <a:pPr algn="ctr" indent="0" marL="0">
              <a:buNone/>
            </a:pPr>
            <a:r>
              <a:rPr lang="en-US" sz="1300" b="1" dirty="0">
                <a:solidFill>
                  <a:srgbClr val="3EE59A"/>
                </a:solidFill>
              </a:rPr>
              <a:t>✓</a:t>
            </a:r>
            <a:endParaRPr lang="en-US" sz="1300" dirty="0"/>
          </a:p>
        </p:txBody>
      </p:sp>
      <p:sp>
        <p:nvSpPr>
          <p:cNvPr id="17" name="Text 15"/>
          <p:cNvSpPr txBox="1"/>
          <p:nvPr/>
        </p:nvSpPr>
        <p:spPr>
          <a:xfrm>
            <a:off x="987552" y="4325112"/>
            <a:ext cx="5413248" cy="713232"/>
          </a:xfrm>
          <a:prstGeom prst="rect">
            <a:avLst/>
          </a:prstGeom>
          <a:noFill/>
          <a:ln/>
        </p:spPr>
        <p:txBody>
          <a:bodyPr wrap="square" lIns="0" tIns="0" rIns="0" bIns="0" rtlCol="0" anchor="t"/>
          <a:lstStyle/>
          <a:p>
            <a:pPr indent="0" marL="0">
              <a:buNone/>
            </a:pPr>
            <a:r>
              <a:rPr lang="en-US" sz="1500" b="1" dirty="0">
                <a:solidFill>
                  <a:schemeClr val="bg1"/>
                </a:solidFill>
              </a:rPr>
              <a:t>Replay mode: </a:t>
            </a:r>
            <a:pPr indent="0" marL="0">
              <a:buNone/>
            </a:pPr>
            <a:r>
              <a:rPr lang="en-US" sz="1500" dirty="0">
                <a:solidFill>
                  <a:schemeClr val="bg2"/>
                </a:solidFill>
              </a:rPr>
              <a:t>a demo that can't stall. Real breakage and recovery; agent steps played back from a recorded real run.</a:t>
            </a:r>
            <a:endParaRPr lang="en-US" sz="1500" dirty="0"/>
          </a:p>
        </p:txBody>
      </p:sp>
      <p:sp>
        <p:nvSpPr>
          <p:cNvPr id="18" name="tick"/>
          <p:cNvSpPr/>
          <p:nvPr/>
        </p:nvSpPr>
        <p:spPr>
          <a:xfrm>
            <a:off x="548640" y="5148072"/>
            <a:ext cx="274320" cy="274320"/>
          </a:xfrm>
          <a:prstGeom prst="roundRect">
            <a:avLst>
              <a:gd name="adj" fmla="val 23333"/>
            </a:avLst>
          </a:prstGeom>
          <a:solidFill>
            <a:srgbClr val="3EE59A">
              <a:alpha val="18000"/>
            </a:srgbClr>
          </a:solidFill>
          <a:ln/>
        </p:spPr>
      </p:sp>
      <p:sp>
        <p:nvSpPr>
          <p:cNvPr id="19" name="Text 17"/>
          <p:cNvSpPr txBox="1"/>
          <p:nvPr/>
        </p:nvSpPr>
        <p:spPr>
          <a:xfrm>
            <a:off x="548640" y="5148072"/>
            <a:ext cx="274320" cy="274320"/>
          </a:xfrm>
          <a:prstGeom prst="rect">
            <a:avLst/>
          </a:prstGeom>
          <a:noFill/>
          <a:ln/>
        </p:spPr>
        <p:txBody>
          <a:bodyPr wrap="square" lIns="0" tIns="0" rIns="0" bIns="0" rtlCol="0" anchor="ctr"/>
          <a:lstStyle/>
          <a:p>
            <a:pPr algn="ctr" indent="0" marL="0">
              <a:buNone/>
            </a:pPr>
            <a:r>
              <a:rPr lang="en-US" sz="1300" b="1" dirty="0">
                <a:solidFill>
                  <a:srgbClr val="3EE59A"/>
                </a:solidFill>
              </a:rPr>
              <a:t>✓</a:t>
            </a:r>
            <a:endParaRPr lang="en-US" sz="1300" dirty="0"/>
          </a:p>
        </p:txBody>
      </p:sp>
      <p:sp>
        <p:nvSpPr>
          <p:cNvPr id="20" name="Text 18"/>
          <p:cNvSpPr txBox="1"/>
          <p:nvPr/>
        </p:nvSpPr>
        <p:spPr>
          <a:xfrm>
            <a:off x="987552" y="5111496"/>
            <a:ext cx="5413248" cy="713232"/>
          </a:xfrm>
          <a:prstGeom prst="rect">
            <a:avLst/>
          </a:prstGeom>
          <a:noFill/>
          <a:ln/>
        </p:spPr>
        <p:txBody>
          <a:bodyPr wrap="square" lIns="0" tIns="0" rIns="0" bIns="0" rtlCol="0" anchor="t"/>
          <a:lstStyle/>
          <a:p>
            <a:pPr indent="0" marL="0">
              <a:buNone/>
            </a:pPr>
            <a:r>
              <a:rPr lang="en-US" sz="1500" b="1" dirty="0">
                <a:solidFill>
                  <a:schemeClr val="bg1"/>
                </a:solidFill>
              </a:rPr>
              <a:t>Resilient AI: </a:t>
            </a:r>
            <a:pPr indent="0" marL="0">
              <a:buNone/>
            </a:pPr>
            <a:r>
              <a:rPr lang="en-US" sz="1500" dirty="0">
                <a:solidFill>
                  <a:schemeClr val="bg2"/>
                </a:solidFill>
              </a:rPr>
              <a:t>multi-provider failover, free-tier waits and cooldowns handled.</a:t>
            </a:r>
            <a:endParaRPr lang="en-US" sz="1500" dirty="0"/>
          </a:p>
        </p:txBody>
      </p:sp>
      <p:sp>
        <p:nvSpPr>
          <p:cNvPr id="21" name="stat card"/>
          <p:cNvSpPr/>
          <p:nvPr/>
        </p:nvSpPr>
        <p:spPr>
          <a:xfrm>
            <a:off x="6839712" y="1965960"/>
            <a:ext cx="2286000" cy="1828800"/>
          </a:xfrm>
          <a:prstGeom prst="roundRect">
            <a:avLst>
              <a:gd name="adj" fmla="val 8000"/>
            </a:avLst>
          </a:prstGeom>
          <a:solidFill>
            <a:srgbClr val="15142A">
              <a:alpha val="75000"/>
            </a:srgbClr>
          </a:solidFill>
          <a:ln w="12700">
            <a:solidFill>
              <a:srgbClr val="2C2B45"/>
            </a:solidFill>
            <a:prstDash val="solid"/>
          </a:ln>
        </p:spPr>
      </p:sp>
      <p:sp>
        <p:nvSpPr>
          <p:cNvPr id="22" name="Text 20"/>
          <p:cNvSpPr txBox="1"/>
          <p:nvPr/>
        </p:nvSpPr>
        <p:spPr>
          <a:xfrm>
            <a:off x="7114032" y="2221992"/>
            <a:ext cx="1737360" cy="868680"/>
          </a:xfrm>
          <a:prstGeom prst="rect">
            <a:avLst/>
          </a:prstGeom>
          <a:noFill/>
          <a:ln/>
        </p:spPr>
        <p:txBody>
          <a:bodyPr wrap="square" lIns="0" tIns="0" rIns="0" bIns="0" rtlCol="0" anchor="ctr"/>
          <a:lstStyle/>
          <a:p>
            <a:pPr indent="0" marL="0">
              <a:buNone/>
            </a:pPr>
            <a:r>
              <a:rPr lang="en-US" sz="4400" b="1" dirty="0">
                <a:solidFill>
                  <a:srgbClr val="3EE59A"/>
                </a:solidFill>
              </a:rPr>
              <a:t>39</a:t>
            </a:r>
            <a:endParaRPr lang="en-US" sz="4400" dirty="0"/>
          </a:p>
        </p:txBody>
      </p:sp>
      <p:sp>
        <p:nvSpPr>
          <p:cNvPr id="23" name="Text 21"/>
          <p:cNvSpPr txBox="1"/>
          <p:nvPr/>
        </p:nvSpPr>
        <p:spPr>
          <a:xfrm>
            <a:off x="7114032" y="3136392"/>
            <a:ext cx="1737360" cy="502920"/>
          </a:xfrm>
          <a:prstGeom prst="rect">
            <a:avLst/>
          </a:prstGeom>
          <a:noFill/>
          <a:ln/>
        </p:spPr>
        <p:txBody>
          <a:bodyPr wrap="square" lIns="0" tIns="0" rIns="0" bIns="0" rtlCol="0" anchor="t"/>
          <a:lstStyle/>
          <a:p>
            <a:pPr indent="0" marL="0">
              <a:buNone/>
            </a:pPr>
            <a:r>
              <a:rPr lang="en-US" sz="1400" dirty="0">
                <a:solidFill>
                  <a:schemeClr val="bg2"/>
                </a:solidFill>
              </a:rPr>
              <a:t>automated tests passing, offline</a:t>
            </a:r>
            <a:endParaRPr lang="en-US" sz="1400" dirty="0"/>
          </a:p>
        </p:txBody>
      </p:sp>
      <p:sp>
        <p:nvSpPr>
          <p:cNvPr id="24" name="stat card"/>
          <p:cNvSpPr/>
          <p:nvPr/>
        </p:nvSpPr>
        <p:spPr>
          <a:xfrm>
            <a:off x="9354312" y="1965960"/>
            <a:ext cx="2286000" cy="1828800"/>
          </a:xfrm>
          <a:prstGeom prst="roundRect">
            <a:avLst>
              <a:gd name="adj" fmla="val 8000"/>
            </a:avLst>
          </a:prstGeom>
          <a:solidFill>
            <a:srgbClr val="15142A">
              <a:alpha val="75000"/>
            </a:srgbClr>
          </a:solidFill>
          <a:ln w="12700">
            <a:solidFill>
              <a:srgbClr val="2C2B45"/>
            </a:solidFill>
            <a:prstDash val="solid"/>
          </a:ln>
        </p:spPr>
      </p:sp>
      <p:sp>
        <p:nvSpPr>
          <p:cNvPr id="25" name="Text 23"/>
          <p:cNvSpPr txBox="1"/>
          <p:nvPr/>
        </p:nvSpPr>
        <p:spPr>
          <a:xfrm>
            <a:off x="9628632" y="2221992"/>
            <a:ext cx="1737360" cy="868680"/>
          </a:xfrm>
          <a:prstGeom prst="rect">
            <a:avLst/>
          </a:prstGeom>
          <a:noFill/>
          <a:ln/>
        </p:spPr>
        <p:txBody>
          <a:bodyPr wrap="square" lIns="0" tIns="0" rIns="0" bIns="0" rtlCol="0" anchor="ctr"/>
          <a:lstStyle/>
          <a:p>
            <a:pPr indent="0" marL="0">
              <a:buNone/>
            </a:pPr>
            <a:r>
              <a:rPr lang="en-US" sz="4400" b="1" dirty="0">
                <a:solidFill>
                  <a:srgbClr val="F4F3FF"/>
                </a:solidFill>
              </a:rPr>
              <a:t>5</a:t>
            </a:r>
            <a:endParaRPr lang="en-US" sz="4400" dirty="0"/>
          </a:p>
        </p:txBody>
      </p:sp>
      <p:sp>
        <p:nvSpPr>
          <p:cNvPr id="26" name="Text 24"/>
          <p:cNvSpPr txBox="1"/>
          <p:nvPr/>
        </p:nvSpPr>
        <p:spPr>
          <a:xfrm>
            <a:off x="9628632" y="3136392"/>
            <a:ext cx="1737360" cy="502920"/>
          </a:xfrm>
          <a:prstGeom prst="rect">
            <a:avLst/>
          </a:prstGeom>
          <a:noFill/>
          <a:ln/>
        </p:spPr>
        <p:txBody>
          <a:bodyPr wrap="square" lIns="0" tIns="0" rIns="0" bIns="0" rtlCol="0" anchor="t"/>
          <a:lstStyle/>
          <a:p>
            <a:pPr indent="0" marL="0">
              <a:buNone/>
            </a:pPr>
            <a:r>
              <a:rPr lang="en-US" sz="1400" dirty="0">
                <a:solidFill>
                  <a:schemeClr val="bg2"/>
                </a:solidFill>
              </a:rPr>
              <a:t>service scenarios, including a live store</a:t>
            </a:r>
            <a:endParaRPr lang="en-US" sz="1400" dirty="0"/>
          </a:p>
        </p:txBody>
      </p:sp>
      <p:sp>
        <p:nvSpPr>
          <p:cNvPr id="27" name="stat card"/>
          <p:cNvSpPr/>
          <p:nvPr/>
        </p:nvSpPr>
        <p:spPr>
          <a:xfrm>
            <a:off x="6839712" y="4023360"/>
            <a:ext cx="2286000" cy="1828800"/>
          </a:xfrm>
          <a:prstGeom prst="roundRect">
            <a:avLst>
              <a:gd name="adj" fmla="val 8000"/>
            </a:avLst>
          </a:prstGeom>
          <a:solidFill>
            <a:srgbClr val="15142A">
              <a:alpha val="75000"/>
            </a:srgbClr>
          </a:solidFill>
          <a:ln w="12700">
            <a:solidFill>
              <a:srgbClr val="2C2B45"/>
            </a:solidFill>
            <a:prstDash val="solid"/>
          </a:ln>
        </p:spPr>
      </p:sp>
      <p:sp>
        <p:nvSpPr>
          <p:cNvPr id="28" name="Text 26"/>
          <p:cNvSpPr txBox="1"/>
          <p:nvPr/>
        </p:nvSpPr>
        <p:spPr>
          <a:xfrm>
            <a:off x="7114032" y="4279392"/>
            <a:ext cx="1737360" cy="868680"/>
          </a:xfrm>
          <a:prstGeom prst="rect">
            <a:avLst/>
          </a:prstGeom>
          <a:noFill/>
          <a:ln/>
        </p:spPr>
        <p:txBody>
          <a:bodyPr wrap="square" lIns="0" tIns="0" rIns="0" bIns="0" rtlCol="0" anchor="ctr"/>
          <a:lstStyle/>
          <a:p>
            <a:pPr indent="0" marL="0">
              <a:buNone/>
            </a:pPr>
            <a:r>
              <a:rPr lang="en-US" sz="4400" b="1" dirty="0">
                <a:solidFill>
                  <a:srgbClr val="F4F3FF"/>
                </a:solidFill>
              </a:rPr>
              <a:t>2</a:t>
            </a:r>
            <a:endParaRPr lang="en-US" sz="4400" dirty="0"/>
          </a:p>
        </p:txBody>
      </p:sp>
      <p:sp>
        <p:nvSpPr>
          <p:cNvPr id="29" name="Text 27"/>
          <p:cNvSpPr txBox="1"/>
          <p:nvPr/>
        </p:nvSpPr>
        <p:spPr>
          <a:xfrm>
            <a:off x="7114032" y="5193792"/>
            <a:ext cx="1737360" cy="502920"/>
          </a:xfrm>
          <a:prstGeom prst="rect">
            <a:avLst/>
          </a:prstGeom>
          <a:noFill/>
          <a:ln/>
        </p:spPr>
        <p:txBody>
          <a:bodyPr wrap="square" lIns="0" tIns="0" rIns="0" bIns="0" rtlCol="0" anchor="t"/>
          <a:lstStyle/>
          <a:p>
            <a:pPr indent="0" marL="0">
              <a:buNone/>
            </a:pPr>
            <a:r>
              <a:rPr lang="en-US" sz="1400" dirty="0">
                <a:solidFill>
                  <a:schemeClr val="bg2"/>
                </a:solidFill>
              </a:rPr>
              <a:t>tech stacks: Python and Node.js</a:t>
            </a:r>
            <a:endParaRPr lang="en-US" sz="1400" dirty="0"/>
          </a:p>
        </p:txBody>
      </p:sp>
      <p:sp>
        <p:nvSpPr>
          <p:cNvPr id="30" name="stat card"/>
          <p:cNvSpPr/>
          <p:nvPr/>
        </p:nvSpPr>
        <p:spPr>
          <a:xfrm>
            <a:off x="9354312" y="4023360"/>
            <a:ext cx="2286000" cy="1828800"/>
          </a:xfrm>
          <a:prstGeom prst="roundRect">
            <a:avLst>
              <a:gd name="adj" fmla="val 8000"/>
            </a:avLst>
          </a:prstGeom>
          <a:solidFill>
            <a:srgbClr val="15142A">
              <a:alpha val="75000"/>
            </a:srgbClr>
          </a:solidFill>
          <a:ln w="12700">
            <a:solidFill>
              <a:srgbClr val="2C2B45"/>
            </a:solidFill>
            <a:prstDash val="solid"/>
          </a:ln>
        </p:spPr>
      </p:sp>
      <p:sp>
        <p:nvSpPr>
          <p:cNvPr id="31" name="Text 29"/>
          <p:cNvSpPr txBox="1"/>
          <p:nvPr/>
        </p:nvSpPr>
        <p:spPr>
          <a:xfrm>
            <a:off x="9628632" y="4279392"/>
            <a:ext cx="1737360" cy="868680"/>
          </a:xfrm>
          <a:prstGeom prst="rect">
            <a:avLst/>
          </a:prstGeom>
          <a:noFill/>
          <a:ln/>
        </p:spPr>
        <p:txBody>
          <a:bodyPr wrap="square" lIns="0" tIns="0" rIns="0" bIns="0" rtlCol="0" anchor="ctr"/>
          <a:lstStyle/>
          <a:p>
            <a:pPr indent="0" marL="0">
              <a:buNone/>
            </a:pPr>
            <a:r>
              <a:rPr lang="en-US" sz="4400" b="1" dirty="0">
                <a:solidFill>
                  <a:srgbClr val="46D3F5"/>
                </a:solidFill>
              </a:rPr>
              <a:t>3</a:t>
            </a:r>
            <a:endParaRPr lang="en-US" sz="4400" dirty="0"/>
          </a:p>
        </p:txBody>
      </p:sp>
      <p:sp>
        <p:nvSpPr>
          <p:cNvPr id="32" name="Text 30"/>
          <p:cNvSpPr txBox="1"/>
          <p:nvPr/>
        </p:nvSpPr>
        <p:spPr>
          <a:xfrm>
            <a:off x="9628632" y="5193792"/>
            <a:ext cx="1737360" cy="502920"/>
          </a:xfrm>
          <a:prstGeom prst="rect">
            <a:avLst/>
          </a:prstGeom>
          <a:noFill/>
          <a:ln/>
        </p:spPr>
        <p:txBody>
          <a:bodyPr wrap="square" lIns="0" tIns="0" rIns="0" bIns="0" rtlCol="0" anchor="t"/>
          <a:lstStyle/>
          <a:p>
            <a:pPr indent="0" marL="0">
              <a:buNone/>
            </a:pPr>
            <a:r>
              <a:rPr lang="en-US" sz="1400" dirty="0">
                <a:solidFill>
                  <a:schemeClr val="bg2"/>
                </a:solidFill>
              </a:rPr>
              <a:t>user roles with server-side permission checks</a:t>
            </a:r>
            <a:endParaRPr lang="en-US" sz="14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WHAT'S NEW HERE</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Five ideas you won't find in a chat window</a:t>
            </a:r>
            <a:endParaRPr lang="en-US" sz="3600" dirty="0"/>
          </a:p>
        </p:txBody>
      </p:sp>
      <p:sp>
        <p:nvSpPr>
          <p:cNvPr id="4" name="criteria tag"/>
          <p:cNvSpPr/>
          <p:nvPr/>
        </p:nvSpPr>
        <p:spPr>
          <a:xfrm>
            <a:off x="7434072" y="420624"/>
            <a:ext cx="4206240" cy="347472"/>
          </a:xfrm>
          <a:prstGeom prst="roundRect">
            <a:avLst>
              <a:gd name="adj" fmla="val 21053"/>
            </a:avLst>
          </a:prstGeom>
          <a:solidFill>
            <a:srgbClr val="8B7CFF">
              <a:alpha val="18000"/>
            </a:srgbClr>
          </a:solidFill>
          <a:ln w="9525">
            <a:solidFill>
              <a:srgbClr val="8B7CFF">
                <a:alpha val="55000"/>
              </a:srgbClr>
            </a:solidFill>
            <a:prstDash val="solid"/>
          </a:ln>
        </p:spPr>
      </p:sp>
      <p:sp>
        <p:nvSpPr>
          <p:cNvPr id="5" name="Text 3"/>
          <p:cNvSpPr txBox="1"/>
          <p:nvPr/>
        </p:nvSpPr>
        <p:spPr>
          <a:xfrm>
            <a:off x="7434072" y="420624"/>
            <a:ext cx="4206240" cy="347472"/>
          </a:xfrm>
          <a:prstGeom prst="rect">
            <a:avLst/>
          </a:prstGeom>
          <a:noFill/>
          <a:ln/>
        </p:spPr>
        <p:txBody>
          <a:bodyPr wrap="square" lIns="0" tIns="0" rIns="0" bIns="0" rtlCol="0" anchor="ctr"/>
          <a:lstStyle/>
          <a:p>
            <a:pPr algn="ctr" indent="0" marL="0">
              <a:buNone/>
            </a:pPr>
            <a:r>
              <a:rPr lang="en-US" sz="1100" b="1" spc="100" kern="0" dirty="0">
                <a:solidFill>
                  <a:srgbClr val="C9C2FF"/>
                </a:solidFill>
                <a:latin typeface="Consolas" pitchFamily="34" charset="0"/>
                <a:ea typeface="Consolas" pitchFamily="34" charset="-122"/>
                <a:cs typeface="Consolas" pitchFamily="34" charset="-120"/>
              </a:rPr>
              <a:t>JUDGING · ORIGINALITY &amp; INNOVATION</a:t>
            </a:r>
            <a:endParaRPr lang="en-US" sz="1100" dirty="0"/>
          </a:p>
        </p:txBody>
      </p:sp>
      <p:sp>
        <p:nvSpPr>
          <p:cNvPr id="6" name="card"/>
          <p:cNvSpPr/>
          <p:nvPr/>
        </p:nvSpPr>
        <p:spPr>
          <a:xfrm>
            <a:off x="548640" y="2011680"/>
            <a:ext cx="2057400" cy="3566160"/>
          </a:xfrm>
          <a:prstGeom prst="roundRect">
            <a:avLst>
              <a:gd name="adj" fmla="val 7111"/>
            </a:avLst>
          </a:prstGeom>
          <a:solidFill>
            <a:srgbClr val="15142A">
              <a:alpha val="75000"/>
            </a:srgbClr>
          </a:solidFill>
          <a:ln w="12700">
            <a:solidFill>
              <a:srgbClr val="2C2B45"/>
            </a:solidFill>
            <a:prstDash val="solid"/>
          </a:ln>
        </p:spPr>
      </p:sp>
      <p:sp>
        <p:nvSpPr>
          <p:cNvPr id="7" name="Text 5"/>
          <p:cNvSpPr txBox="1"/>
          <p:nvPr/>
        </p:nvSpPr>
        <p:spPr>
          <a:xfrm>
            <a:off x="777240" y="2240280"/>
            <a:ext cx="1600200" cy="777240"/>
          </a:xfrm>
          <a:prstGeom prst="rect">
            <a:avLst/>
          </a:prstGeom>
          <a:noFill/>
          <a:ln/>
        </p:spPr>
        <p:txBody>
          <a:bodyPr wrap="square" lIns="0" tIns="0" rIns="0" bIns="0" rtlCol="0" anchor="ctr"/>
          <a:lstStyle/>
          <a:p>
            <a:pPr indent="0" marL="0">
              <a:buNone/>
            </a:pPr>
            <a:r>
              <a:rPr lang="en-US" sz="4400" b="1" dirty="0">
                <a:solidFill>
                  <a:schemeClr val="accent1"/>
                </a:solidFill>
              </a:rPr>
              <a:t>01</a:t>
            </a:r>
            <a:endParaRPr lang="en-US" sz="4400" dirty="0"/>
          </a:p>
        </p:txBody>
      </p:sp>
      <p:sp>
        <p:nvSpPr>
          <p:cNvPr id="8" name="Text 6"/>
          <p:cNvSpPr txBox="1"/>
          <p:nvPr/>
        </p:nvSpPr>
        <p:spPr>
          <a:xfrm>
            <a:off x="777240" y="3154680"/>
            <a:ext cx="1600200" cy="868680"/>
          </a:xfrm>
          <a:prstGeom prst="rect">
            <a:avLst/>
          </a:prstGeom>
          <a:noFill/>
          <a:ln/>
        </p:spPr>
        <p:txBody>
          <a:bodyPr wrap="square" lIns="0" tIns="0" rIns="0" bIns="0" rtlCol="0" anchor="t"/>
          <a:lstStyle/>
          <a:p>
            <a:pPr indent="0" marL="0">
              <a:buNone/>
            </a:pPr>
            <a:r>
              <a:rPr lang="en-US" sz="1700" b="1" dirty="0">
                <a:solidFill>
                  <a:schemeClr val="bg1"/>
                </a:solidFill>
              </a:rPr>
              <a:t>An agent paid to disagree</a:t>
            </a:r>
            <a:endParaRPr lang="en-US" sz="1700" dirty="0"/>
          </a:p>
        </p:txBody>
      </p:sp>
      <p:sp>
        <p:nvSpPr>
          <p:cNvPr id="9" name="Text 7"/>
          <p:cNvSpPr txBox="1"/>
          <p:nvPr/>
        </p:nvSpPr>
        <p:spPr>
          <a:xfrm>
            <a:off x="777240" y="4069080"/>
            <a:ext cx="1600200" cy="1371600"/>
          </a:xfrm>
          <a:prstGeom prst="rect">
            <a:avLst/>
          </a:prstGeom>
          <a:noFill/>
          <a:ln/>
        </p:spPr>
        <p:txBody>
          <a:bodyPr wrap="square" lIns="0" tIns="0" rIns="0" bIns="0" rtlCol="0" anchor="t"/>
          <a:lstStyle/>
          <a:p>
            <a:pPr indent="0" marL="0">
              <a:buNone/>
            </a:pPr>
            <a:r>
              <a:rPr lang="en-US" sz="1400" dirty="0">
                <a:solidFill>
                  <a:schemeClr val="bg2"/>
                </a:solidFill>
              </a:rPr>
              <a:t>Themis exists to refute. Truth wins the argument, not the loudest log.</a:t>
            </a:r>
            <a:endParaRPr lang="en-US" sz="1400" dirty="0"/>
          </a:p>
        </p:txBody>
      </p:sp>
      <p:sp>
        <p:nvSpPr>
          <p:cNvPr id="10" name="card"/>
          <p:cNvSpPr/>
          <p:nvPr/>
        </p:nvSpPr>
        <p:spPr>
          <a:xfrm>
            <a:off x="2807208" y="2011680"/>
            <a:ext cx="2057400" cy="3566160"/>
          </a:xfrm>
          <a:prstGeom prst="roundRect">
            <a:avLst>
              <a:gd name="adj" fmla="val 7111"/>
            </a:avLst>
          </a:prstGeom>
          <a:solidFill>
            <a:srgbClr val="15142A">
              <a:alpha val="75000"/>
            </a:srgbClr>
          </a:solidFill>
          <a:ln w="12700">
            <a:solidFill>
              <a:srgbClr val="2C2B45"/>
            </a:solidFill>
            <a:prstDash val="solid"/>
          </a:ln>
        </p:spPr>
      </p:sp>
      <p:sp>
        <p:nvSpPr>
          <p:cNvPr id="11" name="Text 9"/>
          <p:cNvSpPr txBox="1"/>
          <p:nvPr/>
        </p:nvSpPr>
        <p:spPr>
          <a:xfrm>
            <a:off x="3035808" y="2240280"/>
            <a:ext cx="1600200" cy="777240"/>
          </a:xfrm>
          <a:prstGeom prst="rect">
            <a:avLst/>
          </a:prstGeom>
          <a:noFill/>
          <a:ln/>
        </p:spPr>
        <p:txBody>
          <a:bodyPr wrap="square" lIns="0" tIns="0" rIns="0" bIns="0" rtlCol="0" anchor="ctr"/>
          <a:lstStyle/>
          <a:p>
            <a:pPr indent="0" marL="0">
              <a:buNone/>
            </a:pPr>
            <a:r>
              <a:rPr lang="en-US" sz="4400" b="1" dirty="0">
                <a:solidFill>
                  <a:schemeClr val="accent2"/>
                </a:solidFill>
              </a:rPr>
              <a:t>02</a:t>
            </a:r>
            <a:endParaRPr lang="en-US" sz="4400" dirty="0"/>
          </a:p>
        </p:txBody>
      </p:sp>
      <p:sp>
        <p:nvSpPr>
          <p:cNvPr id="12" name="Text 10"/>
          <p:cNvSpPr txBox="1"/>
          <p:nvPr/>
        </p:nvSpPr>
        <p:spPr>
          <a:xfrm>
            <a:off x="3035808" y="3154680"/>
            <a:ext cx="1600200" cy="868680"/>
          </a:xfrm>
          <a:prstGeom prst="rect">
            <a:avLst/>
          </a:prstGeom>
          <a:noFill/>
          <a:ln/>
        </p:spPr>
        <p:txBody>
          <a:bodyPr wrap="square" lIns="0" tIns="0" rIns="0" bIns="0" rtlCol="0" anchor="t"/>
          <a:lstStyle/>
          <a:p>
            <a:pPr indent="0" marL="0">
              <a:buNone/>
            </a:pPr>
            <a:r>
              <a:rPr lang="en-US" sz="1700" b="1" dirty="0">
                <a:solidFill>
                  <a:schemeClr val="bg1"/>
                </a:solidFill>
              </a:rPr>
              <a:t>Evidence checked by code</a:t>
            </a:r>
            <a:endParaRPr lang="en-US" sz="1700" dirty="0"/>
          </a:p>
        </p:txBody>
      </p:sp>
      <p:sp>
        <p:nvSpPr>
          <p:cNvPr id="13" name="Text 11"/>
          <p:cNvSpPr txBox="1"/>
          <p:nvPr/>
        </p:nvSpPr>
        <p:spPr>
          <a:xfrm>
            <a:off x="3035808" y="4069080"/>
            <a:ext cx="1600200" cy="1371600"/>
          </a:xfrm>
          <a:prstGeom prst="rect">
            <a:avLst/>
          </a:prstGeom>
          <a:noFill/>
          <a:ln/>
        </p:spPr>
        <p:txBody>
          <a:bodyPr wrap="square" lIns="0" tIns="0" rIns="0" bIns="0" rtlCol="0" anchor="t"/>
          <a:lstStyle/>
          <a:p>
            <a:pPr indent="0" marL="0">
              <a:buNone/>
            </a:pPr>
            <a:r>
              <a:rPr lang="en-US" sz="1400" dirty="0">
                <a:solidFill>
                  <a:schemeClr val="bg2"/>
                </a:solidFill>
              </a:rPr>
              <a:t>A deterministic checker, not another LLM, confirms each quote is real.</a:t>
            </a:r>
            <a:endParaRPr lang="en-US" sz="1400" dirty="0"/>
          </a:p>
        </p:txBody>
      </p:sp>
      <p:sp>
        <p:nvSpPr>
          <p:cNvPr id="14" name="card"/>
          <p:cNvSpPr/>
          <p:nvPr/>
        </p:nvSpPr>
        <p:spPr>
          <a:xfrm>
            <a:off x="5065776" y="2011680"/>
            <a:ext cx="2057400" cy="3566160"/>
          </a:xfrm>
          <a:prstGeom prst="roundRect">
            <a:avLst>
              <a:gd name="adj" fmla="val 7111"/>
            </a:avLst>
          </a:prstGeom>
          <a:solidFill>
            <a:srgbClr val="15142A">
              <a:alpha val="75000"/>
            </a:srgbClr>
          </a:solidFill>
          <a:ln w="12700">
            <a:solidFill>
              <a:srgbClr val="2C2B45"/>
            </a:solidFill>
            <a:prstDash val="solid"/>
          </a:ln>
        </p:spPr>
      </p:sp>
      <p:sp>
        <p:nvSpPr>
          <p:cNvPr id="15" name="Text 13"/>
          <p:cNvSpPr txBox="1"/>
          <p:nvPr/>
        </p:nvSpPr>
        <p:spPr>
          <a:xfrm>
            <a:off x="5294376" y="2240280"/>
            <a:ext cx="1600200" cy="777240"/>
          </a:xfrm>
          <a:prstGeom prst="rect">
            <a:avLst/>
          </a:prstGeom>
          <a:noFill/>
          <a:ln/>
        </p:spPr>
        <p:txBody>
          <a:bodyPr wrap="square" lIns="0" tIns="0" rIns="0" bIns="0" rtlCol="0" anchor="ctr"/>
          <a:lstStyle/>
          <a:p>
            <a:pPr indent="0" marL="0">
              <a:buNone/>
            </a:pPr>
            <a:r>
              <a:rPr lang="en-US" sz="4400" b="1" dirty="0">
                <a:solidFill>
                  <a:schemeClr val="accent1"/>
                </a:solidFill>
              </a:rPr>
              <a:t>03</a:t>
            </a:r>
            <a:endParaRPr lang="en-US" sz="4400" dirty="0"/>
          </a:p>
        </p:txBody>
      </p:sp>
      <p:sp>
        <p:nvSpPr>
          <p:cNvPr id="16" name="Text 14"/>
          <p:cNvSpPr txBox="1"/>
          <p:nvPr/>
        </p:nvSpPr>
        <p:spPr>
          <a:xfrm>
            <a:off x="5294376" y="3154680"/>
            <a:ext cx="1600200" cy="868680"/>
          </a:xfrm>
          <a:prstGeom prst="rect">
            <a:avLst/>
          </a:prstGeom>
          <a:noFill/>
          <a:ln/>
        </p:spPr>
        <p:txBody>
          <a:bodyPr wrap="square" lIns="0" tIns="0" rIns="0" bIns="0" rtlCol="0" anchor="t"/>
          <a:lstStyle/>
          <a:p>
            <a:pPr indent="0" marL="0">
              <a:buNone/>
            </a:pPr>
            <a:r>
              <a:rPr lang="en-US" sz="1700" b="1" dirty="0">
                <a:solidFill>
                  <a:schemeClr val="bg1"/>
                </a:solidFill>
              </a:rPr>
              <a:t>Money-aware incident response</a:t>
            </a:r>
            <a:endParaRPr lang="en-US" sz="1700" dirty="0"/>
          </a:p>
        </p:txBody>
      </p:sp>
      <p:sp>
        <p:nvSpPr>
          <p:cNvPr id="17" name="Text 15"/>
          <p:cNvSpPr txBox="1"/>
          <p:nvPr/>
        </p:nvSpPr>
        <p:spPr>
          <a:xfrm>
            <a:off x="5294376" y="4069080"/>
            <a:ext cx="1600200" cy="1371600"/>
          </a:xfrm>
          <a:prstGeom prst="rect">
            <a:avLst/>
          </a:prstGeom>
          <a:noFill/>
          <a:ln/>
        </p:spPr>
        <p:txBody>
          <a:bodyPr wrap="square" lIns="0" tIns="0" rIns="0" bIns="0" rtlCol="0" anchor="t"/>
          <a:lstStyle/>
          <a:p>
            <a:pPr indent="0" marL="0">
              <a:buNone/>
            </a:pPr>
            <a:r>
              <a:rPr lang="en-US" sz="1400" dirty="0">
                <a:solidFill>
                  <a:schemeClr val="bg2"/>
                </a:solidFill>
              </a:rPr>
              <a:t>Revenue at risk ticks live; AI cost sits next to what it saved.</a:t>
            </a:r>
            <a:endParaRPr lang="en-US" sz="1400" dirty="0"/>
          </a:p>
        </p:txBody>
      </p:sp>
      <p:sp>
        <p:nvSpPr>
          <p:cNvPr id="18" name="card"/>
          <p:cNvSpPr/>
          <p:nvPr/>
        </p:nvSpPr>
        <p:spPr>
          <a:xfrm>
            <a:off x="7324344" y="2011680"/>
            <a:ext cx="2057400" cy="3566160"/>
          </a:xfrm>
          <a:prstGeom prst="roundRect">
            <a:avLst>
              <a:gd name="adj" fmla="val 7111"/>
            </a:avLst>
          </a:prstGeom>
          <a:solidFill>
            <a:srgbClr val="15142A">
              <a:alpha val="75000"/>
            </a:srgbClr>
          </a:solidFill>
          <a:ln w="12700">
            <a:solidFill>
              <a:srgbClr val="2C2B45"/>
            </a:solidFill>
            <a:prstDash val="solid"/>
          </a:ln>
        </p:spPr>
      </p:sp>
      <p:sp>
        <p:nvSpPr>
          <p:cNvPr id="19" name="Text 17"/>
          <p:cNvSpPr txBox="1"/>
          <p:nvPr/>
        </p:nvSpPr>
        <p:spPr>
          <a:xfrm>
            <a:off x="7552944" y="2240280"/>
            <a:ext cx="1600200" cy="777240"/>
          </a:xfrm>
          <a:prstGeom prst="rect">
            <a:avLst/>
          </a:prstGeom>
          <a:noFill/>
          <a:ln/>
        </p:spPr>
        <p:txBody>
          <a:bodyPr wrap="square" lIns="0" tIns="0" rIns="0" bIns="0" rtlCol="0" anchor="ctr"/>
          <a:lstStyle/>
          <a:p>
            <a:pPr indent="0" marL="0">
              <a:buNone/>
            </a:pPr>
            <a:r>
              <a:rPr lang="en-US" sz="4400" b="1" dirty="0">
                <a:solidFill>
                  <a:schemeClr val="accent2"/>
                </a:solidFill>
              </a:rPr>
              <a:t>04</a:t>
            </a:r>
            <a:endParaRPr lang="en-US" sz="4400" dirty="0"/>
          </a:p>
        </p:txBody>
      </p:sp>
      <p:sp>
        <p:nvSpPr>
          <p:cNvPr id="20" name="Text 18"/>
          <p:cNvSpPr txBox="1"/>
          <p:nvPr/>
        </p:nvSpPr>
        <p:spPr>
          <a:xfrm>
            <a:off x="7552944" y="3154680"/>
            <a:ext cx="1600200" cy="868680"/>
          </a:xfrm>
          <a:prstGeom prst="rect">
            <a:avLst/>
          </a:prstGeom>
          <a:noFill/>
          <a:ln/>
        </p:spPr>
        <p:txBody>
          <a:bodyPr wrap="square" lIns="0" tIns="0" rIns="0" bIns="0" rtlCol="0" anchor="t"/>
          <a:lstStyle/>
          <a:p>
            <a:pPr indent="0" marL="0">
              <a:buNone/>
            </a:pPr>
            <a:r>
              <a:rPr lang="en-US" sz="1700" b="1" dirty="0">
                <a:solidFill>
                  <a:schemeClr val="bg1"/>
                </a:solidFill>
              </a:rPr>
              <a:t>Governance as code</a:t>
            </a:r>
            <a:endParaRPr lang="en-US" sz="1700" dirty="0"/>
          </a:p>
        </p:txBody>
      </p:sp>
      <p:sp>
        <p:nvSpPr>
          <p:cNvPr id="21" name="Text 19"/>
          <p:cNvSpPr txBox="1"/>
          <p:nvPr/>
        </p:nvSpPr>
        <p:spPr>
          <a:xfrm>
            <a:off x="7552944" y="4069080"/>
            <a:ext cx="1600200" cy="1371600"/>
          </a:xfrm>
          <a:prstGeom prst="rect">
            <a:avLst/>
          </a:prstGeom>
          <a:noFill/>
          <a:ln/>
        </p:spPr>
        <p:txBody>
          <a:bodyPr wrap="square" lIns="0" tIns="0" rIns="0" bIns="0" rtlCol="0" anchor="t"/>
          <a:lstStyle/>
          <a:p>
            <a:pPr indent="0" marL="0">
              <a:buNone/>
            </a:pPr>
            <a:r>
              <a:rPr lang="en-US" sz="1400" dirty="0">
                <a:solidFill>
                  <a:schemeClr val="bg2"/>
                </a:solidFill>
              </a:rPr>
              <a:t>One reviewable policy file plus a hash-chained audit trail.</a:t>
            </a:r>
            <a:endParaRPr lang="en-US" sz="1400" dirty="0"/>
          </a:p>
        </p:txBody>
      </p:sp>
      <p:sp>
        <p:nvSpPr>
          <p:cNvPr id="22" name="card"/>
          <p:cNvSpPr/>
          <p:nvPr/>
        </p:nvSpPr>
        <p:spPr>
          <a:xfrm>
            <a:off x="9582912" y="2011680"/>
            <a:ext cx="2057400" cy="3566160"/>
          </a:xfrm>
          <a:prstGeom prst="roundRect">
            <a:avLst>
              <a:gd name="adj" fmla="val 7111"/>
            </a:avLst>
          </a:prstGeom>
          <a:solidFill>
            <a:srgbClr val="15142A">
              <a:alpha val="75000"/>
            </a:srgbClr>
          </a:solidFill>
          <a:ln w="12700">
            <a:solidFill>
              <a:srgbClr val="2C2B45"/>
            </a:solidFill>
            <a:prstDash val="solid"/>
          </a:ln>
        </p:spPr>
      </p:sp>
      <p:sp>
        <p:nvSpPr>
          <p:cNvPr id="23" name="Text 21"/>
          <p:cNvSpPr txBox="1"/>
          <p:nvPr/>
        </p:nvSpPr>
        <p:spPr>
          <a:xfrm>
            <a:off x="9811512" y="2240280"/>
            <a:ext cx="1600200" cy="777240"/>
          </a:xfrm>
          <a:prstGeom prst="rect">
            <a:avLst/>
          </a:prstGeom>
          <a:noFill/>
          <a:ln/>
        </p:spPr>
        <p:txBody>
          <a:bodyPr wrap="square" lIns="0" tIns="0" rIns="0" bIns="0" rtlCol="0" anchor="ctr"/>
          <a:lstStyle/>
          <a:p>
            <a:pPr indent="0" marL="0">
              <a:buNone/>
            </a:pPr>
            <a:r>
              <a:rPr lang="en-US" sz="4400" b="1" dirty="0">
                <a:solidFill>
                  <a:schemeClr val="accent1"/>
                </a:solidFill>
              </a:rPr>
              <a:t>05</a:t>
            </a:r>
            <a:endParaRPr lang="en-US" sz="4400" dirty="0"/>
          </a:p>
        </p:txBody>
      </p:sp>
      <p:sp>
        <p:nvSpPr>
          <p:cNvPr id="24" name="Text 22"/>
          <p:cNvSpPr txBox="1"/>
          <p:nvPr/>
        </p:nvSpPr>
        <p:spPr>
          <a:xfrm>
            <a:off x="9811512" y="3154680"/>
            <a:ext cx="1600200" cy="868680"/>
          </a:xfrm>
          <a:prstGeom prst="rect">
            <a:avLst/>
          </a:prstGeom>
          <a:noFill/>
          <a:ln/>
        </p:spPr>
        <p:txBody>
          <a:bodyPr wrap="square" lIns="0" tIns="0" rIns="0" bIns="0" rtlCol="0" anchor="t"/>
          <a:lstStyle/>
          <a:p>
            <a:pPr indent="0" marL="0">
              <a:buNone/>
            </a:pPr>
            <a:r>
              <a:rPr lang="en-US" sz="1700" b="1" dirty="0">
                <a:solidFill>
                  <a:schemeClr val="bg1"/>
                </a:solidFill>
              </a:rPr>
              <a:t>Honest benchmarks</a:t>
            </a:r>
            <a:endParaRPr lang="en-US" sz="1700" dirty="0"/>
          </a:p>
        </p:txBody>
      </p:sp>
      <p:sp>
        <p:nvSpPr>
          <p:cNvPr id="25" name="Text 23"/>
          <p:cNvSpPr txBox="1"/>
          <p:nvPr/>
        </p:nvSpPr>
        <p:spPr>
          <a:xfrm>
            <a:off x="9811512" y="4069080"/>
            <a:ext cx="1600200" cy="1371600"/>
          </a:xfrm>
          <a:prstGeom prst="rect">
            <a:avLst/>
          </a:prstGeom>
          <a:noFill/>
          <a:ln/>
        </p:spPr>
        <p:txBody>
          <a:bodyPr wrap="square" lIns="0" tIns="0" rIns="0" bIns="0" rtlCol="0" anchor="t"/>
          <a:lstStyle/>
          <a:p>
            <a:pPr indent="0" marL="0">
              <a:buNone/>
            </a:pPr>
            <a:r>
              <a:rPr lang="en-US" sz="1400" dirty="0">
                <a:solidFill>
                  <a:schemeClr val="bg2"/>
                </a:solidFill>
              </a:rPr>
              <a:t>Planted traps and a head-to-head race with a chatbot, losses included.</a:t>
            </a:r>
            <a:endParaRPr lang="en-US" sz="14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THE BUSINESS · B2B SAAS</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Built for the teams who carry the pager</a:t>
            </a:r>
            <a:endParaRPr lang="en-US" sz="3600" dirty="0"/>
          </a:p>
        </p:txBody>
      </p:sp>
      <p:sp>
        <p:nvSpPr>
          <p:cNvPr id="4" name="card"/>
          <p:cNvSpPr/>
          <p:nvPr/>
        </p:nvSpPr>
        <p:spPr>
          <a:xfrm>
            <a:off x="548640" y="1874520"/>
            <a:ext cx="3547872" cy="2697480"/>
          </a:xfrm>
          <a:prstGeom prst="roundRect">
            <a:avLst>
              <a:gd name="adj" fmla="val 5424"/>
            </a:avLst>
          </a:prstGeom>
          <a:solidFill>
            <a:srgbClr val="15142A">
              <a:alpha val="75000"/>
            </a:srgbClr>
          </a:solidFill>
          <a:ln w="12700">
            <a:solidFill>
              <a:srgbClr val="2C2B45"/>
            </a:solidFill>
            <a:prstDash val="solid"/>
          </a:ln>
        </p:spPr>
      </p:sp>
      <p:sp>
        <p:nvSpPr>
          <p:cNvPr id="5" name="icon tile"/>
          <p:cNvSpPr/>
          <p:nvPr/>
        </p:nvSpPr>
        <p:spPr>
          <a:xfrm>
            <a:off x="822960" y="2148840"/>
            <a:ext cx="457200" cy="457200"/>
          </a:xfrm>
          <a:prstGeom prst="roundRect">
            <a:avLst>
              <a:gd name="adj" fmla="val 24000"/>
            </a:avLst>
          </a:prstGeom>
          <a:solidFill>
            <a:srgbClr val="46D3F5">
              <a:alpha val="18000"/>
            </a:srgbClr>
          </a:solidFill>
          <a:ln w="9525">
            <a:solidFill>
              <a:srgbClr val="46D3F5">
                <a:alpha val="45000"/>
              </a:srgbClr>
            </a:solidFill>
            <a:prstDash val="solid"/>
          </a:ln>
        </p:spPr>
      </p:sp>
      <p:pic>
        <p:nvPicPr>
          <p:cNvPr id="6" name="Image 0" descr="Briefcase icon">    </p:cNvPr>
          <p:cNvPicPr>
            <a:picLocks noChangeAspect="1"/>
          </p:cNvPicPr>
          <p:nvPr/>
        </p:nvPicPr>
        <p:blipFill>
          <a:blip r:embed="rId1"/>
          <a:stretch>
            <a:fillRect/>
          </a:stretch>
        </p:blipFill>
        <p:spPr>
          <a:xfrm>
            <a:off x="923544" y="2249424"/>
            <a:ext cx="256032" cy="256032"/>
          </a:xfrm>
          <a:prstGeom prst="rect">
            <a:avLst/>
          </a:prstGeom>
        </p:spPr>
      </p:pic>
      <p:sp>
        <p:nvSpPr>
          <p:cNvPr id="7" name="Text 4"/>
          <p:cNvSpPr txBox="1"/>
          <p:nvPr/>
        </p:nvSpPr>
        <p:spPr>
          <a:xfrm>
            <a:off x="1417320" y="2148840"/>
            <a:ext cx="2450592" cy="457200"/>
          </a:xfrm>
          <a:prstGeom prst="rect">
            <a:avLst/>
          </a:prstGeom>
          <a:noFill/>
          <a:ln/>
        </p:spPr>
        <p:txBody>
          <a:bodyPr wrap="square" lIns="0" tIns="0" rIns="0" bIns="0" rtlCol="0" anchor="ctr"/>
          <a:lstStyle/>
          <a:p>
            <a:pPr indent="0" marL="0">
              <a:buNone/>
            </a:pPr>
            <a:r>
              <a:rPr lang="en-US" sz="1100" b="1" spc="200" kern="0" dirty="0">
                <a:solidFill>
                  <a:srgbClr val="46D3F5"/>
                </a:solidFill>
                <a:latin typeface="Consolas" pitchFamily="34" charset="0"/>
                <a:ea typeface="Consolas" pitchFamily="34" charset="-122"/>
                <a:cs typeface="Consolas" pitchFamily="34" charset="-120"/>
              </a:rPr>
              <a:t>WHO BUYS</a:t>
            </a:r>
            <a:endParaRPr lang="en-US" sz="1100" dirty="0"/>
          </a:p>
        </p:txBody>
      </p:sp>
      <p:sp>
        <p:nvSpPr>
          <p:cNvPr id="8" name="Text 5"/>
          <p:cNvSpPr txBox="1"/>
          <p:nvPr/>
        </p:nvSpPr>
        <p:spPr>
          <a:xfrm>
            <a:off x="822960" y="2770632"/>
            <a:ext cx="2999232" cy="384048"/>
          </a:xfrm>
          <a:prstGeom prst="rect">
            <a:avLst/>
          </a:prstGeom>
          <a:noFill/>
          <a:ln/>
        </p:spPr>
        <p:txBody>
          <a:bodyPr wrap="square" lIns="0" tIns="0" rIns="0" bIns="0" rtlCol="0" anchor="t"/>
          <a:lstStyle/>
          <a:p>
            <a:pPr indent="0" marL="0">
              <a:buNone/>
            </a:pPr>
            <a:r>
              <a:rPr lang="en-US" sz="1900" b="1" dirty="0">
                <a:solidFill>
                  <a:schemeClr val="bg1"/>
                </a:solidFill>
              </a:rPr>
              <a:t>SRE &amp; platform teams</a:t>
            </a:r>
            <a:endParaRPr lang="en-US" sz="1900" dirty="0"/>
          </a:p>
        </p:txBody>
      </p:sp>
      <p:sp>
        <p:nvSpPr>
          <p:cNvPr id="9" name="Text 6"/>
          <p:cNvSpPr txBox="1"/>
          <p:nvPr/>
        </p:nvSpPr>
        <p:spPr>
          <a:xfrm>
            <a:off x="822960" y="3200400"/>
            <a:ext cx="2999232" cy="1280160"/>
          </a:xfrm>
          <a:prstGeom prst="rect">
            <a:avLst/>
          </a:prstGeom>
          <a:noFill/>
          <a:ln/>
        </p:spPr>
        <p:txBody>
          <a:bodyPr wrap="square" lIns="0" tIns="0" rIns="0" bIns="0" rtlCol="0" anchor="t"/>
          <a:lstStyle/>
          <a:p>
            <a:pPr indent="0" marL="0">
              <a:buNone/>
            </a:pPr>
            <a:r>
              <a:rPr lang="en-US" sz="1400" dirty="0">
                <a:solidFill>
                  <a:schemeClr val="bg2"/>
                </a:solidFill>
              </a:rPr>
              <a:t>Mid-sized e-commerce, fintech and SaaS companies where every minute of downtime has a rupee value and on-call teams are stretched.</a:t>
            </a:r>
            <a:endParaRPr lang="en-US" sz="1400" dirty="0"/>
          </a:p>
        </p:txBody>
      </p:sp>
      <p:sp>
        <p:nvSpPr>
          <p:cNvPr id="10" name="card"/>
          <p:cNvSpPr/>
          <p:nvPr/>
        </p:nvSpPr>
        <p:spPr>
          <a:xfrm>
            <a:off x="4320540" y="1874520"/>
            <a:ext cx="3547872" cy="2697480"/>
          </a:xfrm>
          <a:prstGeom prst="roundRect">
            <a:avLst>
              <a:gd name="adj" fmla="val 5424"/>
            </a:avLst>
          </a:prstGeom>
          <a:solidFill>
            <a:srgbClr val="15142A">
              <a:alpha val="75000"/>
            </a:srgbClr>
          </a:solidFill>
          <a:ln w="12700">
            <a:solidFill>
              <a:srgbClr val="2C2B45"/>
            </a:solidFill>
            <a:prstDash val="solid"/>
          </a:ln>
        </p:spPr>
      </p:sp>
      <p:sp>
        <p:nvSpPr>
          <p:cNvPr id="11" name="icon tile"/>
          <p:cNvSpPr/>
          <p:nvPr/>
        </p:nvSpPr>
        <p:spPr>
          <a:xfrm>
            <a:off x="4594860" y="2148840"/>
            <a:ext cx="457200" cy="457200"/>
          </a:xfrm>
          <a:prstGeom prst="roundRect">
            <a:avLst>
              <a:gd name="adj" fmla="val 24000"/>
            </a:avLst>
          </a:prstGeom>
          <a:solidFill>
            <a:srgbClr val="8B7CFF">
              <a:alpha val="18000"/>
            </a:srgbClr>
          </a:solidFill>
          <a:ln w="9525">
            <a:solidFill>
              <a:srgbClr val="8B7CFF">
                <a:alpha val="45000"/>
              </a:srgbClr>
            </a:solidFill>
            <a:prstDash val="solid"/>
          </a:ln>
        </p:spPr>
      </p:sp>
      <p:pic>
        <p:nvPicPr>
          <p:cNvPr id="12" name="Image 1" descr="Link icon">    </p:cNvPr>
          <p:cNvPicPr>
            <a:picLocks noChangeAspect="1"/>
          </p:cNvPicPr>
          <p:nvPr/>
        </p:nvPicPr>
        <p:blipFill>
          <a:blip r:embed="rId2"/>
          <a:stretch>
            <a:fillRect/>
          </a:stretch>
        </p:blipFill>
        <p:spPr>
          <a:xfrm>
            <a:off x="4695444" y="2249424"/>
            <a:ext cx="256032" cy="256032"/>
          </a:xfrm>
          <a:prstGeom prst="rect">
            <a:avLst/>
          </a:prstGeom>
        </p:spPr>
      </p:pic>
      <p:sp>
        <p:nvSpPr>
          <p:cNvPr id="13" name="Text 9"/>
          <p:cNvSpPr txBox="1"/>
          <p:nvPr/>
        </p:nvSpPr>
        <p:spPr>
          <a:xfrm>
            <a:off x="5189220" y="2148840"/>
            <a:ext cx="2450592" cy="457200"/>
          </a:xfrm>
          <a:prstGeom prst="rect">
            <a:avLst/>
          </a:prstGeom>
          <a:noFill/>
          <a:ln/>
        </p:spPr>
        <p:txBody>
          <a:bodyPr wrap="square" lIns="0" tIns="0" rIns="0" bIns="0" rtlCol="0" anchor="ctr"/>
          <a:lstStyle/>
          <a:p>
            <a:pPr indent="0" marL="0">
              <a:buNone/>
            </a:pPr>
            <a:r>
              <a:rPr lang="en-US" sz="1100" b="1" spc="200" kern="0" dirty="0">
                <a:solidFill>
                  <a:srgbClr val="8B7CFF"/>
                </a:solidFill>
                <a:latin typeface="Consolas" pitchFamily="34" charset="0"/>
                <a:ea typeface="Consolas" pitchFamily="34" charset="-122"/>
                <a:cs typeface="Consolas" pitchFamily="34" charset="-120"/>
              </a:rPr>
              <a:t>HOW IT LANDS</a:t>
            </a:r>
            <a:endParaRPr lang="en-US" sz="1100" dirty="0"/>
          </a:p>
        </p:txBody>
      </p:sp>
      <p:sp>
        <p:nvSpPr>
          <p:cNvPr id="14" name="Text 10"/>
          <p:cNvSpPr txBox="1"/>
          <p:nvPr/>
        </p:nvSpPr>
        <p:spPr>
          <a:xfrm>
            <a:off x="4594860" y="2770632"/>
            <a:ext cx="2999232" cy="384048"/>
          </a:xfrm>
          <a:prstGeom prst="rect">
            <a:avLst/>
          </a:prstGeom>
          <a:noFill/>
          <a:ln/>
        </p:spPr>
        <p:txBody>
          <a:bodyPr wrap="square" lIns="0" tIns="0" rIns="0" bIns="0" rtlCol="0" anchor="t"/>
          <a:lstStyle/>
          <a:p>
            <a:pPr indent="0" marL="0">
              <a:buNone/>
            </a:pPr>
            <a:r>
              <a:rPr lang="en-US" sz="1900" b="1" dirty="0">
                <a:solidFill>
                  <a:schemeClr val="bg1"/>
                </a:solidFill>
              </a:rPr>
              <a:t>Plugs into what they run</a:t>
            </a:r>
            <a:endParaRPr lang="en-US" sz="1900" dirty="0"/>
          </a:p>
        </p:txBody>
      </p:sp>
      <p:sp>
        <p:nvSpPr>
          <p:cNvPr id="15" name="Text 11"/>
          <p:cNvSpPr txBox="1"/>
          <p:nvPr/>
        </p:nvSpPr>
        <p:spPr>
          <a:xfrm>
            <a:off x="4594860" y="3200400"/>
            <a:ext cx="2999232" cy="1280160"/>
          </a:xfrm>
          <a:prstGeom prst="rect">
            <a:avLst/>
          </a:prstGeom>
          <a:noFill/>
          <a:ln/>
        </p:spPr>
        <p:txBody>
          <a:bodyPr wrap="square" lIns="0" tIns="0" rIns="0" bIns="0" rtlCol="0" anchor="t"/>
          <a:lstStyle/>
          <a:p>
            <a:pPr indent="0" marL="0">
              <a:buNone/>
            </a:pPr>
            <a:r>
              <a:rPr lang="en-US" sz="1400" dirty="0">
                <a:solidFill>
                  <a:schemeClr val="bg2"/>
                </a:solidFill>
              </a:rPr>
              <a:t>Point existing Alertmanager or Grafana alerts at Argus, connect a repo and logs. No rip-and-replace; the first service in an afternoon.</a:t>
            </a:r>
            <a:endParaRPr lang="en-US" sz="1400" dirty="0"/>
          </a:p>
        </p:txBody>
      </p:sp>
      <p:sp>
        <p:nvSpPr>
          <p:cNvPr id="16" name="card"/>
          <p:cNvSpPr/>
          <p:nvPr/>
        </p:nvSpPr>
        <p:spPr>
          <a:xfrm>
            <a:off x="8092440" y="1874520"/>
            <a:ext cx="3547872" cy="2697480"/>
          </a:xfrm>
          <a:prstGeom prst="roundRect">
            <a:avLst>
              <a:gd name="adj" fmla="val 5424"/>
            </a:avLst>
          </a:prstGeom>
          <a:solidFill>
            <a:srgbClr val="15142A">
              <a:alpha val="75000"/>
            </a:srgbClr>
          </a:solidFill>
          <a:ln w="12700">
            <a:solidFill>
              <a:srgbClr val="2C2B45"/>
            </a:solidFill>
            <a:prstDash val="solid"/>
          </a:ln>
        </p:spPr>
      </p:sp>
      <p:sp>
        <p:nvSpPr>
          <p:cNvPr id="17" name="icon tile"/>
          <p:cNvSpPr/>
          <p:nvPr/>
        </p:nvSpPr>
        <p:spPr>
          <a:xfrm>
            <a:off x="8366760" y="2148840"/>
            <a:ext cx="457200" cy="457200"/>
          </a:xfrm>
          <a:prstGeom prst="roundRect">
            <a:avLst>
              <a:gd name="adj" fmla="val 24000"/>
            </a:avLst>
          </a:prstGeom>
          <a:solidFill>
            <a:srgbClr val="3EE59A">
              <a:alpha val="18000"/>
            </a:srgbClr>
          </a:solidFill>
          <a:ln w="9525">
            <a:solidFill>
              <a:srgbClr val="3EE59A">
                <a:alpha val="45000"/>
              </a:srgbClr>
            </a:solidFill>
            <a:prstDash val="solid"/>
          </a:ln>
        </p:spPr>
      </p:sp>
      <p:pic>
        <p:nvPicPr>
          <p:cNvPr id="18" name="Image 2" descr="TrendingUp icon">    </p:cNvPr>
          <p:cNvPicPr>
            <a:picLocks noChangeAspect="1"/>
          </p:cNvPicPr>
          <p:nvPr/>
        </p:nvPicPr>
        <p:blipFill>
          <a:blip r:embed="rId3"/>
          <a:stretch>
            <a:fillRect/>
          </a:stretch>
        </p:blipFill>
        <p:spPr>
          <a:xfrm>
            <a:off x="8467344" y="2249424"/>
            <a:ext cx="256032" cy="256032"/>
          </a:xfrm>
          <a:prstGeom prst="rect">
            <a:avLst/>
          </a:prstGeom>
        </p:spPr>
      </p:pic>
      <p:sp>
        <p:nvSpPr>
          <p:cNvPr id="19" name="Text 14"/>
          <p:cNvSpPr txBox="1"/>
          <p:nvPr/>
        </p:nvSpPr>
        <p:spPr>
          <a:xfrm>
            <a:off x="8961120" y="2148840"/>
            <a:ext cx="2450592" cy="457200"/>
          </a:xfrm>
          <a:prstGeom prst="rect">
            <a:avLst/>
          </a:prstGeom>
          <a:noFill/>
          <a:ln/>
        </p:spPr>
        <p:txBody>
          <a:bodyPr wrap="square" lIns="0" tIns="0" rIns="0" bIns="0" rtlCol="0" anchor="ctr"/>
          <a:lstStyle/>
          <a:p>
            <a:pPr indent="0" marL="0">
              <a:buNone/>
            </a:pPr>
            <a:r>
              <a:rPr lang="en-US" sz="1100" b="1" spc="200" kern="0" dirty="0">
                <a:solidFill>
                  <a:srgbClr val="3EE59A"/>
                </a:solidFill>
                <a:latin typeface="Consolas" pitchFamily="34" charset="0"/>
                <a:ea typeface="Consolas" pitchFamily="34" charset="-122"/>
                <a:cs typeface="Consolas" pitchFamily="34" charset="-120"/>
              </a:rPr>
              <a:t>HOW IT EARNS</a:t>
            </a:r>
            <a:endParaRPr lang="en-US" sz="1100" dirty="0"/>
          </a:p>
        </p:txBody>
      </p:sp>
      <p:sp>
        <p:nvSpPr>
          <p:cNvPr id="20" name="Text 15"/>
          <p:cNvSpPr txBox="1"/>
          <p:nvPr/>
        </p:nvSpPr>
        <p:spPr>
          <a:xfrm>
            <a:off x="8366760" y="2770632"/>
            <a:ext cx="2999232" cy="384048"/>
          </a:xfrm>
          <a:prstGeom prst="rect">
            <a:avLst/>
          </a:prstGeom>
          <a:noFill/>
          <a:ln/>
        </p:spPr>
        <p:txBody>
          <a:bodyPr wrap="square" lIns="0" tIns="0" rIns="0" bIns="0" rtlCol="0" anchor="t"/>
          <a:lstStyle/>
          <a:p>
            <a:pPr indent="0" marL="0">
              <a:buNone/>
            </a:pPr>
            <a:r>
              <a:rPr lang="en-US" sz="1900" b="1" dirty="0">
                <a:solidFill>
                  <a:schemeClr val="bg1"/>
                </a:solidFill>
              </a:rPr>
              <a:t>Subscription per service</a:t>
            </a:r>
            <a:endParaRPr lang="en-US" sz="1900" dirty="0"/>
          </a:p>
        </p:txBody>
      </p:sp>
      <p:sp>
        <p:nvSpPr>
          <p:cNvPr id="21" name="Text 16"/>
          <p:cNvSpPr txBox="1"/>
          <p:nvPr/>
        </p:nvSpPr>
        <p:spPr>
          <a:xfrm>
            <a:off x="8366760" y="3200400"/>
            <a:ext cx="2999232" cy="1280160"/>
          </a:xfrm>
          <a:prstGeom prst="rect">
            <a:avLst/>
          </a:prstGeom>
          <a:noFill/>
          <a:ln/>
        </p:spPr>
        <p:txBody>
          <a:bodyPr wrap="square" lIns="0" tIns="0" rIns="0" bIns="0" rtlCol="0" anchor="t"/>
          <a:lstStyle/>
          <a:p>
            <a:pPr indent="0" marL="0">
              <a:buNone/>
            </a:pPr>
            <a:r>
              <a:rPr lang="en-US" sz="1400" dirty="0">
                <a:solidFill>
                  <a:schemeClr val="bg2"/>
                </a:solidFill>
              </a:rPr>
              <a:t>Tiered by connected services and incidents per month, with an enterprise tier for SSO, two-person approval and audit export (proposed).</a:t>
            </a:r>
            <a:endParaRPr lang="en-US" sz="1400" dirty="0"/>
          </a:p>
        </p:txBody>
      </p:sp>
      <p:sp>
        <p:nvSpPr>
          <p:cNvPr id="22" name="card"/>
          <p:cNvSpPr/>
          <p:nvPr/>
        </p:nvSpPr>
        <p:spPr>
          <a:xfrm>
            <a:off x="548640" y="4846320"/>
            <a:ext cx="11091672" cy="1097280"/>
          </a:xfrm>
          <a:prstGeom prst="roundRect">
            <a:avLst>
              <a:gd name="adj" fmla="val 13333"/>
            </a:avLst>
          </a:prstGeom>
          <a:solidFill>
            <a:srgbClr val="0F2A26">
              <a:alpha val="75000"/>
            </a:srgbClr>
          </a:solidFill>
          <a:ln w="12700">
            <a:solidFill>
              <a:srgbClr val="1F6B52"/>
            </a:solidFill>
            <a:prstDash val="solid"/>
          </a:ln>
        </p:spPr>
      </p:sp>
      <p:sp>
        <p:nvSpPr>
          <p:cNvPr id="23" name="Text 18"/>
          <p:cNvSpPr txBox="1"/>
          <p:nvPr/>
        </p:nvSpPr>
        <p:spPr>
          <a:xfrm>
            <a:off x="868680" y="4846320"/>
            <a:ext cx="2926080" cy="1097280"/>
          </a:xfrm>
          <a:prstGeom prst="rect">
            <a:avLst/>
          </a:prstGeom>
          <a:noFill/>
          <a:ln/>
        </p:spPr>
        <p:txBody>
          <a:bodyPr wrap="square" lIns="0" tIns="0" rIns="0" bIns="0" rtlCol="0" anchor="ctr"/>
          <a:lstStyle/>
          <a:p>
            <a:pPr indent="0" marL="0">
              <a:buNone/>
            </a:pPr>
            <a:r>
              <a:rPr lang="en-US" sz="4000" b="1" dirty="0">
                <a:solidFill>
                  <a:schemeClr val="accent3"/>
                </a:solidFill>
              </a:rPr>
              <a:t>&gt; 70,000×</a:t>
            </a:r>
            <a:endParaRPr lang="en-US" sz="4000" dirty="0"/>
          </a:p>
        </p:txBody>
      </p:sp>
      <p:sp>
        <p:nvSpPr>
          <p:cNvPr id="24" name="Text 19"/>
          <p:cNvSpPr txBox="1"/>
          <p:nvPr/>
        </p:nvSpPr>
        <p:spPr>
          <a:xfrm>
            <a:off x="3931920" y="4846320"/>
            <a:ext cx="7498080" cy="1097280"/>
          </a:xfrm>
          <a:prstGeom prst="rect">
            <a:avLst/>
          </a:prstGeom>
          <a:noFill/>
          <a:ln/>
        </p:spPr>
        <p:txBody>
          <a:bodyPr wrap="square" lIns="0" tIns="0" rIns="0" bIns="0" rtlCol="0" anchor="ctr"/>
          <a:lstStyle/>
          <a:p>
            <a:pPr indent="0" marL="0">
              <a:buNone/>
            </a:pPr>
            <a:r>
              <a:rPr lang="en-US" sz="1600" dirty="0">
                <a:solidFill>
                  <a:schemeClr val="bg2"/>
                </a:solidFill>
              </a:rPr>
              <a:t>return on AI spend on a single checkout incident (₹4.8 L protected ÷ ₹6.4 of AI). </a:t>
            </a:r>
            <a:pPr indent="0" marL="0">
              <a:buNone/>
            </a:pPr>
            <a:r>
              <a:rPr lang="en-US" sz="1600" b="1" dirty="0">
                <a:solidFill>
                  <a:schemeClr val="bg1"/>
                </a:solidFill>
              </a:rPr>
              <a:t>Argus prints this on every ticket.</a:t>
            </a:r>
            <a:endParaRPr lang="en-US" sz="16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WHAT'S NEXT</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From hackathon MVP to production SaaS</a:t>
            </a:r>
            <a:endParaRPr lang="en-US" sz="3600" dirty="0"/>
          </a:p>
        </p:txBody>
      </p:sp>
      <p:sp>
        <p:nvSpPr>
          <p:cNvPr id="4" name="card"/>
          <p:cNvSpPr/>
          <p:nvPr/>
        </p:nvSpPr>
        <p:spPr>
          <a:xfrm>
            <a:off x="548640" y="1920240"/>
            <a:ext cx="3547872" cy="3108960"/>
          </a:xfrm>
          <a:prstGeom prst="roundRect">
            <a:avLst>
              <a:gd name="adj" fmla="val 4706"/>
            </a:avLst>
          </a:prstGeom>
          <a:solidFill>
            <a:srgbClr val="15142A">
              <a:alpha val="75000"/>
            </a:srgbClr>
          </a:solidFill>
          <a:ln w="12700">
            <a:solidFill>
              <a:srgbClr val="2C2B45"/>
            </a:solidFill>
            <a:prstDash val="solid"/>
          </a:ln>
        </p:spPr>
      </p:sp>
      <p:sp>
        <p:nvSpPr>
          <p:cNvPr id="5" name="stage tag"/>
          <p:cNvSpPr/>
          <p:nvPr/>
        </p:nvSpPr>
        <p:spPr>
          <a:xfrm>
            <a:off x="822960" y="2194560"/>
            <a:ext cx="1005840" cy="347472"/>
          </a:xfrm>
          <a:prstGeom prst="roundRect">
            <a:avLst>
              <a:gd name="adj" fmla="val 21053"/>
            </a:avLst>
          </a:prstGeom>
          <a:solidFill>
            <a:srgbClr val="3EE59A">
              <a:alpha val="18000"/>
            </a:srgbClr>
          </a:solidFill>
          <a:ln w="9525">
            <a:solidFill>
              <a:srgbClr val="3EE59A">
                <a:alpha val="55000"/>
              </a:srgbClr>
            </a:solidFill>
            <a:prstDash val="solid"/>
          </a:ln>
        </p:spPr>
      </p:sp>
      <p:sp>
        <p:nvSpPr>
          <p:cNvPr id="6" name="Text 4"/>
          <p:cNvSpPr txBox="1"/>
          <p:nvPr/>
        </p:nvSpPr>
        <p:spPr>
          <a:xfrm>
            <a:off x="822960" y="2194560"/>
            <a:ext cx="1005840" cy="347472"/>
          </a:xfrm>
          <a:prstGeom prst="rect">
            <a:avLst/>
          </a:prstGeom>
          <a:noFill/>
          <a:ln/>
        </p:spPr>
        <p:txBody>
          <a:bodyPr wrap="square" lIns="0" tIns="0" rIns="0" bIns="0" rtlCol="0" anchor="ctr"/>
          <a:lstStyle/>
          <a:p>
            <a:pPr algn="ctr" indent="0" marL="0">
              <a:buNone/>
            </a:pPr>
            <a:r>
              <a:rPr lang="en-US" sz="1100" b="1" spc="200" kern="0" dirty="0">
                <a:solidFill>
                  <a:srgbClr val="3EE59A"/>
                </a:solidFill>
                <a:latin typeface="Consolas" pitchFamily="34" charset="0"/>
                <a:ea typeface="Consolas" pitchFamily="34" charset="-122"/>
                <a:cs typeface="Consolas" pitchFamily="34" charset="-120"/>
              </a:rPr>
              <a:t>DONE</a:t>
            </a:r>
            <a:endParaRPr lang="en-US" sz="1100" dirty="0"/>
          </a:p>
        </p:txBody>
      </p:sp>
      <p:sp>
        <p:nvSpPr>
          <p:cNvPr id="7" name="Text 5"/>
          <p:cNvSpPr txBox="1"/>
          <p:nvPr/>
        </p:nvSpPr>
        <p:spPr>
          <a:xfrm>
            <a:off x="822960" y="2788920"/>
            <a:ext cx="2999232" cy="20116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bg1"/>
                </a:solidFill>
              </a:rPr>
              <a:t>7-agent pipeline</a:t>
            </a:r>
            <a:endParaRPr lang="en-US" sz="1500" dirty="0"/>
          </a:p>
          <a:p>
            <a:pPr marL="203200" indent="-203200">
              <a:spcAft>
                <a:spcPts val="1000"/>
              </a:spcAft>
              <a:buSzPct val="100000"/>
              <a:buChar char="•"/>
            </a:pPr>
            <a:r>
              <a:rPr lang="en-US" sz="1500" dirty="0">
                <a:solidFill>
                  <a:schemeClr val="bg1"/>
                </a:solidFill>
              </a:rPr>
              <a:t>Alertmanager &amp; Grafana</a:t>
            </a:r>
            <a:endParaRPr lang="en-US" sz="1500" dirty="0"/>
          </a:p>
          <a:p>
            <a:pPr marL="203200" indent="-203200">
              <a:spcAft>
                <a:spcPts val="1000"/>
              </a:spcAft>
              <a:buSzPct val="100000"/>
              <a:buChar char="•"/>
            </a:pPr>
            <a:r>
              <a:rPr lang="en-US" sz="1500" dirty="0">
                <a:solidFill>
                  <a:schemeClr val="bg1"/>
                </a:solidFill>
              </a:rPr>
              <a:t>Policy + audit chain</a:t>
            </a:r>
            <a:endParaRPr lang="en-US" sz="1500" dirty="0"/>
          </a:p>
          <a:p>
            <a:pPr marL="203200" indent="-203200">
              <a:spcAft>
                <a:spcPts val="1000"/>
              </a:spcAft>
              <a:buSzPct val="100000"/>
              <a:buChar char="•"/>
            </a:pPr>
            <a:r>
              <a:rPr lang="en-US" sz="1500" dirty="0">
                <a:solidFill>
                  <a:schemeClr val="bg1"/>
                </a:solidFill>
              </a:rPr>
              <a:t>Live store demo</a:t>
            </a:r>
            <a:endParaRPr lang="en-US" sz="1500" dirty="0"/>
          </a:p>
          <a:p>
            <a:pPr marL="203200" indent="-203200">
              <a:spcAft>
                <a:spcPts val="1000"/>
              </a:spcAft>
              <a:buSzPct val="100000"/>
              <a:buChar char="•"/>
            </a:pPr>
            <a:r>
              <a:rPr lang="en-US" sz="1500" dirty="0">
                <a:solidFill>
                  <a:schemeClr val="bg1"/>
                </a:solidFill>
              </a:rPr>
              <a:t>Benchmark harness</a:t>
            </a:r>
            <a:endParaRPr lang="en-US" sz="1500" dirty="0"/>
          </a:p>
        </p:txBody>
      </p:sp>
      <p:sp>
        <p:nvSpPr>
          <p:cNvPr id="8" name="card"/>
          <p:cNvSpPr/>
          <p:nvPr/>
        </p:nvSpPr>
        <p:spPr>
          <a:xfrm>
            <a:off x="4320540" y="1920240"/>
            <a:ext cx="3547872" cy="3108960"/>
          </a:xfrm>
          <a:prstGeom prst="roundRect">
            <a:avLst>
              <a:gd name="adj" fmla="val 4706"/>
            </a:avLst>
          </a:prstGeom>
          <a:solidFill>
            <a:srgbClr val="15142A">
              <a:alpha val="75000"/>
            </a:srgbClr>
          </a:solidFill>
          <a:ln w="12700">
            <a:solidFill>
              <a:srgbClr val="2C2B45"/>
            </a:solidFill>
            <a:prstDash val="solid"/>
          </a:ln>
        </p:spPr>
      </p:sp>
      <p:sp>
        <p:nvSpPr>
          <p:cNvPr id="9" name="stage tag"/>
          <p:cNvSpPr/>
          <p:nvPr/>
        </p:nvSpPr>
        <p:spPr>
          <a:xfrm>
            <a:off x="4594860" y="2194560"/>
            <a:ext cx="1005840" cy="347472"/>
          </a:xfrm>
          <a:prstGeom prst="roundRect">
            <a:avLst>
              <a:gd name="adj" fmla="val 21053"/>
            </a:avLst>
          </a:prstGeom>
          <a:solidFill>
            <a:srgbClr val="46D3F5">
              <a:alpha val="18000"/>
            </a:srgbClr>
          </a:solidFill>
          <a:ln w="9525">
            <a:solidFill>
              <a:srgbClr val="46D3F5">
                <a:alpha val="55000"/>
              </a:srgbClr>
            </a:solidFill>
            <a:prstDash val="solid"/>
          </a:ln>
        </p:spPr>
      </p:sp>
      <p:sp>
        <p:nvSpPr>
          <p:cNvPr id="10" name="Text 8"/>
          <p:cNvSpPr txBox="1"/>
          <p:nvPr/>
        </p:nvSpPr>
        <p:spPr>
          <a:xfrm>
            <a:off x="4594860" y="2194560"/>
            <a:ext cx="1005840" cy="347472"/>
          </a:xfrm>
          <a:prstGeom prst="rect">
            <a:avLst/>
          </a:prstGeom>
          <a:noFill/>
          <a:ln/>
        </p:spPr>
        <p:txBody>
          <a:bodyPr wrap="square" lIns="0" tIns="0" rIns="0" bIns="0" rtlCol="0" anchor="ctr"/>
          <a:lstStyle/>
          <a:p>
            <a:pPr algn="ctr" indent="0" marL="0">
              <a:buNone/>
            </a:pPr>
            <a:r>
              <a:rPr lang="en-US" sz="1100" b="1" spc="200" kern="0" dirty="0">
                <a:solidFill>
                  <a:srgbClr val="46D3F5"/>
                </a:solidFill>
                <a:latin typeface="Consolas" pitchFamily="34" charset="0"/>
                <a:ea typeface="Consolas" pitchFamily="34" charset="-122"/>
                <a:cs typeface="Consolas" pitchFamily="34" charset="-120"/>
              </a:rPr>
              <a:t>NEXT</a:t>
            </a:r>
            <a:endParaRPr lang="en-US" sz="1100" dirty="0"/>
          </a:p>
        </p:txBody>
      </p:sp>
      <p:sp>
        <p:nvSpPr>
          <p:cNvPr id="11" name="Text 9"/>
          <p:cNvSpPr txBox="1"/>
          <p:nvPr/>
        </p:nvSpPr>
        <p:spPr>
          <a:xfrm>
            <a:off x="4594860" y="2788920"/>
            <a:ext cx="2999232" cy="20116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bg1"/>
                </a:solidFill>
              </a:rPr>
              <a:t>PagerDuty, Datadog, Sentry adapters</a:t>
            </a:r>
            <a:endParaRPr lang="en-US" sz="1500" dirty="0"/>
          </a:p>
          <a:p>
            <a:pPr marL="203200" indent="-203200">
              <a:spcAft>
                <a:spcPts val="1000"/>
              </a:spcAft>
              <a:buSzPct val="100000"/>
              <a:buChar char="•"/>
            </a:pPr>
            <a:r>
              <a:rPr lang="en-US" sz="1500" dirty="0">
                <a:solidFill>
                  <a:schemeClr val="bg1"/>
                </a:solidFill>
              </a:rPr>
              <a:t>Kubernetes rollbacks</a:t>
            </a:r>
            <a:endParaRPr lang="en-US" sz="1500" dirty="0"/>
          </a:p>
          <a:p>
            <a:pPr marL="203200" indent="-203200">
              <a:spcAft>
                <a:spcPts val="1000"/>
              </a:spcAft>
              <a:buSzPct val="100000"/>
              <a:buChar char="•"/>
            </a:pPr>
            <a:r>
              <a:rPr lang="en-US" sz="1500" dirty="0">
                <a:solidFill>
                  <a:schemeClr val="bg1"/>
                </a:solidFill>
              </a:rPr>
              <a:t>Real Slack &amp; Teams</a:t>
            </a:r>
            <a:endParaRPr lang="en-US" sz="1500" dirty="0"/>
          </a:p>
          <a:p>
            <a:pPr marL="203200" indent="-203200">
              <a:spcAft>
                <a:spcPts val="1000"/>
              </a:spcAft>
              <a:buSzPct val="100000"/>
              <a:buChar char="•"/>
            </a:pPr>
            <a:r>
              <a:rPr lang="en-US" sz="1500" dirty="0">
                <a:solidFill>
                  <a:schemeClr val="bg1"/>
                </a:solidFill>
              </a:rPr>
              <a:t>GitHub pull-request mode</a:t>
            </a:r>
            <a:endParaRPr lang="en-US" sz="1500" dirty="0"/>
          </a:p>
        </p:txBody>
      </p:sp>
      <p:sp>
        <p:nvSpPr>
          <p:cNvPr id="12" name="card"/>
          <p:cNvSpPr/>
          <p:nvPr/>
        </p:nvSpPr>
        <p:spPr>
          <a:xfrm>
            <a:off x="8092440" y="1920240"/>
            <a:ext cx="3547872" cy="3108960"/>
          </a:xfrm>
          <a:prstGeom prst="roundRect">
            <a:avLst>
              <a:gd name="adj" fmla="val 4706"/>
            </a:avLst>
          </a:prstGeom>
          <a:solidFill>
            <a:srgbClr val="15142A">
              <a:alpha val="75000"/>
            </a:srgbClr>
          </a:solidFill>
          <a:ln w="12700">
            <a:solidFill>
              <a:srgbClr val="2C2B45"/>
            </a:solidFill>
            <a:prstDash val="solid"/>
          </a:ln>
        </p:spPr>
      </p:sp>
      <p:sp>
        <p:nvSpPr>
          <p:cNvPr id="13" name="stage tag"/>
          <p:cNvSpPr/>
          <p:nvPr/>
        </p:nvSpPr>
        <p:spPr>
          <a:xfrm>
            <a:off x="8366760" y="2194560"/>
            <a:ext cx="1005840" cy="347472"/>
          </a:xfrm>
          <a:prstGeom prst="roundRect">
            <a:avLst>
              <a:gd name="adj" fmla="val 21053"/>
            </a:avLst>
          </a:prstGeom>
          <a:solidFill>
            <a:srgbClr val="8B7CFF">
              <a:alpha val="18000"/>
            </a:srgbClr>
          </a:solidFill>
          <a:ln w="9525">
            <a:solidFill>
              <a:srgbClr val="8B7CFF">
                <a:alpha val="55000"/>
              </a:srgbClr>
            </a:solidFill>
            <a:prstDash val="solid"/>
          </a:ln>
        </p:spPr>
      </p:sp>
      <p:sp>
        <p:nvSpPr>
          <p:cNvPr id="14" name="Text 12"/>
          <p:cNvSpPr txBox="1"/>
          <p:nvPr/>
        </p:nvSpPr>
        <p:spPr>
          <a:xfrm>
            <a:off x="8366760" y="2194560"/>
            <a:ext cx="1005840" cy="347472"/>
          </a:xfrm>
          <a:prstGeom prst="rect">
            <a:avLst/>
          </a:prstGeom>
          <a:noFill/>
          <a:ln/>
        </p:spPr>
        <p:txBody>
          <a:bodyPr wrap="square" lIns="0" tIns="0" rIns="0" bIns="0" rtlCol="0" anchor="ctr"/>
          <a:lstStyle/>
          <a:p>
            <a:pPr algn="ctr" indent="0" marL="0">
              <a:buNone/>
            </a:pPr>
            <a:r>
              <a:rPr lang="en-US" sz="1100" b="1" spc="200" kern="0" dirty="0">
                <a:solidFill>
                  <a:srgbClr val="8B7CFF"/>
                </a:solidFill>
                <a:latin typeface="Consolas" pitchFamily="34" charset="0"/>
                <a:ea typeface="Consolas" pitchFamily="34" charset="-122"/>
                <a:cs typeface="Consolas" pitchFamily="34" charset="-120"/>
              </a:rPr>
              <a:t>THEN</a:t>
            </a:r>
            <a:endParaRPr lang="en-US" sz="1100" dirty="0"/>
          </a:p>
        </p:txBody>
      </p:sp>
      <p:sp>
        <p:nvSpPr>
          <p:cNvPr id="15" name="Text 13"/>
          <p:cNvSpPr txBox="1"/>
          <p:nvPr/>
        </p:nvSpPr>
        <p:spPr>
          <a:xfrm>
            <a:off x="8366760" y="2788920"/>
            <a:ext cx="2999232" cy="20116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bg1"/>
                </a:solidFill>
              </a:rPr>
              <a:t>Multi-tenant cloud &amp; SSO</a:t>
            </a:r>
            <a:endParaRPr lang="en-US" sz="1500" dirty="0"/>
          </a:p>
          <a:p>
            <a:pPr marL="203200" indent="-203200">
              <a:spcAft>
                <a:spcPts val="1000"/>
              </a:spcAft>
              <a:buSzPct val="100000"/>
              <a:buChar char="•"/>
            </a:pPr>
            <a:r>
              <a:rPr lang="en-US" sz="1500" dirty="0">
                <a:solidFill>
                  <a:schemeClr val="bg1"/>
                </a:solidFill>
              </a:rPr>
              <a:t>Learns from past incidents</a:t>
            </a:r>
            <a:endParaRPr lang="en-US" sz="1500" dirty="0"/>
          </a:p>
          <a:p>
            <a:pPr marL="203200" indent="-203200">
              <a:spcAft>
                <a:spcPts val="1000"/>
              </a:spcAft>
              <a:buSzPct val="100000"/>
              <a:buChar char="•"/>
            </a:pPr>
            <a:r>
              <a:rPr lang="en-US" sz="1500" dirty="0">
                <a:solidFill>
                  <a:schemeClr val="bg1"/>
                </a:solidFill>
              </a:rPr>
              <a:t>Self-hosted for regulated teams</a:t>
            </a:r>
            <a:endParaRPr lang="en-US" sz="1500" dirty="0"/>
          </a:p>
          <a:p>
            <a:pPr marL="203200" indent="-203200">
              <a:spcAft>
                <a:spcPts val="1000"/>
              </a:spcAft>
              <a:buSzPct val="100000"/>
              <a:buChar char="•"/>
            </a:pPr>
            <a:r>
              <a:rPr lang="en-US" sz="1500" dirty="0">
                <a:solidFill>
                  <a:schemeClr val="bg1"/>
                </a:solidFill>
              </a:rPr>
              <a:t>SOC 2 audit export</a:t>
            </a:r>
            <a:endParaRPr lang="en-US" sz="15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548640" y="457200"/>
            <a:ext cx="786384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nsolas" pitchFamily="34" charset="0"/>
                <a:ea typeface="Consolas" pitchFamily="34" charset="-122"/>
                <a:cs typeface="Consolas" pitchFamily="34" charset="-120"/>
              </a:rPr>
              <a:t>THE TEAM BEHIND ARGUS</a:t>
            </a:r>
            <a:endParaRPr lang="en-US" sz="1200" dirty="0"/>
          </a:p>
        </p:txBody>
      </p:sp>
      <p:sp>
        <p:nvSpPr>
          <p:cNvPr id="3" name="Text 1"/>
          <p:cNvSpPr/>
          <p:nvPr>
            <p:ph idx="103" type="title" hasCustomPrompt="1"/>
          </p:nvPr>
        </p:nvSpPr>
        <p:spPr>
          <a:xfrm>
            <a:off x="548640" y="786384"/>
            <a:ext cx="11064240" cy="1005840"/>
          </a:xfrm>
          <a:prstGeom prst="rect">
            <a:avLst/>
          </a:prstGeom>
          <a:noFill/>
          <a:ln/>
        </p:spPr>
        <p:txBody>
          <a:bodyPr wrap="square" lIns="0" tIns="0" rIns="0" bIns="0" rtlCol="0" anchor="t"/>
          <a:lstStyle/>
          <a:p>
            <a:pPr algn="l" indent="0" marL="0">
              <a:buNone/>
            </a:pPr>
            <a:r>
              <a:rPr lang="en-US" sz="3600" b="1" dirty="0">
                <a:solidFill>
                  <a:schemeClr val="bg1"/>
                </a:solidFill>
              </a:rPr>
              <a:t>Team YSL</a:t>
            </a:r>
            <a:endParaRPr lang="en-US" sz="3600" dirty="0"/>
          </a:p>
        </p:txBody>
      </p:sp>
      <p:sp>
        <p:nvSpPr>
          <p:cNvPr id="4" name="card"/>
          <p:cNvSpPr/>
          <p:nvPr/>
        </p:nvSpPr>
        <p:spPr>
          <a:xfrm>
            <a:off x="548640" y="2011680"/>
            <a:ext cx="5440680" cy="2743200"/>
          </a:xfrm>
          <a:prstGeom prst="roundRect">
            <a:avLst>
              <a:gd name="adj" fmla="val 5333"/>
            </a:avLst>
          </a:prstGeom>
          <a:solidFill>
            <a:srgbClr val="15142A">
              <a:alpha val="75000"/>
            </a:srgbClr>
          </a:solidFill>
          <a:ln w="12700">
            <a:solidFill>
              <a:srgbClr val="2C2B45"/>
            </a:solidFill>
            <a:prstDash val="solid"/>
          </a:ln>
        </p:spPr>
      </p:sp>
      <p:sp>
        <p:nvSpPr>
          <p:cNvPr id="5" name="Siddhartha avatar"/>
          <p:cNvSpPr/>
          <p:nvPr/>
        </p:nvSpPr>
        <p:spPr>
          <a:xfrm>
            <a:off x="914400" y="2423160"/>
            <a:ext cx="1188720" cy="1188720"/>
          </a:xfrm>
          <a:prstGeom prst="ellipse">
            <a:avLst/>
          </a:prstGeom>
          <a:solidFill>
            <a:srgbClr val="8B7CFF">
              <a:alpha val="85000"/>
            </a:srgbClr>
          </a:solidFill>
          <a:ln w="12700">
            <a:solidFill>
              <a:srgbClr val="FFFFFF">
                <a:alpha val="30000"/>
              </a:srgbClr>
            </a:solidFill>
            <a:prstDash val="solid"/>
          </a:ln>
        </p:spPr>
      </p:sp>
      <p:sp>
        <p:nvSpPr>
          <p:cNvPr id="6" name="Text 4"/>
          <p:cNvSpPr txBox="1"/>
          <p:nvPr/>
        </p:nvSpPr>
        <p:spPr>
          <a:xfrm>
            <a:off x="914400" y="2423160"/>
            <a:ext cx="1188720" cy="1188720"/>
          </a:xfrm>
          <a:prstGeom prst="rect">
            <a:avLst/>
          </a:prstGeom>
          <a:noFill/>
          <a:ln/>
        </p:spPr>
        <p:txBody>
          <a:bodyPr wrap="square" lIns="0" tIns="0" rIns="0" bIns="0" rtlCol="0" anchor="ctr"/>
          <a:lstStyle/>
          <a:p>
            <a:pPr algn="ctr" indent="0" marL="0">
              <a:buNone/>
            </a:pPr>
            <a:r>
              <a:rPr lang="en-US" sz="4400" b="1" dirty="0">
                <a:solidFill>
                  <a:srgbClr val="0A0A13"/>
                </a:solidFill>
              </a:rPr>
              <a:t>S</a:t>
            </a:r>
            <a:endParaRPr lang="en-US" sz="4400" dirty="0"/>
          </a:p>
        </p:txBody>
      </p:sp>
      <p:sp>
        <p:nvSpPr>
          <p:cNvPr id="7" name="Text 5"/>
          <p:cNvSpPr txBox="1"/>
          <p:nvPr/>
        </p:nvSpPr>
        <p:spPr>
          <a:xfrm>
            <a:off x="2377440" y="2514600"/>
            <a:ext cx="3337560" cy="548640"/>
          </a:xfrm>
          <a:prstGeom prst="rect">
            <a:avLst/>
          </a:prstGeom>
          <a:noFill/>
          <a:ln/>
        </p:spPr>
        <p:txBody>
          <a:bodyPr wrap="square" lIns="0" tIns="0" rIns="0" bIns="0" rtlCol="0" anchor="ctr"/>
          <a:lstStyle/>
          <a:p>
            <a:pPr indent="0" marL="0">
              <a:buNone/>
            </a:pPr>
            <a:r>
              <a:rPr lang="en-US" sz="3000" b="1" dirty="0">
                <a:solidFill>
                  <a:schemeClr val="bg1"/>
                </a:solidFill>
              </a:rPr>
              <a:t>Siddhartha</a:t>
            </a:r>
            <a:endParaRPr lang="en-US" sz="3000" dirty="0"/>
          </a:p>
        </p:txBody>
      </p:sp>
      <p:sp>
        <p:nvSpPr>
          <p:cNvPr id="8" name="Text 6"/>
          <p:cNvSpPr txBox="1"/>
          <p:nvPr/>
        </p:nvSpPr>
        <p:spPr>
          <a:xfrm>
            <a:off x="2377440" y="3063240"/>
            <a:ext cx="3337560" cy="365760"/>
          </a:xfrm>
          <a:prstGeom prst="rect">
            <a:avLst/>
          </a:prstGeom>
          <a:noFill/>
          <a:ln/>
        </p:spPr>
        <p:txBody>
          <a:bodyPr wrap="square" lIns="0" tIns="0" rIns="0" bIns="0" rtlCol="0" anchor="t"/>
          <a:lstStyle/>
          <a:p>
            <a:pPr indent="0" marL="0">
              <a:buNone/>
            </a:pPr>
            <a:r>
              <a:rPr lang="en-US" sz="1200" b="1" spc="200" kern="0" dirty="0">
                <a:solidFill>
                  <a:srgbClr val="8B7CFF"/>
                </a:solidFill>
                <a:latin typeface="Consolas" pitchFamily="34" charset="0"/>
                <a:ea typeface="Consolas" pitchFamily="34" charset="-122"/>
                <a:cs typeface="Consolas" pitchFamily="34" charset="-120"/>
              </a:rPr>
              <a:t>AGENTS &amp; ORCHESTRATION</a:t>
            </a:r>
            <a:endParaRPr lang="en-US" sz="1200" dirty="0"/>
          </a:p>
        </p:txBody>
      </p:sp>
      <p:sp>
        <p:nvSpPr>
          <p:cNvPr id="9" name="Text 7"/>
          <p:cNvSpPr txBox="1"/>
          <p:nvPr/>
        </p:nvSpPr>
        <p:spPr>
          <a:xfrm>
            <a:off x="914400" y="3886200"/>
            <a:ext cx="4709160" cy="1097280"/>
          </a:xfrm>
          <a:prstGeom prst="rect">
            <a:avLst/>
          </a:prstGeom>
          <a:noFill/>
          <a:ln/>
        </p:spPr>
        <p:txBody>
          <a:bodyPr wrap="square" lIns="0" tIns="0" rIns="0" bIns="0" rtlCol="0" anchor="t"/>
          <a:lstStyle/>
          <a:p>
            <a:pPr indent="0" marL="0">
              <a:buNone/>
            </a:pPr>
            <a:r>
              <a:rPr lang="en-US" sz="1500" dirty="0">
                <a:solidFill>
                  <a:schemeClr val="bg2"/>
                </a:solidFill>
              </a:rPr>
              <a:t>Designed the multi-agent pipeline, the Commander's planning loop, the evidence checker and the approval gate.</a:t>
            </a:r>
            <a:endParaRPr lang="en-US" sz="1500" dirty="0"/>
          </a:p>
        </p:txBody>
      </p:sp>
      <p:sp>
        <p:nvSpPr>
          <p:cNvPr id="10" name="card"/>
          <p:cNvSpPr/>
          <p:nvPr/>
        </p:nvSpPr>
        <p:spPr>
          <a:xfrm>
            <a:off x="6199632" y="2011680"/>
            <a:ext cx="5440680" cy="2743200"/>
          </a:xfrm>
          <a:prstGeom prst="roundRect">
            <a:avLst>
              <a:gd name="adj" fmla="val 5333"/>
            </a:avLst>
          </a:prstGeom>
          <a:solidFill>
            <a:srgbClr val="15142A">
              <a:alpha val="75000"/>
            </a:srgbClr>
          </a:solidFill>
          <a:ln w="12700">
            <a:solidFill>
              <a:srgbClr val="2C2B45"/>
            </a:solidFill>
            <a:prstDash val="solid"/>
          </a:ln>
        </p:spPr>
      </p:sp>
      <p:sp>
        <p:nvSpPr>
          <p:cNvPr id="11" name="Yuvika avatar"/>
          <p:cNvSpPr/>
          <p:nvPr/>
        </p:nvSpPr>
        <p:spPr>
          <a:xfrm>
            <a:off x="6565392" y="2423160"/>
            <a:ext cx="1188720" cy="1188720"/>
          </a:xfrm>
          <a:prstGeom prst="ellipse">
            <a:avLst/>
          </a:prstGeom>
          <a:solidFill>
            <a:srgbClr val="46D3F5">
              <a:alpha val="85000"/>
            </a:srgbClr>
          </a:solidFill>
          <a:ln w="12700">
            <a:solidFill>
              <a:srgbClr val="FFFFFF">
                <a:alpha val="30000"/>
              </a:srgbClr>
            </a:solidFill>
            <a:prstDash val="solid"/>
          </a:ln>
        </p:spPr>
      </p:sp>
      <p:sp>
        <p:nvSpPr>
          <p:cNvPr id="12" name="Text 10"/>
          <p:cNvSpPr txBox="1"/>
          <p:nvPr/>
        </p:nvSpPr>
        <p:spPr>
          <a:xfrm>
            <a:off x="6565392" y="2423160"/>
            <a:ext cx="1188720" cy="1188720"/>
          </a:xfrm>
          <a:prstGeom prst="rect">
            <a:avLst/>
          </a:prstGeom>
          <a:noFill/>
          <a:ln/>
        </p:spPr>
        <p:txBody>
          <a:bodyPr wrap="square" lIns="0" tIns="0" rIns="0" bIns="0" rtlCol="0" anchor="ctr"/>
          <a:lstStyle/>
          <a:p>
            <a:pPr algn="ctr" indent="0" marL="0">
              <a:buNone/>
            </a:pPr>
            <a:r>
              <a:rPr lang="en-US" sz="4400" b="1" dirty="0">
                <a:solidFill>
                  <a:srgbClr val="0A0A13"/>
                </a:solidFill>
              </a:rPr>
              <a:t>Y</a:t>
            </a:r>
            <a:endParaRPr lang="en-US" sz="4400" dirty="0"/>
          </a:p>
        </p:txBody>
      </p:sp>
      <p:sp>
        <p:nvSpPr>
          <p:cNvPr id="13" name="Text 11"/>
          <p:cNvSpPr txBox="1"/>
          <p:nvPr/>
        </p:nvSpPr>
        <p:spPr>
          <a:xfrm>
            <a:off x="8028432" y="2514600"/>
            <a:ext cx="3337560" cy="548640"/>
          </a:xfrm>
          <a:prstGeom prst="rect">
            <a:avLst/>
          </a:prstGeom>
          <a:noFill/>
          <a:ln/>
        </p:spPr>
        <p:txBody>
          <a:bodyPr wrap="square" lIns="0" tIns="0" rIns="0" bIns="0" rtlCol="0" anchor="ctr"/>
          <a:lstStyle/>
          <a:p>
            <a:pPr indent="0" marL="0">
              <a:buNone/>
            </a:pPr>
            <a:r>
              <a:rPr lang="en-US" sz="3000" b="1" dirty="0">
                <a:solidFill>
                  <a:schemeClr val="bg1"/>
                </a:solidFill>
              </a:rPr>
              <a:t>Yuvika</a:t>
            </a:r>
            <a:endParaRPr lang="en-US" sz="3000" dirty="0"/>
          </a:p>
        </p:txBody>
      </p:sp>
      <p:sp>
        <p:nvSpPr>
          <p:cNvPr id="14" name="Text 12"/>
          <p:cNvSpPr txBox="1"/>
          <p:nvPr/>
        </p:nvSpPr>
        <p:spPr>
          <a:xfrm>
            <a:off x="8028432" y="3063240"/>
            <a:ext cx="3337560" cy="365760"/>
          </a:xfrm>
          <a:prstGeom prst="rect">
            <a:avLst/>
          </a:prstGeom>
          <a:noFill/>
          <a:ln/>
        </p:spPr>
        <p:txBody>
          <a:bodyPr wrap="square" lIns="0" tIns="0" rIns="0" bIns="0" rtlCol="0" anchor="t"/>
          <a:lstStyle/>
          <a:p>
            <a:pPr indent="0" marL="0">
              <a:buNone/>
            </a:pPr>
            <a:r>
              <a:rPr lang="en-US" sz="1200" b="1" spc="200" kern="0" dirty="0">
                <a:solidFill>
                  <a:srgbClr val="46D3F5"/>
                </a:solidFill>
                <a:latin typeface="Consolas" pitchFamily="34" charset="0"/>
                <a:ea typeface="Consolas" pitchFamily="34" charset="-122"/>
                <a:cs typeface="Consolas" pitchFamily="34" charset="-120"/>
              </a:rPr>
              <a:t>PRODUCT, SANDBOX &amp; EVALUATION</a:t>
            </a:r>
            <a:endParaRPr lang="en-US" sz="1200" dirty="0"/>
          </a:p>
        </p:txBody>
      </p:sp>
      <p:sp>
        <p:nvSpPr>
          <p:cNvPr id="15" name="Text 13"/>
          <p:cNvSpPr txBox="1"/>
          <p:nvPr/>
        </p:nvSpPr>
        <p:spPr>
          <a:xfrm>
            <a:off x="6565392" y="3886200"/>
            <a:ext cx="4709160" cy="1097280"/>
          </a:xfrm>
          <a:prstGeom prst="rect">
            <a:avLst/>
          </a:prstGeom>
          <a:noFill/>
          <a:ln/>
        </p:spPr>
        <p:txBody>
          <a:bodyPr wrap="square" lIns="0" tIns="0" rIns="0" bIns="0" rtlCol="0" anchor="t"/>
          <a:lstStyle/>
          <a:p>
            <a:pPr indent="0" marL="0">
              <a:buNone/>
            </a:pPr>
            <a:r>
              <a:rPr lang="en-US" sz="1500" dirty="0">
                <a:solidFill>
                  <a:schemeClr val="bg2"/>
                </a:solidFill>
              </a:rPr>
              <a:t>Built the live ShopFast app, the sandbox test lab, the benchmark against a chatbot and the demo.</a:t>
            </a:r>
            <a:endParaRPr lang="en-US" sz="1500" dirty="0"/>
          </a:p>
        </p:txBody>
      </p:sp>
      <p:sp>
        <p:nvSpPr>
          <p:cNvPr id="16" name="Text 14"/>
          <p:cNvSpPr txBox="1"/>
          <p:nvPr/>
        </p:nvSpPr>
        <p:spPr>
          <a:xfrm>
            <a:off x="548640" y="5120640"/>
            <a:ext cx="11064240" cy="365760"/>
          </a:xfrm>
          <a:prstGeom prst="rect">
            <a:avLst/>
          </a:prstGeom>
          <a:noFill/>
          <a:ln/>
        </p:spPr>
        <p:txBody>
          <a:bodyPr wrap="square" lIns="0" tIns="0" rIns="0" bIns="0" rtlCol="0" anchor="t"/>
          <a:lstStyle/>
          <a:p>
            <a:pPr indent="0" marL="0">
              <a:buNone/>
            </a:pPr>
            <a:r>
              <a:rPr lang="en-US" sz="1200" dirty="0">
                <a:solidFill>
                  <a:srgbClr val="7A7898"/>
                </a:solidFill>
                <a:latin typeface="Consolas" pitchFamily="34" charset="0"/>
                <a:ea typeface="Consolas" pitchFamily="34" charset="-122"/>
                <a:cs typeface="Consolas" pitchFamily="34" charset="-120"/>
              </a:rPr>
              <a:t>Domain: IT Infrastructure  ·  Track: Multi-agent systems</a:t>
            </a:r>
            <a:endParaRPr lang="en-US" sz="1200" dirty="0"/>
          </a:p>
        </p:txBody>
      </p:sp>
      <p:sp>
        <p:nvSpPr>
          <p:cNvPr id="25" name="Slide Number Placeholder 0"/>
          <p:cNvSpPr>
            <a:spLocks noGrp="1"/>
          </p:cNvSpPr>
          <p:nvPr>
            <p:ph type="sldNum" sz="quarter" idx="4294967295"/>
          </p:nvPr>
        </p:nvSpPr>
        <p:spPr>
          <a:xfrm>
            <a:off x="10972800" y="6327648"/>
            <a:ext cx="66751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7A7898"/>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ring"/>
          <p:cNvSpPr/>
          <p:nvPr/>
        </p:nvSpPr>
        <p:spPr>
          <a:xfrm>
            <a:off x="3352648" y="685800"/>
            <a:ext cx="5486400" cy="5486400"/>
          </a:xfrm>
          <a:prstGeom prst="ellipse">
            <a:avLst/>
          </a:prstGeom>
          <a:ln w="12700">
            <a:solidFill>
              <a:srgbClr val="8B7CFF">
                <a:alpha val="20000"/>
              </a:srgbClr>
            </a:solidFill>
            <a:prstDash val="solid"/>
          </a:ln>
        </p:spPr>
      </p:sp>
      <p:pic>
        <p:nvPicPr>
          <p:cNvPr id="3" name="Image 0" descr="Argus logo">    </p:cNvPr>
          <p:cNvPicPr>
            <a:picLocks noChangeAspect="1"/>
          </p:cNvPicPr>
          <p:nvPr/>
        </p:nvPicPr>
        <p:blipFill>
          <a:blip r:embed="rId1"/>
          <a:stretch>
            <a:fillRect/>
          </a:stretch>
        </p:blipFill>
        <p:spPr>
          <a:xfrm>
            <a:off x="5638648" y="960120"/>
            <a:ext cx="914400" cy="914400"/>
          </a:xfrm>
          <a:prstGeom prst="rect">
            <a:avLst/>
          </a:prstGeom>
        </p:spPr>
      </p:pic>
      <p:sp>
        <p:nvSpPr>
          <p:cNvPr id="4" name="Text 1"/>
          <p:cNvSpPr txBox="1"/>
          <p:nvPr/>
        </p:nvSpPr>
        <p:spPr>
          <a:xfrm>
            <a:off x="457200" y="2057400"/>
            <a:ext cx="11277295" cy="2103120"/>
          </a:xfrm>
          <a:prstGeom prst="rect">
            <a:avLst/>
          </a:prstGeom>
          <a:noFill/>
          <a:ln/>
        </p:spPr>
        <p:txBody>
          <a:bodyPr wrap="square" lIns="0" tIns="0" rIns="0" bIns="0" rtlCol="0" anchor="ctr"/>
          <a:lstStyle/>
          <a:p>
            <a:pPr algn="ctr" indent="0" marL="0">
              <a:lnSpc>
                <a:spcPct val="95000"/>
              </a:lnSpc>
              <a:buNone/>
            </a:pPr>
            <a:r>
              <a:rPr lang="en-US" sz="5800" b="1" dirty="0">
                <a:solidFill>
                  <a:schemeClr val="bg1"/>
                </a:solidFill>
              </a:rPr>
              <a:t>Argus sees everything.</a:t>
            </a:r>
            <a:endParaRPr lang="en-US" sz="5800" dirty="0"/>
          </a:p>
          <a:p>
            <a:pPr algn="ctr" indent="0" marL="0">
              <a:lnSpc>
                <a:spcPct val="95000"/>
              </a:lnSpc>
              <a:buNone/>
            </a:pPr>
            <a:r>
              <a:rPr lang="en-US" sz="5800" b="1" dirty="0">
                <a:solidFill>
                  <a:schemeClr val="accent1"/>
                </a:solidFill>
              </a:rPr>
              <a:t>Ships nothing without you.</a:t>
            </a:r>
            <a:endParaRPr lang="en-US" sz="5800" dirty="0"/>
          </a:p>
        </p:txBody>
      </p:sp>
      <p:sp>
        <p:nvSpPr>
          <p:cNvPr id="5" name="Text 2"/>
          <p:cNvSpPr txBox="1"/>
          <p:nvPr/>
        </p:nvSpPr>
        <p:spPr>
          <a:xfrm>
            <a:off x="914400" y="4251960"/>
            <a:ext cx="10362895" cy="457200"/>
          </a:xfrm>
          <a:prstGeom prst="rect">
            <a:avLst/>
          </a:prstGeom>
          <a:noFill/>
          <a:ln/>
        </p:spPr>
        <p:txBody>
          <a:bodyPr wrap="square" lIns="0" tIns="0" rIns="0" bIns="0" rtlCol="0" anchor="t"/>
          <a:lstStyle/>
          <a:p>
            <a:pPr algn="ctr" indent="0" marL="0">
              <a:buNone/>
            </a:pPr>
            <a:r>
              <a:rPr lang="en-US" sz="1900" dirty="0">
                <a:solidFill>
                  <a:schemeClr val="bg2"/>
                </a:solidFill>
              </a:rPr>
              <a:t>Proven root causes · tested fixes · human approval · money saved, on every incident.</a:t>
            </a:r>
            <a:endParaRPr lang="en-US" sz="1900" dirty="0"/>
          </a:p>
        </p:txBody>
      </p:sp>
      <p:sp>
        <p:nvSpPr>
          <p:cNvPr id="6" name="pill"/>
          <p:cNvSpPr/>
          <p:nvPr/>
        </p:nvSpPr>
        <p:spPr>
          <a:xfrm>
            <a:off x="4087368" y="5074920"/>
            <a:ext cx="1920240" cy="420624"/>
          </a:xfrm>
          <a:prstGeom prst="roundRect">
            <a:avLst>
              <a:gd name="adj" fmla="val 50000"/>
            </a:avLst>
          </a:prstGeom>
          <a:solidFill>
            <a:srgbClr val="FFFFFF">
              <a:alpha val="8000"/>
            </a:srgbClr>
          </a:solidFill>
          <a:ln w="9525">
            <a:solidFill>
              <a:srgbClr val="FFFFFF">
                <a:alpha val="20000"/>
              </a:srgbClr>
            </a:solidFill>
            <a:prstDash val="solid"/>
          </a:ln>
        </p:spPr>
      </p:sp>
      <p:sp>
        <p:nvSpPr>
          <p:cNvPr id="7" name="dot"/>
          <p:cNvSpPr/>
          <p:nvPr/>
        </p:nvSpPr>
        <p:spPr>
          <a:xfrm>
            <a:off x="4288536" y="5230368"/>
            <a:ext cx="109728" cy="109728"/>
          </a:xfrm>
          <a:prstGeom prst="ellipse">
            <a:avLst/>
          </a:prstGeom>
          <a:solidFill>
            <a:srgbClr val="3EE59A"/>
          </a:solidFill>
          <a:ln/>
        </p:spPr>
      </p:sp>
      <p:sp>
        <p:nvSpPr>
          <p:cNvPr id="8" name="Text 5"/>
          <p:cNvSpPr txBox="1"/>
          <p:nvPr/>
        </p:nvSpPr>
        <p:spPr>
          <a:xfrm>
            <a:off x="4471416" y="5074920"/>
            <a:ext cx="1463040" cy="420624"/>
          </a:xfrm>
          <a:prstGeom prst="rect">
            <a:avLst/>
          </a:prstGeom>
          <a:noFill/>
          <a:ln/>
        </p:spPr>
        <p:txBody>
          <a:bodyPr wrap="square" lIns="0" tIns="0" rIns="0" bIns="0" rtlCol="0" anchor="ctr"/>
          <a:lstStyle/>
          <a:p>
            <a:pPr algn="l" indent="0" marL="0">
              <a:buNone/>
            </a:pPr>
            <a:r>
              <a:rPr lang="en-US" sz="1400" b="1" dirty="0">
                <a:solidFill>
                  <a:schemeClr val="bg1"/>
                </a:solidFill>
              </a:rPr>
              <a:t>Live demo next</a:t>
            </a:r>
            <a:endParaRPr lang="en-US" sz="1400" dirty="0"/>
          </a:p>
        </p:txBody>
      </p:sp>
      <p:sp>
        <p:nvSpPr>
          <p:cNvPr id="9" name="pill"/>
          <p:cNvSpPr/>
          <p:nvPr/>
        </p:nvSpPr>
        <p:spPr>
          <a:xfrm>
            <a:off x="6144768" y="5074920"/>
            <a:ext cx="3017520" cy="420624"/>
          </a:xfrm>
          <a:prstGeom prst="roundRect">
            <a:avLst>
              <a:gd name="adj" fmla="val 50000"/>
            </a:avLst>
          </a:prstGeom>
          <a:solidFill>
            <a:srgbClr val="FFFFFF">
              <a:alpha val="8000"/>
            </a:srgbClr>
          </a:solidFill>
          <a:ln w="9525">
            <a:solidFill>
              <a:srgbClr val="FFFFFF">
                <a:alpha val="20000"/>
              </a:srgbClr>
            </a:solidFill>
            <a:prstDash val="solid"/>
          </a:ln>
        </p:spPr>
      </p:sp>
      <p:sp>
        <p:nvSpPr>
          <p:cNvPr id="10" name="Text 7"/>
          <p:cNvSpPr txBox="1"/>
          <p:nvPr/>
        </p:nvSpPr>
        <p:spPr>
          <a:xfrm>
            <a:off x="6144768" y="5074920"/>
            <a:ext cx="3017520" cy="420624"/>
          </a:xfrm>
          <a:prstGeom prst="rect">
            <a:avLst/>
          </a:prstGeom>
          <a:noFill/>
          <a:ln/>
        </p:spPr>
        <p:txBody>
          <a:bodyPr wrap="square" lIns="0" tIns="0" rIns="0" bIns="0" rtlCol="0" anchor="ctr"/>
          <a:lstStyle/>
          <a:p>
            <a:pPr algn="ctr" indent="0" marL="0">
              <a:buNone/>
            </a:pPr>
            <a:r>
              <a:rPr lang="en-US" sz="1400" b="1" dirty="0">
                <a:solidFill>
                  <a:schemeClr val="bg1"/>
                </a:solidFill>
              </a:rPr>
              <a:t>Team YSL · Siddhartha &amp; Yuvika</a:t>
            </a:r>
            <a:endParaRPr lang="en-US" sz="1400" dirty="0"/>
          </a:p>
        </p:txBody>
      </p:sp>
    </p:spTree>
  </p:cSld>
  <p:clrMapOvr>
    <a:masterClrMapping/>
  </p:clrMapOvr>
</p:sld>
</file>

<file path=ppt/theme/theme1.xml><?xml version="1.0" encoding="utf-8"?>
<a:theme xmlns:a="http://schemas.openxmlformats.org/drawingml/2006/main" name="Argus Night">
  <a:themeElements>
    <a:clrScheme name="Argus Night">
      <a:dk1>
        <a:srgbClr val="07070F"/>
      </a:dk1>
      <a:lt1>
        <a:srgbClr val="F4F3FF"/>
      </a:lt1>
      <a:dk2>
        <a:srgbClr val="14132A"/>
      </a:dk2>
      <a:lt2>
        <a:srgbClr val="A9A7C8"/>
      </a:lt2>
      <a:accent1>
        <a:srgbClr val="8B7CFF"/>
      </a:accent1>
      <a:accent2>
        <a:srgbClr val="46D3F5"/>
      </a:accent2>
      <a:accent3>
        <a:srgbClr val="3EE59A"/>
      </a:accent3>
      <a:accent4>
        <a:srgbClr val="FF5D73"/>
      </a:accent4>
      <a:accent5>
        <a:srgbClr val="FFB547"/>
      </a:accent5>
      <a:accent6>
        <a:srgbClr val="FF914D"/>
      </a:accent6>
      <a:hlink>
        <a:srgbClr val="46D3F5"/>
      </a:hlink>
      <a:folHlink>
        <a:srgbClr val="9A8CFF"/>
      </a:folHlink>
    </a:clrScheme>
    <a:fontScheme name="Argus N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Team YSL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Argus: the AI incident commander</dc:title>
  <dc:subject>Hackathon pitch: multi-agent incident response, B2B SaaS</dc:subject>
  <dc:creator>Team YSL (Siddhartha, Yuvika)</dc:creator>
  <cp:lastModifiedBy>Team YSL (Siddhartha, Yuvika)</cp:lastModifiedBy>
  <cp:revision>1</cp:revision>
  <dcterms:created xsi:type="dcterms:W3CDTF">2026-10-24T10:12:55Z</dcterms:created>
  <dcterms:modified xsi:type="dcterms:W3CDTF">2026-10-24T10:12:55Z</dcterms:modified>
</cp:coreProperties>
</file>